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3" r:id="rId5"/>
  </p:sldMasterIdLst>
  <p:notesMasterIdLst>
    <p:notesMasterId r:id="rId45"/>
  </p:notesMasterIdLst>
  <p:handoutMasterIdLst>
    <p:handoutMasterId r:id="rId46"/>
  </p:handoutMasterIdLst>
  <p:sldIdLst>
    <p:sldId id="385" r:id="rId6"/>
    <p:sldId id="614" r:id="rId7"/>
    <p:sldId id="660" r:id="rId8"/>
    <p:sldId id="624" r:id="rId9"/>
    <p:sldId id="626" r:id="rId10"/>
    <p:sldId id="622" r:id="rId11"/>
    <p:sldId id="623" r:id="rId12"/>
    <p:sldId id="631" r:id="rId13"/>
    <p:sldId id="632" r:id="rId14"/>
    <p:sldId id="633" r:id="rId15"/>
    <p:sldId id="627" r:id="rId16"/>
    <p:sldId id="661" r:id="rId17"/>
    <p:sldId id="628" r:id="rId18"/>
    <p:sldId id="629" r:id="rId19"/>
    <p:sldId id="662" r:id="rId20"/>
    <p:sldId id="630" r:id="rId21"/>
    <p:sldId id="663" r:id="rId22"/>
    <p:sldId id="634" r:id="rId23"/>
    <p:sldId id="640" r:id="rId24"/>
    <p:sldId id="641" r:id="rId25"/>
    <p:sldId id="642" r:id="rId26"/>
    <p:sldId id="643" r:id="rId27"/>
    <p:sldId id="665" r:id="rId28"/>
    <p:sldId id="645" r:id="rId29"/>
    <p:sldId id="647" r:id="rId30"/>
    <p:sldId id="649" r:id="rId31"/>
    <p:sldId id="651" r:id="rId32"/>
    <p:sldId id="654" r:id="rId33"/>
    <p:sldId id="655" r:id="rId34"/>
    <p:sldId id="656" r:id="rId35"/>
    <p:sldId id="657" r:id="rId36"/>
    <p:sldId id="658" r:id="rId37"/>
    <p:sldId id="666" r:id="rId38"/>
    <p:sldId id="669" r:id="rId39"/>
    <p:sldId id="667" r:id="rId40"/>
    <p:sldId id="668" r:id="rId41"/>
    <p:sldId id="616" r:id="rId42"/>
    <p:sldId id="617" r:id="rId43"/>
    <p:sldId id="34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4472C4"/>
    <a:srgbClr val="03539E"/>
    <a:srgbClr val="00509A"/>
    <a:srgbClr val="FCC100"/>
    <a:srgbClr val="FF0000"/>
    <a:srgbClr val="7F7F7F"/>
    <a:srgbClr val="404040"/>
    <a:srgbClr val="26262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1990" autoAdjust="0"/>
  </p:normalViewPr>
  <p:slideViewPr>
    <p:cSldViewPr snapToGrid="0">
      <p:cViewPr varScale="1">
        <p:scale>
          <a:sx n="102" d="100"/>
          <a:sy n="102" d="100"/>
        </p:scale>
        <p:origin x="100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F963ED-470C-374F-FA93-EE896CE061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19329-D566-1216-82DE-860B88CE3D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79AE8-2921-4206-A740-E37681DC48F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B6BF8-864A-022A-BB70-8D50B8327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5431A-1147-CD71-83A0-ACAA92549C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66624-23B6-42C7-9F96-EAA4AD450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951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3382E-39D2-214A-BD32-6A88F16428C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B40E1-6B58-6542-B459-683BEC69D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117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25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FFE6-400D-5F4F-E0BA-3707EB4B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9381E-C016-975E-4BA3-C0E74E6D5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EFFB2-AFA9-1892-8926-7347984E7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B3B17-1D22-2259-6512-8430CAC2C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49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CD01-9147-E324-1B52-752A162D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D52D4-575F-B533-8264-A1739C198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231DD-0254-DA63-1C91-446606094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E2386-F4D4-78A8-6EB9-51F27937A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83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7E7D-55BC-02BF-F949-F0553F1E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72344-B7E8-04B3-D1D1-BE8FE9E79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45C82-82E1-8B3F-62B1-47C3E3EB2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2070A-C322-D045-1039-CFC0120E9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7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E54-5604-D107-FEDB-1BF7AE05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1D591-0DA7-378D-5E63-8438F037D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8A216-B358-D042-1B56-3337190AF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C99C-2A49-22FE-751D-FD87029D4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5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D0AD-89DE-DDCB-46AE-CAB39138C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7C2AC-99C1-F313-65EB-17319AB87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BD4EF-BDD1-B7B4-0B90-837E524E9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D973D-A445-27C5-0509-6377F3B06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6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0E50-97E4-28DE-B9F3-1E4ACEB0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08489-09FB-985C-4CDC-DCFF456AA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C355B-E478-DA9A-63E8-7BCA6AD5B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A8C42-D1EA-BF73-381B-A8730AA6C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38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CDEB-C67D-DDF3-E1FC-D5493B93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3D469-FDF1-8A45-9D1F-01FAABA47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B803A-59AD-52C0-F349-486AE33A5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6ED9D-3AF4-4887-D7C3-0232DF532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47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6DE7F-8CDD-E41E-4AF4-4F6B4C80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4C2E6-910E-D0C6-54E1-3BC0B6C7A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C96CD-91D7-B5BF-8EAF-283F86A1B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226E7-EA83-99FE-B3E3-DC6B453CF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17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10D3-E825-3C21-8E50-412728D3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5F76B-EB1A-D2D2-E063-F0606C9A6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55E72-D2D3-AC23-7F8F-1E289C220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2CF86-7C8A-A33E-9C70-C148315BA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42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FB28-9E94-F0BC-D805-ED5588C0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034E2-8998-B80F-B023-CBF04AC7F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2D383-7BFA-97AC-35B2-AC364C21A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1A17-B6DA-2DCF-BE73-AEFDA9530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9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0334D-5552-9578-CFB2-0F27468D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757A9-55CE-DD28-3D56-B687AD8E1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E3E6E-AB0B-3647-06B7-791824A21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270A5-27BA-F3D4-2118-400849E1C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9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6376-4A23-9BBB-A3F3-812DC55B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50CE3-518E-4937-AAB5-E65001B3A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C181C-BAA1-DCFD-D487-2F7DADA84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4FC64-EED4-CE66-77C6-6DDE8AF1C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24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13AF6-CBA8-FB3A-2DEE-B4FC6A18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09A32-2C55-5AE1-A263-6E267BB71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A6A60-64FD-C034-51FB-E6497B7B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CE3D-1C4D-C561-4F2B-9EB9EF405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07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42D3-23A6-0B8F-CF32-F830CC4C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1CCCF-F947-8D6D-B8A7-FFF534994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576F3-442D-4F63-4ED6-4B6B0CF19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744CD-9B26-D5DD-106F-5C07B2EAE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85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5E3B-FEC7-208B-1B66-4235D440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C93AB-D004-FD69-086E-D715BEA97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48F37-0F97-A2A4-D263-6366B5802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2D7C-18B5-19EA-232B-BE8CD7222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04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E5E0-18C1-7973-A85B-73727EF1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E1D8D-8CEC-1126-8D7B-83CC3ECF3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CFDFE-B3D1-EE82-97D3-5B16AB2F7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B29B7-3D5D-DAAC-5BE9-F00A090CB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53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0D58-2F7F-8B6B-22A4-55664245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287C7-9D26-D684-1776-1B0C1E454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F39EB-4430-D841-0C3E-D03699E3F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96C9A-124B-0E5A-7F2B-4616C86D9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25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4AF6-EE47-00D9-0423-02D836FB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9D44A-A186-078E-0DD6-C74149014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A1A4E-AECF-2226-1618-7387EA28D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C570A-CC66-F0A7-4DE5-9811FF7FC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27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1945-BB7A-F679-41C7-8E7525E0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B1C03-AD64-4E8E-F3F6-01A26E988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6DF58-4D43-7E84-C0E4-99D9012FE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988D0-8346-52BF-A232-E135AEDE7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18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0F57-402D-1A17-8012-B7285E1F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50A13-F03E-C4EE-9001-A3D93130A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29821-2D62-129A-5580-6BE3E8FA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6DFD9-D178-588F-491E-19D500817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26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05BE0-808E-EC7A-8659-2FEB1D55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15572-003A-EE9F-9FE9-03A2B8C5F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91F14-F27E-A425-5457-798088419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0F5E-1579-7467-3C35-9BB254A21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20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1E36-8E45-58A4-2668-18F51714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94814-B7AF-D8D3-A42F-A094D97E6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DBCFE-E40C-D7D3-C32A-711204B05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7DDBB-34D7-DC4E-1DC0-8503FFC12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68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03A1-3CDE-9D07-6D3C-5EA9BEA3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08FE8-13D2-46A8-9CCC-43729FA32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4603D-C3F7-194F-A504-BEEE2787D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AE441-5842-A8FA-5948-51A1F0572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803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F0F22-B8AE-749C-AA18-764A25E9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E5F94-6D6F-DE02-1F93-2DB6521BB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C7E2F-429A-7EDD-06F5-AA3F48E7B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BF4A2-AAF6-1096-5BC2-D4CF80FA6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1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91B8-92DF-79A1-6D67-46391764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B1DF-1E4F-1C06-8663-614268946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8170F-A736-904C-0135-AA4D187C5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AADBE-087D-6205-B1B4-102F72014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96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AC7B-F1ED-ABDF-2CBA-D4CC4517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21EA8-1A4D-9A8B-7D65-059DEA012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AAEF8-4B1D-1586-FD75-37FEC3E1A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DCCE5-3AEA-38DD-0CD4-49B2DF753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08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1A5E-A850-CB17-492C-3F50106C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92826-C059-A0A0-5B83-73361A8D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0186A-EAAA-490A-13AC-124D4CA7B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225C1-C94A-40EF-BDA9-C00C07C43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9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C734-6975-8618-0EFB-D3D00914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0B889-F269-D184-1361-84A8D698B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09F89-2BE9-6D0A-2BAA-1D36724D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AC6A2-F415-DD49-DE66-9F8E1C401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00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E0B0-F15C-5D7C-18AC-6CDBD7BB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EC13D-DB62-6D29-3C7F-EDD02B964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2CE17-A8D4-55AD-FF83-534E7E2B8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261C2-40B1-FFD7-E5E0-7AB50D5F6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254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BA6D-F021-EEC2-38ED-D3C2D113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AE916-18C1-F01D-DF9D-51F8C6932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F31FF-7D08-284C-8A2A-E6180D32F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6BA8-B241-06AF-F1D3-A09A2AB7E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572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FEE2-482F-C7C0-5F45-B9D1310D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B72AA-D8C6-AFC2-8D1A-E34C33106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86825-30E7-6CF6-1AB8-F71F5C793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10110-700F-2F29-295D-786EDBC09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175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9769-C65D-4513-C383-068F42FF3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B122A-395C-2BE5-ECA0-2F7B1933A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EC032-3EFB-14E5-B70B-E41E99503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0D832-6BB4-D715-2BB0-5ECFD103B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06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41331-34DD-15DE-81B2-0393AE14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6EE0A-F8BD-C609-88AF-B9B892458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B1DF3-B215-032E-57D7-72AC41194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D6DFD-9C28-624F-5311-2C4E8FF9A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66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261C-F250-ECA0-DDCA-2BC9CF7D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98538-67B1-3A55-BC76-823A352B3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63949-1998-A676-F0B1-4F5BC068A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41535-11CB-03B7-1AE5-281C9E072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694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9F0C-CD20-CF0E-3478-2D6879D9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4230B-BFFE-C001-B771-7BDEE370E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C1063-AD72-A553-5B50-ACDCFFAFD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E0637-0B50-1EBA-0733-C020A80FA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278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0EBE0-67C9-E7E0-285D-67B8A885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BB594-44B0-9452-AADE-7E00E4B1B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A303E-37A7-D212-FFDC-B395AE2FC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CA091-2B04-D589-D4D9-7319FB71C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82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D38E-08BC-A05F-5B7A-67A17C63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09CCA-E7A6-D5EE-701C-2AB6AD3BA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31E78-21D5-3635-8D61-1D3F8A864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0571-CFC2-6736-B215-5947BCEBC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369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6B40E1-6B58-6542-B459-683BEC69D2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18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lide">
    <p:bg>
      <p:bgPr>
        <a:solidFill>
          <a:srgbClr val="005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rgbClr val="0050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3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and Eag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720433-1BF1-DD46-86BC-2B9E6B0DF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2FCD5-ABEC-C91D-A839-77B4DC394E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1732"/>
          <a:stretch>
            <a:fillRect/>
          </a:stretch>
        </p:blipFill>
        <p:spPr>
          <a:xfrm>
            <a:off x="9256236" y="169652"/>
            <a:ext cx="1197821" cy="515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D78B6B-0FEF-AFAC-C257-25C45D13A2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54057" y="170035"/>
            <a:ext cx="1503926" cy="51550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78B25B1-1F96-6266-AA1E-AC6E29A1C726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D6C0D-EBDB-8048-8A42-C8B750D3A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bry-Riddle wordmark.">
            <a:extLst>
              <a:ext uri="{FF2B5EF4-FFF2-40B4-BE49-F238E27FC236}">
                <a16:creationId xmlns:a16="http://schemas.microsoft.com/office/drawing/2014/main" id="{41909F1C-71CB-D24C-AAC9-99E098F8C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7C7A9D-667E-6590-3483-F426C7036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6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DD172-42CC-124A-9EAD-DBF3A73E0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mbry-Riddle wordmark">
            <a:extLst>
              <a:ext uri="{FF2B5EF4-FFF2-40B4-BE49-F238E27FC236}">
                <a16:creationId xmlns:a16="http://schemas.microsoft.com/office/drawing/2014/main" id="{1E80EC0A-110A-E24C-8252-9E6BDE8B2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763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3AEF34-2AD0-BCD3-F0B7-850FE52B2D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947" y="22732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0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7C24F-5714-9146-B66B-2C051B25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5" y="2416629"/>
            <a:ext cx="12187845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3695F-4D59-104F-9559-894258EB7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mbry-Riddle wordmark">
            <a:extLst>
              <a:ext uri="{FF2B5EF4-FFF2-40B4-BE49-F238E27FC236}">
                <a16:creationId xmlns:a16="http://schemas.microsoft.com/office/drawing/2014/main" id="{59E19346-CE04-0C4F-9903-979A2D6E7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DFD92C-423C-C17B-E7EB-6462413FF5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FE76E5C-EF04-924F-B550-7B13EDC8D9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2454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8FF38597-57EC-F849-BDEE-27EE30A0B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E19472-BAAE-ADBD-DCFA-C55EF39FA3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4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mbry-Riddle wordmark">
            <a:extLst>
              <a:ext uri="{FF2B5EF4-FFF2-40B4-BE49-F238E27FC236}">
                <a16:creationId xmlns:a16="http://schemas.microsoft.com/office/drawing/2014/main" id="{DC902EFC-D42D-5D4C-8A23-40A659BF4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F0FC16EF-E998-554F-A565-990A0930E1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2454" y="1096831"/>
            <a:ext cx="526774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D8B2EE7-F678-644E-9B74-ED8D8C4BC1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5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FD87CB3-7E5E-DF4B-BF7D-C87531280D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484D61-08B3-2848-58E0-A5C30740AB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Embry-Riddle wordmark">
            <a:extLst>
              <a:ext uri="{FF2B5EF4-FFF2-40B4-BE49-F238E27FC236}">
                <a16:creationId xmlns:a16="http://schemas.microsoft.com/office/drawing/2014/main" id="{093343DA-253A-5240-AC7D-1B8C7493C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6F01912-8A2F-3D4C-B185-CB877EFEA2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454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9DF6E0-B234-7F41-BF47-8693198B5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67924" y="1096831"/>
            <a:ext cx="2532270" cy="2534279"/>
          </a:xfrm>
          <a:prstGeom prst="rect">
            <a:avLst/>
          </a:prstGeom>
          <a:solidFill>
            <a:srgbClr val="FCC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EB0ADEB-C167-3146-9A39-32EA9FBC32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197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9D8CFFDA-3410-724F-904A-AE70C9D0DA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744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6D4BC0-1008-3D42-8901-29757DC1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2454" y="3847867"/>
            <a:ext cx="2532270" cy="253427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8572892F-1839-064E-A139-0CEA16D8D6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1979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90F46A-CA4A-9645-92EF-4A3C9518F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7450" y="3847867"/>
            <a:ext cx="2553612" cy="2535238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D6CEE8-B837-743C-BEA2-7A278E02DE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3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Phot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2000" cy="329836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4E21C-D8F7-1744-86C3-3A232A5D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Blu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FEF6E-DFBA-9E4C-94AE-F73781D3D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0632"/>
            <a:ext cx="12191999" cy="6727368"/>
          </a:xfrm>
          <a:prstGeom prst="rect">
            <a:avLst/>
          </a:prstGeom>
          <a:solidFill>
            <a:srgbClr val="00509A">
              <a:alpha val="88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01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795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lide">
    <p:bg>
      <p:bgPr>
        <a:solidFill>
          <a:srgbClr val="005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rgbClr val="0050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7CF025-116F-D636-3DCE-2D221EAA8AE3}"/>
              </a:ext>
            </a:extLst>
          </p:cNvPr>
          <p:cNvGrpSpPr/>
          <p:nvPr userDrawn="1"/>
        </p:nvGrpSpPr>
        <p:grpSpPr>
          <a:xfrm>
            <a:off x="93133" y="6036866"/>
            <a:ext cx="5943600" cy="707801"/>
            <a:chOff x="598711" y="5926786"/>
            <a:chExt cx="6823026" cy="8125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20581F-C80B-97F0-2724-0BF9CC217E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711" y="5926786"/>
              <a:ext cx="4822125" cy="81252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1746F1-78C8-5B61-C422-11178513F5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b="4764"/>
            <a:stretch>
              <a:fillRect/>
            </a:stretch>
          </p:blipFill>
          <p:spPr>
            <a:xfrm>
              <a:off x="5420836" y="5926786"/>
              <a:ext cx="2000901" cy="812528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42A04C9-DE55-4E77-5D56-B88F6C0940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40516" y="6035754"/>
            <a:ext cx="2058351" cy="7089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351B22-EA52-8D85-D050-8BBE2C52FD8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45782" y="6034640"/>
            <a:ext cx="1994734" cy="7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60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7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6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and Eag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720433-1BF1-DD46-86BC-2B9E6B0DF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D5C2ECB1-A06C-5C4F-BDAC-D3DA513A00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92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D6C0D-EBDB-8048-8A42-C8B750D3A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bry-Riddle wordmark.">
            <a:extLst>
              <a:ext uri="{FF2B5EF4-FFF2-40B4-BE49-F238E27FC236}">
                <a16:creationId xmlns:a16="http://schemas.microsoft.com/office/drawing/2014/main" id="{41909F1C-71CB-D24C-AAC9-99E098F8C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09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DD172-42CC-124A-9EAD-DBF3A73E0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mbry-Riddle wordmark">
            <a:extLst>
              <a:ext uri="{FF2B5EF4-FFF2-40B4-BE49-F238E27FC236}">
                <a16:creationId xmlns:a16="http://schemas.microsoft.com/office/drawing/2014/main" id="{1E80EC0A-110A-E24C-8252-9E6BDE8B2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763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96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7C24F-5714-9146-B66B-2C051B25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5" y="2416629"/>
            <a:ext cx="12187845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3695F-4D59-104F-9559-894258EB7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mbry-Riddle wordmark">
            <a:extLst>
              <a:ext uri="{FF2B5EF4-FFF2-40B4-BE49-F238E27FC236}">
                <a16:creationId xmlns:a16="http://schemas.microsoft.com/office/drawing/2014/main" id="{59E19346-CE04-0C4F-9903-979A2D6E7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59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FE76E5C-EF04-924F-B550-7B13EDC8D9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2454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8FF38597-57EC-F849-BDEE-27EE30A0B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13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mbry-Riddle wordmark">
            <a:extLst>
              <a:ext uri="{FF2B5EF4-FFF2-40B4-BE49-F238E27FC236}">
                <a16:creationId xmlns:a16="http://schemas.microsoft.com/office/drawing/2014/main" id="{DC902EFC-D42D-5D4C-8A23-40A659BF4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F0FC16EF-E998-554F-A565-990A0930E1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2454" y="1096831"/>
            <a:ext cx="526774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D8B2EE7-F678-644E-9B74-ED8D8C4BC1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5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FD87CB3-7E5E-DF4B-BF7D-C87531280D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253305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Embry-Riddle wordmark">
            <a:extLst>
              <a:ext uri="{FF2B5EF4-FFF2-40B4-BE49-F238E27FC236}">
                <a16:creationId xmlns:a16="http://schemas.microsoft.com/office/drawing/2014/main" id="{093343DA-253A-5240-AC7D-1B8C7493C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6F01912-8A2F-3D4C-B185-CB877EFEA2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454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9DF6E0-B234-7F41-BF47-8693198B5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67924" y="1096831"/>
            <a:ext cx="2532270" cy="2534279"/>
          </a:xfrm>
          <a:prstGeom prst="rect">
            <a:avLst/>
          </a:prstGeom>
          <a:solidFill>
            <a:srgbClr val="FCC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EB0ADEB-C167-3146-9A39-32EA9FBC32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197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9D8CFFDA-3410-724F-904A-AE70C9D0DA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744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6D4BC0-1008-3D42-8901-29757DC1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2454" y="3847867"/>
            <a:ext cx="2532270" cy="253427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8572892F-1839-064E-A139-0CEA16D8D6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1979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90F46A-CA4A-9645-92EF-4A3C9518F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7450" y="3847867"/>
            <a:ext cx="2553612" cy="2535238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1108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Phot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2000" cy="329836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4E21C-D8F7-1744-86C3-3A232A5D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50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Blu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FEF6E-DFBA-9E4C-94AE-F73781D3D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0632"/>
            <a:ext cx="12191999" cy="6727368"/>
          </a:xfrm>
          <a:prstGeom prst="rect">
            <a:avLst/>
          </a:prstGeom>
          <a:solidFill>
            <a:srgbClr val="00509A">
              <a:alpha val="88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2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14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FD283-F7F1-EA40-B1FF-779E5473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8E710-1888-764D-8865-43CB2655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68175-0C34-424F-AC9D-533EC2981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FBAB-E6EE-3847-8E5C-70BB3037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AD7B-BBB4-074D-8042-366791D90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0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70" r:id="rId3"/>
    <p:sldLayoutId id="2147483649" r:id="rId4"/>
    <p:sldLayoutId id="2147483661" r:id="rId5"/>
    <p:sldLayoutId id="2147483662" r:id="rId6"/>
    <p:sldLayoutId id="2147483667" r:id="rId7"/>
    <p:sldLayoutId id="2147483671" r:id="rId8"/>
    <p:sldLayoutId id="2147483669" r:id="rId9"/>
    <p:sldLayoutId id="2147483672" r:id="rId10"/>
    <p:sldLayoutId id="2147483664" r:id="rId11"/>
    <p:sldLayoutId id="2147483665" r:id="rId12"/>
    <p:sldLayoutId id="214748365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FD283-F7F1-EA40-B1FF-779E5473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8E710-1888-764D-8865-43CB2655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68175-0C34-424F-AC9D-533EC2981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FBAB-E6EE-3847-8E5C-70BB3037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AD7B-BBB4-074D-8042-366791D90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4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2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0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11" Type="http://schemas.openxmlformats.org/officeDocument/2006/relationships/image" Target="../media/image44.png"/><Relationship Id="rId5" Type="http://schemas.openxmlformats.org/officeDocument/2006/relationships/image" Target="../media/image42.png"/><Relationship Id="rId10" Type="http://schemas.openxmlformats.org/officeDocument/2006/relationships/image" Target="../media/image59.png"/><Relationship Id="rId4" Type="http://schemas.openxmlformats.org/officeDocument/2006/relationships/image" Target="../media/image41.png"/><Relationship Id="rId9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8.png"/><Relationship Id="rId4" Type="http://schemas.openxmlformats.org/officeDocument/2006/relationships/image" Target="../media/image6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3.png"/><Relationship Id="rId4" Type="http://schemas.openxmlformats.org/officeDocument/2006/relationships/image" Target="../media/image9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7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53E3-4FBA-FFD8-9B37-63153166D2D6}"/>
              </a:ext>
            </a:extLst>
          </p:cNvPr>
          <p:cNvSpPr txBox="1"/>
          <p:nvPr/>
        </p:nvSpPr>
        <p:spPr>
          <a:xfrm>
            <a:off x="471236" y="565546"/>
            <a:ext cx="11249526" cy="2554521"/>
          </a:xfrm>
          <a:prstGeom prst="rect">
            <a:avLst/>
          </a:prstGeom>
        </p:spPr>
        <p:txBody>
          <a:bodyPr wrap="square" lIns="91416" tIns="45708" rIns="91416" bIns="45708" rtlCol="0" anchor="t">
            <a:spAutoFit/>
          </a:bodyPr>
          <a:lstStyle/>
          <a:p>
            <a:pPr algn="ctr" fontAlgn="auto">
              <a:spcAft>
                <a:spcPts val="0"/>
              </a:spcAft>
              <a:tabLst>
                <a:tab pos="3590925" algn="l"/>
              </a:tabLst>
            </a:pP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Effect of Entrapped Non-condensable Gas on Shock-Driven Droplet Deformation: </a:t>
            </a:r>
          </a:p>
          <a:p>
            <a:pPr algn="ctr" fontAlgn="auto">
              <a:spcAft>
                <a:spcPts val="0"/>
              </a:spcAft>
              <a:tabLst>
                <a:tab pos="3590925" algn="l"/>
              </a:tabLst>
            </a:pP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Implications for Hypersonic Rain Environments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09F07608-81EE-13F6-4FAB-A83392F7F356}"/>
              </a:ext>
            </a:extLst>
          </p:cNvPr>
          <p:cNvSpPr txBox="1">
            <a:spLocks/>
          </p:cNvSpPr>
          <p:nvPr/>
        </p:nvSpPr>
        <p:spPr>
          <a:xfrm>
            <a:off x="1987221" y="3429000"/>
            <a:ext cx="8217555" cy="193896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Juan P. Roldan</a:t>
            </a: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1, 2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, Brendon A. Cavainolo</a:t>
            </a: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1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, Rebecca C. Shannon</a:t>
            </a: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, Guillermo A. Jaramillo</a:t>
            </a: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, Sheryl M. Grace</a:t>
            </a: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, Michael P. Kinzel</a:t>
            </a: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1</a:t>
            </a:r>
            <a:endParaRPr lang="en-US" sz="2000" dirty="0">
              <a:solidFill>
                <a:schemeClr val="bg1"/>
              </a:solidFill>
              <a:latin typeface="Arial"/>
              <a:ea typeface="Roboto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endParaRPr lang="en-US" sz="2000" dirty="0">
              <a:solidFill>
                <a:schemeClr val="bg1"/>
              </a:solidFill>
              <a:latin typeface="Arial"/>
              <a:ea typeface="Roboto" panose="02000000000000000000" pitchFamily="2" charset="0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1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Embry-Riddle Aeronautical University, Daytona Beach FL, 32114, USA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Universidad del Valle, Cali, Valle del Cauca, Colombia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baseline="30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3</a:t>
            </a: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Boston University, Boston, MA, 02215, USA</a:t>
            </a:r>
          </a:p>
        </p:txBody>
      </p:sp>
    </p:spTree>
    <p:extLst>
      <p:ext uri="{BB962C8B-B14F-4D97-AF65-F5344CB8AC3E}">
        <p14:creationId xmlns:p14="http://schemas.microsoft.com/office/powerpoint/2010/main" val="58457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C3901-F546-2F8A-0D3D-F88DEC15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CACF27-85D5-300A-8719-59EB30A165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Motivation – Rain Erosion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B2C61-63E1-00F5-425F-EFB5C2EBC174}"/>
              </a:ext>
            </a:extLst>
          </p:cNvPr>
          <p:cNvSpPr/>
          <p:nvPr/>
        </p:nvSpPr>
        <p:spPr>
          <a:xfrm>
            <a:off x="783845" y="1088998"/>
            <a:ext cx="10569955" cy="21185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Hypersonic glide vehicles encounter atmospheric hydrometeors during terminal descent at 0–7 km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Micron cloud droplets to millimeter raindrops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Cumulative droplet impacts roughen the surface → early boundary-layer transition → heating/drag/control-authority penalties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These margins are already thin in air-breathing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7972B-24AB-9696-49FC-DDE80082E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C17CC1-F3A5-A190-3E73-911F0C3882BA}"/>
              </a:ext>
            </a:extLst>
          </p:cNvPr>
          <p:cNvGrpSpPr/>
          <p:nvPr/>
        </p:nvGrpSpPr>
        <p:grpSpPr>
          <a:xfrm>
            <a:off x="1927952" y="3207527"/>
            <a:ext cx="8336096" cy="3513948"/>
            <a:chOff x="1927952" y="3207527"/>
            <a:chExt cx="8336096" cy="35139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EEC41E-C00B-0917-9D1F-B6EF3ED2B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7952" y="3207527"/>
              <a:ext cx="8281739" cy="300025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454044-BF3B-0F96-B476-987162112455}"/>
                </a:ext>
              </a:extLst>
            </p:cNvPr>
            <p:cNvSpPr txBox="1"/>
            <p:nvPr/>
          </p:nvSpPr>
          <p:spPr>
            <a:xfrm>
              <a:off x="1982309" y="6136700"/>
              <a:ext cx="82817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Schematic of atmospheric droplets interacting with the bow shock of a hypersonic vehicle before and after shock passage. Adapted from Aguilera 2023.</a:t>
              </a:r>
              <a:endParaRPr lang="en-US" sz="1600" i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9D8F72-8114-509D-7058-553EDD26F9DB}"/>
              </a:ext>
            </a:extLst>
          </p:cNvPr>
          <p:cNvGrpSpPr/>
          <p:nvPr/>
        </p:nvGrpSpPr>
        <p:grpSpPr>
          <a:xfrm>
            <a:off x="4928612" y="3514311"/>
            <a:ext cx="3326128" cy="2158950"/>
            <a:chOff x="4928612" y="3514311"/>
            <a:chExt cx="3326128" cy="2158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C2CC75-1ACD-BD99-01DA-60D930C90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176" t="19586" b="9328"/>
            <a:stretch>
              <a:fillRect/>
            </a:stretch>
          </p:blipFill>
          <p:spPr>
            <a:xfrm rot="10800000">
              <a:off x="4928613" y="3514311"/>
              <a:ext cx="1719001" cy="1762261"/>
            </a:xfrm>
            <a:prstGeom prst="rect">
              <a:avLst/>
            </a:prstGeom>
            <a:ln w="57150">
              <a:solidFill>
                <a:srgbClr val="03539E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96DD2A-0870-BA1F-7177-AA4FF3F88032}"/>
                </a:ext>
              </a:extLst>
            </p:cNvPr>
            <p:cNvSpPr/>
            <p:nvPr/>
          </p:nvSpPr>
          <p:spPr>
            <a:xfrm>
              <a:off x="7865961" y="4707656"/>
              <a:ext cx="388779" cy="388779"/>
            </a:xfrm>
            <a:prstGeom prst="rect">
              <a:avLst/>
            </a:prstGeom>
            <a:ln w="28575">
              <a:solidFill>
                <a:srgbClr val="00509A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3C3EDA-B33A-5187-43BE-B9D10C7F9CC8}"/>
                </a:ext>
              </a:extLst>
            </p:cNvPr>
            <p:cNvCxnSpPr>
              <a:cxnSpLocks/>
              <a:stCxn id="4" idx="1"/>
              <a:endCxn id="5" idx="1"/>
            </p:cNvCxnSpPr>
            <p:nvPr/>
          </p:nvCxnSpPr>
          <p:spPr>
            <a:xfrm>
              <a:off x="6647614" y="4395441"/>
              <a:ext cx="1218347" cy="506605"/>
            </a:xfrm>
            <a:prstGeom prst="line">
              <a:avLst/>
            </a:prstGeom>
            <a:ln w="38100">
              <a:solidFill>
                <a:srgbClr val="0050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B02E5C-2604-30C0-C9EB-4C700FE5EC7A}"/>
                </a:ext>
              </a:extLst>
            </p:cNvPr>
            <p:cNvSpPr txBox="1"/>
            <p:nvPr/>
          </p:nvSpPr>
          <p:spPr>
            <a:xfrm>
              <a:off x="4928612" y="5365484"/>
              <a:ext cx="1719002" cy="3077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3539E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latin typeface="Arial"/>
                  <a:ea typeface="Open Sans"/>
                  <a:cs typeface="Arial"/>
                </a:rPr>
                <a:t>Dworzanczyk</a:t>
              </a:r>
              <a:r>
                <a:rPr lang="en-US" sz="1400" dirty="0">
                  <a:latin typeface="Arial"/>
                  <a:ea typeface="Open Sans"/>
                  <a:cs typeface="Arial"/>
                </a:rPr>
                <a:t> 2025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645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5EBE-D576-90A7-94C4-3FA4AD10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470346-7A7A-DAA1-1207-A950A07104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Motivation – Rain Erosion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10BCE8F-CFA0-6CD2-A4E7-F3CE323D4639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87203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Impact loading scales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~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𝜌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single 2mm raindrop can exert up to 40kN of force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10BCE8F-CFA0-6CD2-A4E7-F3CE323D4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872034"/>
              </a:xfrm>
              <a:prstGeom prst="rect">
                <a:avLst/>
              </a:prstGeom>
              <a:blipFill>
                <a:blip r:embed="rId3"/>
                <a:stretch>
                  <a:fillRect l="-404" b="-10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670979-A610-8C7B-D5C3-69B31AF7D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F93EF-270B-9922-E5EE-9B5BF4EBD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99" y="2111099"/>
            <a:ext cx="4320891" cy="37267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9DB5B4-AF45-AADF-F863-8C3BADC30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707" y="791749"/>
            <a:ext cx="3741402" cy="26372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0EAB4B-4B4A-7617-D7F1-DCBA17722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646539" y="3473250"/>
            <a:ext cx="1533739" cy="28388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9EE85B-C9DC-4AA0-5138-A15BDA0A20F5}"/>
              </a:ext>
            </a:extLst>
          </p:cNvPr>
          <p:cNvSpPr txBox="1"/>
          <p:nvPr/>
        </p:nvSpPr>
        <p:spPr>
          <a:xfrm>
            <a:off x="562899" y="5861518"/>
            <a:ext cx="43208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View of hypersonic vehicle terminal dive phase (Aguilera 2023).</a:t>
            </a:r>
            <a:endParaRPr lang="en-US" sz="16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349E4F-A21F-CC1C-21C6-B2AAB374FDFB}"/>
              </a:ext>
            </a:extLst>
          </p:cNvPr>
          <p:cNvSpPr txBox="1"/>
          <p:nvPr/>
        </p:nvSpPr>
        <p:spPr>
          <a:xfrm>
            <a:off x="7542707" y="3429000"/>
            <a:ext cx="381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4mm droplet impact on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radome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at Mach 3 (Moylan 2013).</a:t>
            </a:r>
            <a:endParaRPr lang="en-US" sz="160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1CC720-1732-D881-48E7-6353FDCC8F9A}"/>
              </a:ext>
            </a:extLst>
          </p:cNvPr>
          <p:cNvSpPr txBox="1"/>
          <p:nvPr/>
        </p:nvSpPr>
        <p:spPr>
          <a:xfrm>
            <a:off x="7506768" y="5715559"/>
            <a:ext cx="381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Vehicle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nosetip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post flight through clouds (Sandia National Labs).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31292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B976-08FC-9476-11C3-E5D94B36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E9A8A3-8F53-866B-692B-0E494A71BE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Motivation – Drop Acoustics and Rain 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749DCE-6AD9-DAB0-57B6-A409DBB7B29A}"/>
              </a:ext>
            </a:extLst>
          </p:cNvPr>
          <p:cNvSpPr/>
          <p:nvPr/>
        </p:nvSpPr>
        <p:spPr>
          <a:xfrm>
            <a:off x="783845" y="1088998"/>
            <a:ext cx="10569955" cy="17030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Shock transmission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  <a:sym typeface="Wingdings" panose="05000000000000000000" pitchFamily="2" charset="2"/>
              </a:rPr>
              <a:t> internal wave dynamics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  <a:sym typeface="Wingdings" panose="05000000000000000000" pitchFamily="2" charset="2"/>
              </a:rPr>
              <a:t>Reflections / expansion waves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Cloud droplets and raindrops form through condensation on suspended aerosol particles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May trap microscopic gas pockets (heterogenous nuclei)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0783E-A075-A48B-514C-4B5576AC8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0DAC6DA-A869-987B-9B22-637BC2023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1106435"/>
                  </p:ext>
                </p:extLst>
              </p:nvPr>
            </p:nvGraphicFramePr>
            <p:xfrm>
              <a:off x="5288506" y="3475575"/>
              <a:ext cx="6644188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7870">
                      <a:extLst>
                        <a:ext uri="{9D8B030D-6E8A-4147-A177-3AD203B41FA5}">
                          <a16:colId xmlns:a16="http://schemas.microsoft.com/office/drawing/2014/main" val="2774158782"/>
                        </a:ext>
                      </a:extLst>
                    </a:gridCol>
                    <a:gridCol w="1526985">
                      <a:extLst>
                        <a:ext uri="{9D8B030D-6E8A-4147-A177-3AD203B41FA5}">
                          <a16:colId xmlns:a16="http://schemas.microsoft.com/office/drawing/2014/main" val="33839257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728048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Particle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Diameter, </a:t>
                          </a:r>
                          <a:r>
                            <a:rPr lang="el-GR" dirty="0"/>
                            <a:t>μ</a:t>
                          </a:r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Terminal velocity, m s</a:t>
                          </a:r>
                          <a:r>
                            <a:rPr lang="en-US" baseline="30000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999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condensation nucleus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dirty="0"/>
                            <a:t> 10</a:t>
                          </a:r>
                          <a:r>
                            <a:rPr lang="en-US" baseline="30000" dirty="0"/>
                            <a:t>-6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1294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cloud 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2345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Cloud drop / raindrop conventional borderline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846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raindrop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403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0DAC6DA-A869-987B-9B22-637BC2023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1106435"/>
                  </p:ext>
                </p:extLst>
              </p:nvPr>
            </p:nvGraphicFramePr>
            <p:xfrm>
              <a:off x="5288506" y="3475575"/>
              <a:ext cx="6644188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7870">
                      <a:extLst>
                        <a:ext uri="{9D8B030D-6E8A-4147-A177-3AD203B41FA5}">
                          <a16:colId xmlns:a16="http://schemas.microsoft.com/office/drawing/2014/main" val="2774158782"/>
                        </a:ext>
                      </a:extLst>
                    </a:gridCol>
                    <a:gridCol w="1526985">
                      <a:extLst>
                        <a:ext uri="{9D8B030D-6E8A-4147-A177-3AD203B41FA5}">
                          <a16:colId xmlns:a16="http://schemas.microsoft.com/office/drawing/2014/main" val="33839257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728048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Particle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Diameter, </a:t>
                          </a:r>
                          <a:r>
                            <a:rPr lang="el-GR" dirty="0"/>
                            <a:t>μ</a:t>
                          </a:r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Terminal velocity, m s</a:t>
                          </a:r>
                          <a:r>
                            <a:rPr lang="en-US" baseline="30000" dirty="0"/>
                            <a:t>-1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99924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condensation nucleus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5393" t="-62857" r="-899" b="-23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1294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cloud 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234536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Cloud drop / raindrop conventional borderline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846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raindrop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3403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9E8C7C4-66D3-8ED5-0366-AE631058A079}"/>
              </a:ext>
            </a:extLst>
          </p:cNvPr>
          <p:cNvSpPr txBox="1"/>
          <p:nvPr/>
        </p:nvSpPr>
        <p:spPr>
          <a:xfrm>
            <a:off x="5288507" y="5868255"/>
            <a:ext cx="6644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Typical sizes and terminal velocities of liquid particles in clouds (Aguilera 2023).</a:t>
            </a:r>
            <a:endParaRPr lang="en-US" sz="16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46A3A-2B42-AC28-5416-66B5D1936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3" y="3130194"/>
            <a:ext cx="4331232" cy="30065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8969F1-8C9B-4A71-1863-41D93FE3FAEB}"/>
              </a:ext>
            </a:extLst>
          </p:cNvPr>
          <p:cNvSpPr txBox="1"/>
          <p:nvPr/>
        </p:nvSpPr>
        <p:spPr>
          <a:xfrm>
            <a:off x="558054" y="6136700"/>
            <a:ext cx="4331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Progression of droplet internal waves 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Biasiori-Poulanges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2023).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28902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06CA-2BAA-1ECF-F08F-7506744B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554C8B-55DE-8FEE-68A9-4052773250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Scope and Objectives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25431-982E-126D-7216-46C7BAD4373A}"/>
              </a:ext>
            </a:extLst>
          </p:cNvPr>
          <p:cNvSpPr/>
          <p:nvPr/>
        </p:nvSpPr>
        <p:spPr>
          <a:xfrm>
            <a:off x="783845" y="1088998"/>
            <a:ext cx="10569955" cy="41960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Can the consideration of pre-existing nuclei measurably affect droplet deformation?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Computationally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study the role of pre-existing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non-condensable gas nuclei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in the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early-time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response of a shock-loaded liquid droplet.</a:t>
            </a:r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Objectives: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Benchmark the compressible multiphase framework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Characterize the “clean” shock-droplet baseline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Quantify the mechanical response of embedded gas nuclei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Assess the impact of the bubble response on the droplet pressure field and deformation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4F5A101-3B6C-A535-DDBF-9B9C4E8BF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39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017787-023E-E002-8229-DB3ABA9C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B2E9AB-6EBC-0052-A0F0-12F9D6B577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Cavitation and Entrained Nuclei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5A737D-C534-3611-CDD1-DBB1F6793776}"/>
              </a:ext>
            </a:extLst>
          </p:cNvPr>
          <p:cNvSpPr/>
          <p:nvPr/>
        </p:nvSpPr>
        <p:spPr>
          <a:xfrm>
            <a:off x="811022" y="999986"/>
            <a:ext cx="10569955" cy="41960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Internal pressure focusing can activate cavitation or gas nuclei, but existing studies have not isolated the mechanical response of pre-existing non-condensable nuclei.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Sembian et al., 2016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Provided direct shock-water-column evidence of internal wave focusing and cavitation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Forehand et al., 2023-2024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Compared simulations with and without cavitation modeling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One-way coupling bubble dynamics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Briggs / Aguilera, 2023-2026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Experiments of degassed, ambient, and doped droplets (~Mach 3, D=1-3mm)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Limited diagnostic, little evidence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7A32B1F-F87F-21B0-C3F7-07C56061B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9B9B6-DEF7-AD04-E79A-7627B1458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2B41EB-A117-7813-B5CF-7D2D5A8B47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Knowledge Gaps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187E7-33BB-DE69-DC8B-654B32AB8BAE}"/>
              </a:ext>
            </a:extLst>
          </p:cNvPr>
          <p:cNvSpPr/>
          <p:nvPr/>
        </p:nvSpPr>
        <p:spPr>
          <a:xfrm>
            <a:off x="783845" y="1088998"/>
            <a:ext cx="10569955" cy="8720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Prior work identified cavitation-prone regions and droplet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breakup mechanisms but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did not resolve the direct feedback of pre-existing gas nuclei.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679C5FC-A774-C63B-9A7C-2DD248D4F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FFE8F4-4A7C-8949-B6D8-518499EB6688}"/>
              </a:ext>
            </a:extLst>
          </p:cNvPr>
          <p:cNvSpPr/>
          <p:nvPr/>
        </p:nvSpPr>
        <p:spPr>
          <a:xfrm>
            <a:off x="331470" y="3634125"/>
            <a:ext cx="3577590" cy="549867"/>
          </a:xfrm>
          <a:prstGeom prst="roundRect">
            <a:avLst/>
          </a:prstGeom>
          <a:solidFill>
            <a:srgbClr val="00509A"/>
          </a:solidFill>
          <a:ln w="19050">
            <a:solidFill>
              <a:srgbClr val="FCC10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Open Sans"/>
                <a:cs typeface="Arial"/>
              </a:rPr>
              <a:t>Isolated nuclei response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5F3B44-F0C7-B7EC-F5B0-B611F144236A}"/>
              </a:ext>
            </a:extLst>
          </p:cNvPr>
          <p:cNvSpPr/>
          <p:nvPr/>
        </p:nvSpPr>
        <p:spPr>
          <a:xfrm>
            <a:off x="4280027" y="3378736"/>
            <a:ext cx="3577590" cy="1060646"/>
          </a:xfrm>
          <a:prstGeom prst="roundRect">
            <a:avLst/>
          </a:prstGeom>
          <a:solidFill>
            <a:srgbClr val="00509A"/>
          </a:solidFill>
          <a:ln w="19050">
            <a:solidFill>
              <a:srgbClr val="FCC10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Open Sans"/>
                <a:cs typeface="Arial"/>
              </a:rPr>
              <a:t>Two-way coupled multi-nuclei effects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22E2F4-E2B7-C676-0EAF-A60246AB7E02}"/>
              </a:ext>
            </a:extLst>
          </p:cNvPr>
          <p:cNvSpPr/>
          <p:nvPr/>
        </p:nvSpPr>
        <p:spPr>
          <a:xfrm>
            <a:off x="8282940" y="3378735"/>
            <a:ext cx="3577590" cy="1060646"/>
          </a:xfrm>
          <a:prstGeom prst="roundRect">
            <a:avLst/>
          </a:prstGeom>
          <a:solidFill>
            <a:srgbClr val="00509A"/>
          </a:solidFill>
          <a:ln w="19050">
            <a:solidFill>
              <a:srgbClr val="FCC10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Open Sans"/>
                <a:cs typeface="Arial"/>
              </a:rPr>
              <a:t>Early pressure field feedback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90D5C-51F4-5BE7-D175-D7621CBC8E02}"/>
              </a:ext>
            </a:extLst>
          </p:cNvPr>
          <p:cNvSpPr txBox="1"/>
          <p:nvPr/>
        </p:nvSpPr>
        <p:spPr>
          <a:xfrm>
            <a:off x="1445070" y="2630904"/>
            <a:ext cx="13503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Gap 1: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377D7-96A6-8ED3-EA09-81C66A1E4ED1}"/>
              </a:ext>
            </a:extLst>
          </p:cNvPr>
          <p:cNvSpPr txBox="1"/>
          <p:nvPr/>
        </p:nvSpPr>
        <p:spPr>
          <a:xfrm>
            <a:off x="5393627" y="2630903"/>
            <a:ext cx="13503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Gap 2:</a:t>
            </a:r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15A88-494B-C1FA-91A3-9C4A87DC1257}"/>
              </a:ext>
            </a:extLst>
          </p:cNvPr>
          <p:cNvSpPr txBox="1"/>
          <p:nvPr/>
        </p:nvSpPr>
        <p:spPr>
          <a:xfrm>
            <a:off x="9307005" y="2632906"/>
            <a:ext cx="13503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Gap 3: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4842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7787-9B91-A957-1805-297041C19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78255D-A0BF-F73D-1271-0612CA7082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Computational Setup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E86D83-5974-E43F-9467-219C10299EE9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simulations are performed in cylindrical coordinates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𝑟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under an axisymmetric assumption.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Boundary conditions: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bottom boundary is an axis of symmetry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other boundaries are non-reflecting boundaries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conditions: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Shocked air set by Rankine-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Hugoniot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jump conditions into quiescent, ambient air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E86D83-5974-E43F-9467-219C10299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  <a:blipFill>
                <a:blip r:embed="rId3"/>
                <a:stretch>
                  <a:fillRect l="-519" b="-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5882DF1-4381-CCDD-2C7D-38D04A254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726C12-F731-337B-081B-F33F29D04F67}"/>
              </a:ext>
            </a:extLst>
          </p:cNvPr>
          <p:cNvGrpSpPr/>
          <p:nvPr/>
        </p:nvGrpSpPr>
        <p:grpSpPr>
          <a:xfrm>
            <a:off x="1949259" y="1672665"/>
            <a:ext cx="8239125" cy="2824579"/>
            <a:chOff x="1949259" y="1672665"/>
            <a:chExt cx="8239125" cy="28245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AB875E-022E-73E8-0447-7299122E4A32}"/>
                </a:ext>
              </a:extLst>
            </p:cNvPr>
            <p:cNvGrpSpPr/>
            <p:nvPr/>
          </p:nvGrpSpPr>
          <p:grpSpPr>
            <a:xfrm>
              <a:off x="1949259" y="1672665"/>
              <a:ext cx="8239125" cy="2824579"/>
              <a:chOff x="1949259" y="1672665"/>
              <a:chExt cx="8239125" cy="282457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03CFFA3-2765-70B3-D05C-F0374D6DF7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9259" y="1672665"/>
                <a:ext cx="8239125" cy="2486025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56118E-BDB4-3EEA-0EF9-38F007446D0F}"/>
                  </a:ext>
                </a:extLst>
              </p:cNvPr>
              <p:cNvSpPr txBox="1"/>
              <p:nvPr/>
            </p:nvSpPr>
            <p:spPr>
              <a:xfrm>
                <a:off x="1949259" y="4158690"/>
                <a:ext cx="823912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Computational domain, normalized by droplet diameter,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  <a:endParaRPr lang="en-US" sz="1600" i="1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409384A-5C2E-E645-FF44-E4AB3230DFD6}"/>
                </a:ext>
              </a:extLst>
            </p:cNvPr>
            <p:cNvGrpSpPr/>
            <p:nvPr/>
          </p:nvGrpSpPr>
          <p:grpSpPr>
            <a:xfrm>
              <a:off x="2470209" y="3113999"/>
              <a:ext cx="434917" cy="614971"/>
              <a:chOff x="2470209" y="3113999"/>
              <a:chExt cx="434917" cy="614971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EA1DEDC-49B4-BA96-4124-9FC2ECA12E52}"/>
                  </a:ext>
                </a:extLst>
              </p:cNvPr>
              <p:cNvGrpSpPr/>
              <p:nvPr/>
            </p:nvGrpSpPr>
            <p:grpSpPr>
              <a:xfrm>
                <a:off x="2479733" y="3299619"/>
                <a:ext cx="346017" cy="367795"/>
                <a:chOff x="282633" y="3233651"/>
                <a:chExt cx="474605" cy="465513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56AFD29E-9840-7763-D1A6-CB409589EA51}"/>
                    </a:ext>
                  </a:extLst>
                </p:cNvPr>
                <p:cNvCxnSpPr/>
                <p:nvPr/>
              </p:nvCxnSpPr>
              <p:spPr>
                <a:xfrm flipV="1">
                  <a:off x="282633" y="3233651"/>
                  <a:ext cx="0" cy="465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CA72C05E-8A94-632C-451A-F578A4EAE6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33" y="3699164"/>
                  <a:ext cx="474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71FCAD3-C5A3-69B5-1140-C52D7D085A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46376" y="3421193"/>
                    <a:ext cx="15875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71FCAD3-C5A3-69B5-1140-C52D7D085A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46376" y="3421193"/>
                    <a:ext cx="15875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3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A259FE-5923-F23F-EC28-6C6A7B108EC8}"/>
                      </a:ext>
                    </a:extLst>
                  </p:cNvPr>
                  <p:cNvSpPr txBox="1"/>
                  <p:nvPr/>
                </p:nvSpPr>
                <p:spPr>
                  <a:xfrm>
                    <a:off x="2470209" y="3113999"/>
                    <a:ext cx="15875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A259FE-5923-F23F-EC28-6C6A7B108E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0209" y="3113999"/>
                    <a:ext cx="158750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53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62FC6-C64D-AB0A-2FE9-C29CA9E6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E354B-B925-AC26-57E3-F55D044140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Simulation Matrix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17A399-700F-D6F0-39A4-5BC6DFD6EF56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94952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Parameter space: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For a 1mm droplet,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∈{3, 5, 7}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0.1, 0.2, 1, 2</m:t>
                        </m:r>
                      </m:e>
                    </m:d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 </m:t>
                    </m:r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10, 100, 1000</m:t>
                        </m:r>
                      </m:e>
                    </m:d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clean case is run at each Mach, 36 doped cases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17A399-700F-D6F0-39A4-5BC6DFD6EF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949525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A3D46BB-4C96-E97E-CBA6-8D071A62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62F6C0-36E1-D233-44CA-2D73455887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1529311"/>
                  </p:ext>
                </p:extLst>
              </p:nvPr>
            </p:nvGraphicFramePr>
            <p:xfrm>
              <a:off x="3401596" y="2010263"/>
              <a:ext cx="538880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5646">
                      <a:extLst>
                        <a:ext uri="{9D8B030D-6E8A-4147-A177-3AD203B41FA5}">
                          <a16:colId xmlns:a16="http://schemas.microsoft.com/office/drawing/2014/main" val="687863810"/>
                        </a:ext>
                      </a:extLst>
                    </a:gridCol>
                    <a:gridCol w="524192">
                      <a:extLst>
                        <a:ext uri="{9D8B030D-6E8A-4147-A177-3AD203B41FA5}">
                          <a16:colId xmlns:a16="http://schemas.microsoft.com/office/drawing/2014/main" val="3636242740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82613175"/>
                        </a:ext>
                      </a:extLst>
                    </a:gridCol>
                    <a:gridCol w="698818">
                      <a:extLst>
                        <a:ext uri="{9D8B030D-6E8A-4147-A177-3AD203B41FA5}">
                          <a16:colId xmlns:a16="http://schemas.microsoft.com/office/drawing/2014/main" val="1028131215"/>
                        </a:ext>
                      </a:extLst>
                    </a:gridCol>
                    <a:gridCol w="577222">
                      <a:extLst>
                        <a:ext uri="{9D8B030D-6E8A-4147-A177-3AD203B41FA5}">
                          <a16:colId xmlns:a16="http://schemas.microsoft.com/office/drawing/2014/main" val="939720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8242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Shock Mach,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71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Initial bubble radius,</a:t>
                          </a:r>
                          <a:r>
                            <a:rPr lang="en-US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0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baseline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b="0" i="0" baseline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0" baseline="0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183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Number of bubbles,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09185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62F6C0-36E1-D233-44CA-2D73455887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1529311"/>
                  </p:ext>
                </p:extLst>
              </p:nvPr>
            </p:nvGraphicFramePr>
            <p:xfrm>
              <a:off x="3401596" y="2010263"/>
              <a:ext cx="538880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5646">
                      <a:extLst>
                        <a:ext uri="{9D8B030D-6E8A-4147-A177-3AD203B41FA5}">
                          <a16:colId xmlns:a16="http://schemas.microsoft.com/office/drawing/2014/main" val="687863810"/>
                        </a:ext>
                      </a:extLst>
                    </a:gridCol>
                    <a:gridCol w="524192">
                      <a:extLst>
                        <a:ext uri="{9D8B030D-6E8A-4147-A177-3AD203B41FA5}">
                          <a16:colId xmlns:a16="http://schemas.microsoft.com/office/drawing/2014/main" val="3636242740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82613175"/>
                        </a:ext>
                      </a:extLst>
                    </a:gridCol>
                    <a:gridCol w="698818">
                      <a:extLst>
                        <a:ext uri="{9D8B030D-6E8A-4147-A177-3AD203B41FA5}">
                          <a16:colId xmlns:a16="http://schemas.microsoft.com/office/drawing/2014/main" val="1028131215"/>
                        </a:ext>
                      </a:extLst>
                    </a:gridCol>
                    <a:gridCol w="577222">
                      <a:extLst>
                        <a:ext uri="{9D8B030D-6E8A-4147-A177-3AD203B41FA5}">
                          <a16:colId xmlns:a16="http://schemas.microsoft.com/office/drawing/2014/main" val="9397207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Parameter</a:t>
                          </a: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8242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" t="-106452" r="-80325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71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" t="-209836" r="-8032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183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6" t="-309836" r="-8032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09185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3C5CE43-6446-F8DF-EF7D-595D22BB02CC}"/>
              </a:ext>
            </a:extLst>
          </p:cNvPr>
          <p:cNvSpPr txBox="1"/>
          <p:nvPr/>
        </p:nvSpPr>
        <p:spPr>
          <a:xfrm>
            <a:off x="3401596" y="3512158"/>
            <a:ext cx="5388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Shock-droplet simulation matrix. This spans the doped cases.</a:t>
            </a:r>
            <a:endParaRPr lang="en-US" sz="1600" i="1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D541C91-4E6F-D490-079E-E3C63650E07A}"/>
              </a:ext>
            </a:extLst>
          </p:cNvPr>
          <p:cNvGrpSpPr/>
          <p:nvPr/>
        </p:nvGrpSpPr>
        <p:grpSpPr>
          <a:xfrm>
            <a:off x="1137458" y="4188590"/>
            <a:ext cx="10104817" cy="2374670"/>
            <a:chOff x="1137458" y="4188590"/>
            <a:chExt cx="10104817" cy="237467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6029C98-D3F4-337D-8EA2-FFD91D79F2F8}"/>
                </a:ext>
              </a:extLst>
            </p:cNvPr>
            <p:cNvGrpSpPr/>
            <p:nvPr/>
          </p:nvGrpSpPr>
          <p:grpSpPr>
            <a:xfrm>
              <a:off x="6441006" y="4553796"/>
              <a:ext cx="4801269" cy="650469"/>
              <a:chOff x="6441006" y="4553796"/>
              <a:chExt cx="4801269" cy="650469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524141F-D1F1-39D2-F32C-0BDB6BE1455A}"/>
                  </a:ext>
                </a:extLst>
              </p:cNvPr>
              <p:cNvSpPr txBox="1"/>
              <p:nvPr/>
            </p:nvSpPr>
            <p:spPr>
              <a:xfrm>
                <a:off x="6441006" y="4553796"/>
                <a:ext cx="48012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Sub-grid Lagrangian bubble representation.</a:t>
                </a:r>
                <a:endParaRPr lang="en-US" sz="1600" i="1" dirty="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D567C19-BC9A-4EC9-6335-7F25E1C1BB91}"/>
                  </a:ext>
                </a:extLst>
              </p:cNvPr>
              <p:cNvSpPr/>
              <p:nvPr/>
            </p:nvSpPr>
            <p:spPr>
              <a:xfrm>
                <a:off x="6490904" y="4959788"/>
                <a:ext cx="196734" cy="196734"/>
              </a:xfrm>
              <a:prstGeom prst="ellipse">
                <a:avLst/>
              </a:prstGeom>
              <a:solidFill>
                <a:srgbClr val="4472C4"/>
              </a:solidFill>
            </p:spPr>
            <p:txBody>
              <a:bodyPr wrap="square" rtlCol="0" anchor="ctr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50E93B-FC58-B550-4290-C20FD68FFEA7}"/>
                  </a:ext>
                </a:extLst>
              </p:cNvPr>
              <p:cNvSpPr txBox="1"/>
              <p:nvPr/>
            </p:nvSpPr>
            <p:spPr>
              <a:xfrm>
                <a:off x="6673795" y="4896488"/>
                <a:ext cx="247718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: Sub-grid Lagrangian bubble</a:t>
                </a:r>
                <a:endParaRPr lang="en-US" sz="1400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8E2C694-8FE7-3B92-B6DD-5B12EC67FF44}"/>
                </a:ext>
              </a:extLst>
            </p:cNvPr>
            <p:cNvGrpSpPr/>
            <p:nvPr/>
          </p:nvGrpSpPr>
          <p:grpSpPr>
            <a:xfrm>
              <a:off x="1137458" y="4188590"/>
              <a:ext cx="4958542" cy="2374670"/>
              <a:chOff x="1137458" y="4188590"/>
              <a:chExt cx="4958542" cy="2374670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DD2C4E3-2C99-1274-70F2-BAE021A2EEAC}"/>
                  </a:ext>
                </a:extLst>
              </p:cNvPr>
              <p:cNvGrpSpPr/>
              <p:nvPr/>
            </p:nvGrpSpPr>
            <p:grpSpPr>
              <a:xfrm>
                <a:off x="1137458" y="4188590"/>
                <a:ext cx="4958542" cy="2374670"/>
                <a:chOff x="1137458" y="4188590"/>
                <a:chExt cx="4958542" cy="2374670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5E7FBF01-2C12-6F3E-383E-921EC0165E2E}"/>
                    </a:ext>
                  </a:extLst>
                </p:cNvPr>
                <p:cNvGrpSpPr/>
                <p:nvPr/>
              </p:nvGrpSpPr>
              <p:grpSpPr>
                <a:xfrm>
                  <a:off x="1137458" y="4188590"/>
                  <a:ext cx="4958542" cy="2374670"/>
                  <a:chOff x="4908665" y="4187951"/>
                  <a:chExt cx="4958542" cy="2374670"/>
                </a:xfrm>
              </p:grpSpPr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376793BD-BBC4-DAEE-8CB8-CE186AC11044}"/>
                      </a:ext>
                    </a:extLst>
                  </p:cNvPr>
                  <p:cNvSpPr/>
                  <p:nvPr/>
                </p:nvSpPr>
                <p:spPr>
                  <a:xfrm>
                    <a:off x="4908665" y="4187951"/>
                    <a:ext cx="2374669" cy="2374669"/>
                  </a:xfrm>
                  <a:prstGeom prst="rect">
                    <a:avLst/>
                  </a:prstGeom>
                  <a:pattFill prst="lgGrid">
                    <a:fgClr>
                      <a:schemeClr val="tx1"/>
                    </a:fgClr>
                    <a:bgClr>
                      <a:schemeClr val="bg1"/>
                    </a:bgClr>
                  </a:patt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Open Sans" panose="020B0606030504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DF337303-8020-DF98-A97F-100DA795D308}"/>
                      </a:ext>
                    </a:extLst>
                  </p:cNvPr>
                  <p:cNvSpPr/>
                  <p:nvPr/>
                </p:nvSpPr>
                <p:spPr>
                  <a:xfrm>
                    <a:off x="4908665" y="4187952"/>
                    <a:ext cx="2374669" cy="2374669"/>
                  </a:xfrm>
                  <a:prstGeom prst="ellipse">
                    <a:avLst/>
                  </a:prstGeom>
                  <a:solidFill>
                    <a:srgbClr val="4472C4">
                      <a:alpha val="50000"/>
                    </a:srgbClr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Open Sans" panose="020B0606030504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37521029-A2D7-39CC-EF82-6288CFD16249}"/>
                      </a:ext>
                    </a:extLst>
                  </p:cNvPr>
                  <p:cNvSpPr/>
                  <p:nvPr/>
                </p:nvSpPr>
                <p:spPr>
                  <a:xfrm>
                    <a:off x="6199329" y="5039670"/>
                    <a:ext cx="205924" cy="205924"/>
                  </a:xfrm>
                  <a:prstGeom prst="ellipse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txBody>
                  <a:bodyPr wrap="square" rtlCol="0" anchor="ctr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Open Sans" panose="020B0606030504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69DAE798-7F39-E42D-8089-5755FFB0304C}"/>
                      </a:ext>
                    </a:extLst>
                  </p:cNvPr>
                  <p:cNvSpPr/>
                  <p:nvPr/>
                </p:nvSpPr>
                <p:spPr>
                  <a:xfrm>
                    <a:off x="8221287" y="4472557"/>
                    <a:ext cx="1645920" cy="1645920"/>
                  </a:xfrm>
                  <a:prstGeom prst="ellips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Open Sans" panose="020B0606030504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CC456489-F77A-F0C9-ECAD-EA6FAA30C461}"/>
                      </a:ext>
                    </a:extLst>
                  </p:cNvPr>
                  <p:cNvCxnSpPr>
                    <a:cxnSpLocks/>
                    <a:stCxn id="10" idx="1"/>
                    <a:endCxn id="10" idx="7"/>
                  </p:cNvCxnSpPr>
                  <p:nvPr/>
                </p:nvCxnSpPr>
                <p:spPr>
                  <a:xfrm>
                    <a:off x="8462326" y="4713596"/>
                    <a:ext cx="116384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FD6AA677-BFD5-BF71-84F0-623E71944396}"/>
                      </a:ext>
                    </a:extLst>
                  </p:cNvPr>
                  <p:cNvCxnSpPr>
                    <a:cxnSpLocks/>
                    <a:stCxn id="10" idx="1"/>
                    <a:endCxn id="10" idx="3"/>
                  </p:cNvCxnSpPr>
                  <p:nvPr/>
                </p:nvCxnSpPr>
                <p:spPr>
                  <a:xfrm>
                    <a:off x="8462326" y="4713596"/>
                    <a:ext cx="0" cy="11638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0EB0B63A-5DF7-914F-7E6E-2FA1CACD6735}"/>
                      </a:ext>
                    </a:extLst>
                  </p:cNvPr>
                  <p:cNvCxnSpPr>
                    <a:cxnSpLocks/>
                    <a:stCxn id="10" idx="3"/>
                    <a:endCxn id="10" idx="5"/>
                  </p:cNvCxnSpPr>
                  <p:nvPr/>
                </p:nvCxnSpPr>
                <p:spPr>
                  <a:xfrm>
                    <a:off x="8462326" y="5877438"/>
                    <a:ext cx="116384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CFE07807-A7A2-7A44-CFEB-E1A194F93BFD}"/>
                      </a:ext>
                    </a:extLst>
                  </p:cNvPr>
                  <p:cNvCxnSpPr>
                    <a:cxnSpLocks/>
                    <a:stCxn id="10" idx="7"/>
                    <a:endCxn id="10" idx="5"/>
                  </p:cNvCxnSpPr>
                  <p:nvPr/>
                </p:nvCxnSpPr>
                <p:spPr>
                  <a:xfrm>
                    <a:off x="9626168" y="4713596"/>
                    <a:ext cx="0" cy="11638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C22334BB-8690-34DB-3862-26FFA0A59940}"/>
                      </a:ext>
                    </a:extLst>
                  </p:cNvPr>
                  <p:cNvCxnSpPr>
                    <a:cxnSpLocks/>
                    <a:stCxn id="10" idx="6"/>
                    <a:endCxn id="10" idx="2"/>
                  </p:cNvCxnSpPr>
                  <p:nvPr/>
                </p:nvCxnSpPr>
                <p:spPr>
                  <a:xfrm flipH="1">
                    <a:off x="8221287" y="5295517"/>
                    <a:ext cx="164592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0EB5D8C3-02EF-A133-1C42-242D2F35CE80}"/>
                      </a:ext>
                    </a:extLst>
                  </p:cNvPr>
                  <p:cNvCxnSpPr>
                    <a:cxnSpLocks/>
                    <a:stCxn id="10" idx="0"/>
                    <a:endCxn id="10" idx="4"/>
                  </p:cNvCxnSpPr>
                  <p:nvPr/>
                </p:nvCxnSpPr>
                <p:spPr>
                  <a:xfrm>
                    <a:off x="9044247" y="4472557"/>
                    <a:ext cx="0" cy="164592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3D7D31F7-EEA9-7CAB-ACF6-BA0AB3109E95}"/>
                      </a:ext>
                    </a:extLst>
                  </p:cNvPr>
                  <p:cNvCxnSpPr>
                    <a:stCxn id="8" idx="7"/>
                    <a:endCxn id="10" idx="1"/>
                  </p:cNvCxnSpPr>
                  <p:nvPr/>
                </p:nvCxnSpPr>
                <p:spPr>
                  <a:xfrm flipV="1">
                    <a:off x="6375096" y="4713596"/>
                    <a:ext cx="2087230" cy="35623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D5E5CF27-52FF-9C93-9771-5F4C99A85AB9}"/>
                      </a:ext>
                    </a:extLst>
                  </p:cNvPr>
                  <p:cNvCxnSpPr>
                    <a:cxnSpLocks/>
                    <a:stCxn id="8" idx="5"/>
                    <a:endCxn id="10" idx="3"/>
                  </p:cNvCxnSpPr>
                  <p:nvPr/>
                </p:nvCxnSpPr>
                <p:spPr>
                  <a:xfrm>
                    <a:off x="6375096" y="5215437"/>
                    <a:ext cx="2087230" cy="66200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D6461C02-B033-2A2B-812E-86C95E8C5FB3}"/>
                      </a:ext>
                    </a:extLst>
                  </p:cNvPr>
                  <p:cNvSpPr/>
                  <p:nvPr/>
                </p:nvSpPr>
                <p:spPr>
                  <a:xfrm>
                    <a:off x="8562741" y="5572268"/>
                    <a:ext cx="196734" cy="196734"/>
                  </a:xfrm>
                  <a:prstGeom prst="ellipse">
                    <a:avLst/>
                  </a:prstGeom>
                  <a:solidFill>
                    <a:srgbClr val="4472C4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Open Sans" panose="020B0606030504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2D08FFC-5632-A27F-79A8-372B43CA34B3}"/>
                      </a:ext>
                    </a:extLst>
                  </p:cNvPr>
                  <p:cNvSpPr/>
                  <p:nvPr/>
                </p:nvSpPr>
                <p:spPr>
                  <a:xfrm>
                    <a:off x="9121833" y="4767783"/>
                    <a:ext cx="196734" cy="196734"/>
                  </a:xfrm>
                  <a:prstGeom prst="ellipse">
                    <a:avLst/>
                  </a:prstGeom>
                  <a:solidFill>
                    <a:srgbClr val="4472C4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Open Sans" panose="020B0606030504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30137AB1-0EC5-92A5-FAB4-3E4B45E39D52}"/>
                      </a:ext>
                    </a:extLst>
                  </p:cNvPr>
                  <p:cNvSpPr/>
                  <p:nvPr/>
                </p:nvSpPr>
                <p:spPr>
                  <a:xfrm>
                    <a:off x="9355974" y="5018703"/>
                    <a:ext cx="196734" cy="196734"/>
                  </a:xfrm>
                  <a:prstGeom prst="ellipse">
                    <a:avLst/>
                  </a:prstGeom>
                  <a:solidFill>
                    <a:srgbClr val="4472C4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endParaRPr 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Open Sans" panose="020B0606030504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8A94450-521D-DB34-FD8E-AC539AB18E41}"/>
                    </a:ext>
                  </a:extLst>
                </p:cNvPr>
                <p:cNvSpPr txBox="1"/>
                <p:nvPr/>
              </p:nvSpPr>
              <p:spPr>
                <a:xfrm rot="16200000">
                  <a:off x="1495989" y="5099744"/>
                  <a:ext cx="1187333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latin typeface="Arial"/>
                      <a:ea typeface="Open Sans"/>
                      <a:cs typeface="Arial"/>
                    </a:rPr>
                    <a:t>D = 1 mm</a:t>
                  </a:r>
                  <a:endParaRPr lang="en-US" dirty="0"/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DF5937-0DE9-DAA7-4972-F5D21311AD2D}"/>
                    </a:ext>
                  </a:extLst>
                </p:cNvPr>
                <p:cNvCxnSpPr>
                  <a:cxnSpLocks/>
                  <a:stCxn id="4" idx="4"/>
                  <a:endCxn id="4" idx="0"/>
                </p:cNvCxnSpPr>
                <p:nvPr/>
              </p:nvCxnSpPr>
              <p:spPr>
                <a:xfrm flipV="1">
                  <a:off x="2324793" y="4188591"/>
                  <a:ext cx="0" cy="2374669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E32FB392-E0FB-9988-B765-11A58E87C27D}"/>
                  </a:ext>
                </a:extLst>
              </p:cNvPr>
              <p:cNvCxnSpPr/>
              <p:nvPr/>
            </p:nvCxnSpPr>
            <p:spPr>
              <a:xfrm>
                <a:off x="5475052" y="5296156"/>
                <a:ext cx="0" cy="5819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2F8395B1-CFEF-03CB-2FE0-D13F01C0FF35}"/>
                      </a:ext>
                    </a:extLst>
                  </p:cNvPr>
                  <p:cNvSpPr txBox="1"/>
                  <p:nvPr/>
                </p:nvSpPr>
                <p:spPr>
                  <a:xfrm>
                    <a:off x="5408260" y="5426137"/>
                    <a:ext cx="35301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Δ</m:t>
                          </m:r>
                          <m:r>
                            <a:rPr lang="en-US" sz="1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2F8395B1-CFEF-03CB-2FE0-D13F01C0FF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08260" y="5426137"/>
                    <a:ext cx="353014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53547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4A1522-CE77-C4E6-8AB4-D38CD089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231C7A-BDAA-DE58-4175-AF3FD5B1C3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Number Density and Void Fraction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2E924-7304-5CB8-73AF-A4D469E4C9EE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391947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Number density: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𝑑𝑟𝑜𝑝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𝑑𝑟𝑜𝑝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N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=10, 100, 1000,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yields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19, 191, 1910 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  <m:sSup>
                      <m:sSup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respectively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Void Fraction: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3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𝑑𝑟𝑜𝑝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22E924-7304-5CB8-73AF-A4D469E4C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3919471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F6B353D-2F54-09C5-ACEE-68FC3A144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3916725-1809-36A1-F45D-57D6634AF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367254"/>
                  </p:ext>
                </p:extLst>
              </p:nvPr>
            </p:nvGraphicFramePr>
            <p:xfrm>
              <a:off x="2032000" y="4392798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1044916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85168913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7903565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891446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7360820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88962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4472C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1242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1531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7929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6.4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81806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3916725-1809-36A1-F45D-57D6634AF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367254"/>
                  </p:ext>
                </p:extLst>
              </p:nvPr>
            </p:nvGraphicFramePr>
            <p:xfrm>
              <a:off x="2032000" y="4392798"/>
              <a:ext cx="81280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10449162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85168913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7903565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891446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7360820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117" t="-1639" r="-375" b="-4245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88962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75" t="-101639" r="-40112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101639" r="-30112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101639" r="-20225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1639" r="-10149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1639" r="-149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1242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201639" r="-30112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201639" r="-20225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1639" r="-10149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201639" r="-149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1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301639" r="-30112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301639" r="-20225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01639" r="-10149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301639" r="-149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929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401639" r="-30112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8" t="-401639" r="-20225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401639" r="-10149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401639" r="-149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1806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5FE80-40B6-C616-5693-E31BD0C9DE8F}"/>
                  </a:ext>
                </a:extLst>
              </p:cNvPr>
              <p:cNvSpPr txBox="1"/>
              <p:nvPr/>
            </p:nvSpPr>
            <p:spPr>
              <a:xfrm>
                <a:off x="2031999" y="6246524"/>
                <a:ext cx="812799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Table: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global gas void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for the bubble-loading parameter sweep.</a:t>
                </a:r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5FE80-40B6-C616-5693-E31BD0C9D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9" y="6246524"/>
                <a:ext cx="8127999" cy="338554"/>
              </a:xfrm>
              <a:prstGeom prst="rect">
                <a:avLst/>
              </a:prstGeom>
              <a:blipFill>
                <a:blip r:embed="rId5"/>
                <a:stretch>
                  <a:fillRect l="-375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7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B0B0-7D01-EB18-56FF-4DAB6B8C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C7CE9-EE72-F3D4-F890-A6A761ABFF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The Numerical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960279-7DA6-569E-AEF7-197E88A728F6}"/>
              </a:ext>
            </a:extLst>
          </p:cNvPr>
          <p:cNvSpPr/>
          <p:nvPr/>
        </p:nvSpPr>
        <p:spPr>
          <a:xfrm>
            <a:off x="783845" y="1088998"/>
            <a:ext cx="10569955" cy="25340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present simulations are performed in the Multi-Component Flow Code (MFC)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Open-source, high-order, compressible multiphase solver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Sub-grid bubble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Highly parallel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Resolved Eulerian phase interface: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Reduced five-equation diffuse-interface formulation of Allaire et al. 2002.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B187034-CB86-B3B3-660E-C16F7DB2A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DAE65-F17B-D03D-26CB-8DC4F0C76CB9}"/>
                  </a:ext>
                </a:extLst>
              </p:cNvPr>
              <p:cNvSpPr txBox="1"/>
              <p:nvPr/>
            </p:nvSpPr>
            <p:spPr>
              <a:xfrm>
                <a:off x="0" y="3595985"/>
                <a:ext cx="6096000" cy="3256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=0,  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=1, 2, …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𝑁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⊗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𝑰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𝐸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a:rPr lang="en-US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𝒖</m:t>
                      </m:r>
                    </m:oMath>
                  </m:oMathPara>
                </a14:m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DAE65-F17B-D03D-26CB-8DC4F0C76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95985"/>
                <a:ext cx="6096000" cy="3256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2CAE107-7BB4-A71A-1851-27F84F198D86}"/>
              </a:ext>
            </a:extLst>
          </p:cNvPr>
          <p:cNvGrpSpPr/>
          <p:nvPr/>
        </p:nvGrpSpPr>
        <p:grpSpPr>
          <a:xfrm>
            <a:off x="6095999" y="3773092"/>
            <a:ext cx="4801271" cy="2669173"/>
            <a:chOff x="6095999" y="3773092"/>
            <a:chExt cx="4801271" cy="266917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57FF80A-9F61-79AE-0A25-B05BA9ED2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773092"/>
              <a:ext cx="4801270" cy="205768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EB61DE-6A94-D2E8-D8EE-74455AEDA1A3}"/>
                </a:ext>
              </a:extLst>
            </p:cNvPr>
            <p:cNvSpPr txBox="1"/>
            <p:nvPr/>
          </p:nvSpPr>
          <p:spPr>
            <a:xfrm>
              <a:off x="6095999" y="5857490"/>
              <a:ext cx="480126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Sharp and diffuse interface of a multiphase flow (Adebayo 2025).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3282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17A476-5D91-C1A5-1721-5B1BDFF8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DB3087-1E30-DAD4-11B0-9B309DC206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Interface Formulation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421F276-CD01-0069-4488-84A3D7EA5A9D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41776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Allaire’s Model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+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𝑢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∙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Mechanical equilibrium with an isobaric closure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Passively advected volume fraction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High numerical robustness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Strictly conservative volume-fraction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Strict entropy consistency is not guaranteed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Kapila’s Formulation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+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𝑢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∙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𝐾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∇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∙</m:t>
                    </m:r>
                    <m:r>
                      <a:rPr lang="en-US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Thermodynamically consistent treatment in transition zones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However, the smeared region is not physically a transition zone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Unclear whether this “fix” is physical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Needs additional conservative treatment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Wood’s speed of sound is non-monotonic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421F276-CD01-0069-4488-84A3D7EA5A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417765"/>
              </a:xfrm>
              <a:prstGeom prst="rect">
                <a:avLst/>
              </a:prstGeom>
              <a:blipFill>
                <a:blip r:embed="rId3"/>
                <a:stretch>
                  <a:fillRect l="-519" b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E466FCE-D7B1-F1D6-9BB2-67FC94375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4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319169-E747-FA8B-56B5-13C71CA1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B5D15D-8921-CFE0-4935-AC0ADA6D3C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The Numerical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659820-FD3B-1444-979C-9968DD891332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045292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Each material is closed with a stiffened-gas equation of state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∞,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material properties are listed below: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Viscous stresses and surface tension are neglected in the resolved Eulerian equations.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659820-FD3B-1444-979C-9968DD891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045292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938168D-408A-2B51-543F-7BE01CDBB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5A73C15-19BF-0F20-091C-1ED2455C8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663598"/>
                  </p:ext>
                </p:extLst>
              </p:nvPr>
            </p:nvGraphicFramePr>
            <p:xfrm>
              <a:off x="2004822" y="296037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8975660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757942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922219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Air / bubble gas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Liquid water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3259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Density,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8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Ratio of specific heats,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846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Stiffened pressure,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600 MPa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840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5A73C15-19BF-0F20-091C-1ED2455C8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663598"/>
                  </p:ext>
                </p:extLst>
              </p:nvPr>
            </p:nvGraphicFramePr>
            <p:xfrm>
              <a:off x="2004822" y="296037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8975660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757942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922219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Air / bubble gas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Liquid water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3259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108197" r="-20089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8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208197" r="-20089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846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308197" r="-2008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600 MPa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840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BD79C2-9B48-13E9-A9C7-B4BD4640E817}"/>
              </a:ext>
            </a:extLst>
          </p:cNvPr>
          <p:cNvSpPr txBox="1"/>
          <p:nvPr/>
        </p:nvSpPr>
        <p:spPr>
          <a:xfrm>
            <a:off x="1768529" y="4553646"/>
            <a:ext cx="8600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Equation-of-state and material parameters used in the shock-droplet simulations.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12636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58DB-870D-C309-9C17-5BE9A8EE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F02ECD-501F-7BFD-33C0-2490C72EDD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Euler-Lagrange Bubble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B42FE1B-1FA8-5E7B-F0C8-304E65432EE6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doped-droplet cases contain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Lagrangian gas nuclei embedded inside the initially liquid droplet.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Each nucleus is modeled as a spherical sub-grid bubble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bubbles do not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advect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resolved Eulerian field provides the local driving pressure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Bubble volume change feeds back to the Eulerian field through source terms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B42FE1B-1FA8-5E7B-F0C8-304E65432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  <a:blipFill>
                <a:blip r:embed="rId3"/>
                <a:stretch>
                  <a:fillRect l="-519" r="-288" b="-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7D46C4E-6AE9-4AB4-DDF5-EC3C1201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A732D33-E12D-5E4D-1AAE-C1F87B611BEE}"/>
              </a:ext>
            </a:extLst>
          </p:cNvPr>
          <p:cNvGrpSpPr/>
          <p:nvPr/>
        </p:nvGrpSpPr>
        <p:grpSpPr>
          <a:xfrm>
            <a:off x="2621870" y="3298289"/>
            <a:ext cx="6948258" cy="3200141"/>
            <a:chOff x="2621870" y="3298289"/>
            <a:chExt cx="6948258" cy="320014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47B6FED-1296-C474-7CC2-EA7FF353D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8392"/>
            <a:stretch>
              <a:fillRect/>
            </a:stretch>
          </p:blipFill>
          <p:spPr>
            <a:xfrm>
              <a:off x="3157766" y="3298289"/>
              <a:ext cx="5876467" cy="269900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352B807-CA3F-C77C-39FB-555570EC29AE}"/>
                </a:ext>
              </a:extLst>
            </p:cNvPr>
            <p:cNvSpPr txBox="1"/>
            <p:nvPr/>
          </p:nvSpPr>
          <p:spPr>
            <a:xfrm>
              <a:off x="2621870" y="5913655"/>
              <a:ext cx="694825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Sub-grid spherical bubble model and two-way Eulerian–Lagrangian coupling used to evolve the embedded gas nuclei.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710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373C-269F-6F6F-F628-30BC5C72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9A6A8E-9B12-5157-456E-E129AEE5A3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Keller-Miksis-Type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783162-95E1-5804-CF71-01FE7182C30C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457509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sub-grid bubble dynamics: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Bubble radius,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is evolved with a Keller-Miksis-type equation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Open Sans"/>
                                              <a:cs typeface="Arial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Open Sans"/>
                                              <a:cs typeface="Arial"/>
                                            </a:rPr>
                                            <m:t>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acc>
                        <m:accPr>
                          <m:chr m:val="̈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acc>
                        <m:accPr>
                          <m:chr m:val="̇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∞,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acc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𝜎</m:t>
                              </m:r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Open Sans"/>
                                          <a:cs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Extends the Rayleigh–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Plesset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equation (RPE) by retaining first-order liquid compressibility effects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Open Sans"/>
                    <a:cs typeface="Arial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the equation reduced to RPE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Appropriate for spherical sub-grid nuclei in a weakly compressible liquid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783162-95E1-5804-CF71-01FE7182C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4575099"/>
              </a:xfrm>
              <a:prstGeom prst="rect">
                <a:avLst/>
              </a:prstGeom>
              <a:blipFill>
                <a:blip r:embed="rId3"/>
                <a:stretch>
                  <a:fillRect l="-519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EC29004-4AD2-BA64-D0F1-FBED55312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095A16-D6E0-22BF-E093-93F148280228}"/>
              </a:ext>
            </a:extLst>
          </p:cNvPr>
          <p:cNvGrpSpPr/>
          <p:nvPr/>
        </p:nvGrpSpPr>
        <p:grpSpPr>
          <a:xfrm>
            <a:off x="2046447" y="2789769"/>
            <a:ext cx="7858482" cy="1511275"/>
            <a:chOff x="2067879" y="3632731"/>
            <a:chExt cx="7858482" cy="1511275"/>
          </a:xfrm>
        </p:grpSpPr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489EF903-A983-A47C-E9FC-BF1392501C73}"/>
                </a:ext>
              </a:extLst>
            </p:cNvPr>
            <p:cNvSpPr/>
            <p:nvPr/>
          </p:nvSpPr>
          <p:spPr>
            <a:xfrm rot="16200000">
              <a:off x="3623317" y="2599053"/>
              <a:ext cx="159312" cy="222667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E5904B40-CA32-8855-9A57-CCA8AAA34C65}"/>
                </a:ext>
              </a:extLst>
            </p:cNvPr>
            <p:cNvSpPr/>
            <p:nvPr/>
          </p:nvSpPr>
          <p:spPr>
            <a:xfrm rot="16200000">
              <a:off x="5734229" y="2978890"/>
              <a:ext cx="159313" cy="146699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93E36757-3F8A-91F1-626F-71788DFEA042}"/>
                </a:ext>
              </a:extLst>
            </p:cNvPr>
            <p:cNvSpPr/>
            <p:nvPr/>
          </p:nvSpPr>
          <p:spPr>
            <a:xfrm rot="16200000">
              <a:off x="4613333" y="2917813"/>
              <a:ext cx="159313" cy="382046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3D061F71-D109-E2C5-1294-8A931C9E5D68}"/>
                </a:ext>
              </a:extLst>
            </p:cNvPr>
            <p:cNvSpPr/>
            <p:nvPr/>
          </p:nvSpPr>
          <p:spPr>
            <a:xfrm rot="16200000">
              <a:off x="8120279" y="3486113"/>
              <a:ext cx="159314" cy="268386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DFDD0C-CB85-E2D3-B27D-4FC97A7C7366}"/>
                </a:ext>
              </a:extLst>
            </p:cNvPr>
            <p:cNvSpPr txBox="1"/>
            <p:nvPr/>
          </p:nvSpPr>
          <p:spPr>
            <a:xfrm>
              <a:off x="2067879" y="3779679"/>
              <a:ext cx="293689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Liquid inertia + compressibility/viscous correction</a:t>
              </a:r>
              <a:endParaRPr 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9047B9-4456-3E5F-3B3A-9AF54BB36D26}"/>
                </a:ext>
              </a:extLst>
            </p:cNvPr>
            <p:cNvSpPr txBox="1"/>
            <p:nvPr/>
          </p:nvSpPr>
          <p:spPr>
            <a:xfrm>
              <a:off x="5080388" y="3779680"/>
              <a:ext cx="146699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Nonlinear radial inertia</a:t>
              </a:r>
              <a:endParaRPr lang="en-US" sz="1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803936-E69B-B3E3-7BE3-E5350A7C7D90}"/>
                </a:ext>
              </a:extLst>
            </p:cNvPr>
            <p:cNvSpPr txBox="1"/>
            <p:nvPr/>
          </p:nvSpPr>
          <p:spPr>
            <a:xfrm>
              <a:off x="2782755" y="4897785"/>
              <a:ext cx="376462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Net pressure driving, corrected for finite sound speed</a:t>
              </a:r>
              <a:endParaRPr lang="en-US" sz="1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733F936-BB82-5F78-8D49-CECF9E3DF640}"/>
                </a:ext>
              </a:extLst>
            </p:cNvPr>
            <p:cNvSpPr txBox="1"/>
            <p:nvPr/>
          </p:nvSpPr>
          <p:spPr>
            <a:xfrm>
              <a:off x="6816705" y="4897784"/>
              <a:ext cx="31096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Time-varying pressure/ acoustic radiation correction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642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20A9-2C64-AC67-EBF8-79122832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5738A7-70F6-485F-2E45-8C2BC00B98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Numerical Methods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EDE20-E9C0-D39F-33FC-C7288A87E8B0}"/>
              </a:ext>
            </a:extLst>
          </p:cNvPr>
          <p:cNvSpPr/>
          <p:nvPr/>
        </p:nvSpPr>
        <p:spPr>
          <a:xfrm>
            <a:off x="783845" y="1088998"/>
            <a:ext cx="10569955" cy="378052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Eulerian equations are discretized on a structured grid using a finite-volume formulation.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 constant CFL value of 0.1 is used in all simulations.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264CD09-6A1C-7C99-B8A4-D9BF37D71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6F7787-8AB2-817B-F349-3E5EC94F0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92023"/>
              </p:ext>
            </p:extLst>
          </p:nvPr>
        </p:nvGraphicFramePr>
        <p:xfrm>
          <a:off x="2032000" y="1629295"/>
          <a:ext cx="81280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505637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036513"/>
                    </a:ext>
                  </a:extLst>
                </a:gridCol>
              </a:tblGrid>
              <a:tr h="349645">
                <a:tc>
                  <a:txBody>
                    <a:bodyPr/>
                    <a:lstStyle/>
                    <a:p>
                      <a:r>
                        <a:rPr lang="en-US" dirty="0"/>
                        <a:t>Numerical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13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Face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order MUSCL + van Leer limiter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26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Interface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THINC interface sharpening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22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Riemann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HLLC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54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Time-integration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SSP-RK3 (TVD)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3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Flow-bubble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 splitting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9950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DB38E5A-79B3-9461-95EC-7BB1EDEB5D0B}"/>
              </a:ext>
            </a:extLst>
          </p:cNvPr>
          <p:cNvSpPr txBox="1"/>
          <p:nvPr/>
        </p:nvSpPr>
        <p:spPr>
          <a:xfrm>
            <a:off x="2032000" y="3833140"/>
            <a:ext cx="8128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Summary of numerical methods used for the Eulerian flow solver and sub-grid bubble dynamics.</a:t>
            </a:r>
            <a:endParaRPr lang="en-US" sz="1600" i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53CF8F-A395-11A4-C4AC-F47EA9D8A79F}"/>
              </a:ext>
            </a:extLst>
          </p:cNvPr>
          <p:cNvGrpSpPr/>
          <p:nvPr/>
        </p:nvGrpSpPr>
        <p:grpSpPr>
          <a:xfrm>
            <a:off x="665992" y="5019587"/>
            <a:ext cx="10204099" cy="1495634"/>
            <a:chOff x="665992" y="5019587"/>
            <a:chExt cx="10204099" cy="14956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29D18B-60DD-2C50-B52B-CAFA51313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992" y="5019587"/>
              <a:ext cx="5430008" cy="149563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A5234F-2C5F-E579-A02D-01D027265097}"/>
                </a:ext>
              </a:extLst>
            </p:cNvPr>
            <p:cNvSpPr txBox="1"/>
            <p:nvPr/>
          </p:nvSpPr>
          <p:spPr>
            <a:xfrm>
              <a:off x="6068822" y="5027582"/>
              <a:ext cx="480126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Numerical results for a planar Mach onto a gas bubble. With THINC (left) and without THINC (right) are both shown (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Shyue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-Xiao 2014).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830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F908D2-8698-460D-F265-DA700207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B2029E-C3A9-3A26-196A-8C8754A8C1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Strang Splitting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C466EE9-997A-9805-1FBE-27501C157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BAC45F-EC5F-14BD-E9D2-8079010CADE7}"/>
              </a:ext>
            </a:extLst>
          </p:cNvPr>
          <p:cNvGrpSpPr/>
          <p:nvPr/>
        </p:nvGrpSpPr>
        <p:grpSpPr>
          <a:xfrm>
            <a:off x="138113" y="1016780"/>
            <a:ext cx="11915774" cy="5442516"/>
            <a:chOff x="438149" y="1121555"/>
            <a:chExt cx="11915774" cy="5442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08EC778-47EF-0FED-3E9D-0A613FC85869}"/>
                    </a:ext>
                  </a:extLst>
                </p:cNvPr>
                <p:cNvSpPr/>
                <p:nvPr/>
              </p:nvSpPr>
              <p:spPr>
                <a:xfrm>
                  <a:off x="3767137" y="1121556"/>
                  <a:ext cx="4614861" cy="5021759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square" lIns="91440" tIns="45720" rIns="91440" bIns="4572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The Scheme: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For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𝜕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𝜕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, each time step performs three sub-steps:</a:t>
                  </a: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Source half-step 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∈[0,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/2]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</m:t>
                            </m:r>
                          </m:num>
                          <m:den>
                            <m: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𝒔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𝒒</m:t>
                                </m:r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,  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(0)=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𝒏</m:t>
                            </m:r>
                          </m:sup>
                        </m:sSup>
                      </m:oMath>
                    </m:oMathPara>
                  </a14:m>
                  <a:endPara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 startAt="2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Flux full-step 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∈[0,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𝑡</m:t>
                            </m:r>
                          </m:den>
                        </m:f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∇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∙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𝑭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)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,  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(0)</m:t>
                        </m:r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Δ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/2)</m:t>
                        </m:r>
                      </m:oMath>
                    </m:oMathPara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 startAt="3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Source half-step (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∈[0,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/2]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′′′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𝜕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𝑡</m:t>
                            </m:r>
                          </m:den>
                        </m:f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=</m:t>
                        </m:r>
                        <m:r>
                          <a:rPr lang="en-US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𝒔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𝒒</m:t>
                                </m:r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′′</m:t>
                                </m:r>
                                <m:r>
                                  <a:rPr lang="en-US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,  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𝒏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𝟏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(0)=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𝒒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′′′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Δt</m:t>
                        </m:r>
                        <m: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/2)</m:t>
                        </m:r>
                      </m:oMath>
                    </m:oMathPara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08EC778-47EF-0FED-3E9D-0A613FC858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7137" y="1121556"/>
                  <a:ext cx="4614861" cy="5021759"/>
                </a:xfrm>
                <a:prstGeom prst="rect">
                  <a:avLst/>
                </a:prstGeom>
                <a:blipFill>
                  <a:blip r:embed="rId3"/>
                  <a:stretch>
                    <a:fillRect l="-105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5E84D7A-263F-2971-AC19-FAFC1D68B65C}"/>
                    </a:ext>
                  </a:extLst>
                </p:cNvPr>
                <p:cNvSpPr/>
                <p:nvPr/>
              </p:nvSpPr>
              <p:spPr>
                <a:xfrm>
                  <a:off x="438149" y="1121555"/>
                  <a:ext cx="3328988" cy="5442516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square" lIns="91440" tIns="45720" rIns="91440" bIns="4572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Motivation: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Two physics with very different timescales: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Fluid: pressure waves, advection, governed by CFL timestep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Bubbles: Oscillate much faster (stiff)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Integrating both together forces a tiny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everywhere </a:t>
                  </a: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  <a:sym typeface="Wingdings" panose="05000000000000000000" pitchFamily="2" charset="2"/>
                    </a:rPr>
                    <a:t> expensive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  <a:sym typeface="Wingdings" panose="05000000000000000000" pitchFamily="2" charset="2"/>
                    </a:rPr>
                    <a:t>Solution: Treat as separate operators</a:t>
                  </a:r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5E84D7A-263F-2971-AC19-FAFC1D68B6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149" y="1121555"/>
                  <a:ext cx="3328988" cy="5442516"/>
                </a:xfrm>
                <a:prstGeom prst="rect">
                  <a:avLst/>
                </a:prstGeom>
                <a:blipFill>
                  <a:blip r:embed="rId4"/>
                  <a:stretch>
                    <a:fillRect l="-1460" r="-2007" b="-78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0265C4C-61B6-E7DE-1E9B-A0C5EA52BF6D}"/>
                    </a:ext>
                  </a:extLst>
                </p:cNvPr>
                <p:cNvSpPr/>
                <p:nvPr/>
              </p:nvSpPr>
              <p:spPr>
                <a:xfrm>
                  <a:off x="8381998" y="1121555"/>
                  <a:ext cx="3971925" cy="4611519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square" lIns="91440" tIns="45720" rIns="91440" bIns="45720" anchor="t">
                  <a:spAutoFit/>
                </a:bodyPr>
                <a:lstStyle/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Key Points: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Half + full + half achieves 2nd-order splitting accuracy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Full + full achieves 1st-order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Steps 1 &amp; 3 </a:t>
                  </a:r>
                  <a:r>
                    <a:rPr lang="en-US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subcycle</a:t>
                  </a: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internally with an adaptive embedded RK scheme</a:t>
                  </a:r>
                </a:p>
                <a:p>
                  <a:pPr marL="742950" lvl="1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Takes as many steps as needed to reach exactly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/2</m:t>
                      </m:r>
                    </m:oMath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  <a:defRPr/>
                  </a:pPr>
                  <a:r>
                    <a:rPr 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Step 2 uses the standard TVD-RK fluid update at the CFL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𝑡</m:t>
                      </m:r>
                    </m:oMath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0265C4C-61B6-E7DE-1E9B-A0C5EA52BF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998" y="1121555"/>
                  <a:ext cx="3971925" cy="4611519"/>
                </a:xfrm>
                <a:prstGeom prst="rect">
                  <a:avLst/>
                </a:prstGeom>
                <a:blipFill>
                  <a:blip r:embed="rId5"/>
                  <a:stretch>
                    <a:fillRect l="-1225" r="-1378" b="-118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0268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744CB0-073B-1D1B-A7C0-C46C69BE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01F3CB-D49C-DBDE-58DC-A564164ED2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Code Extensions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E11EDDA-0A57-4755-AED2-79599143743D}"/>
                  </a:ext>
                </a:extLst>
              </p:cNvPr>
              <p:cNvSpPr/>
              <p:nvPr/>
            </p:nvSpPr>
            <p:spPr>
              <a:xfrm>
                <a:off x="783845" y="1961032"/>
                <a:ext cx="6931406" cy="4272388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Azimuthal mapping operator to each </a:t>
                </a:r>
                <a:r>
                  <a: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3D bubble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𝑟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∙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Preserves equivalent axisymmetric bubble volume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Deposits bubble source terms consistently in cylindrical coordinates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Resulting axisymmetric void fraction field: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𝑎𝑥𝑖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𝛽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𝑎𝑥𝑖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E11EDDA-0A57-4755-AED2-7959914374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961032"/>
                <a:ext cx="6931406" cy="4272388"/>
              </a:xfrm>
              <a:prstGeom prst="rect">
                <a:avLst/>
              </a:prstGeom>
              <a:blipFill>
                <a:blip r:embed="rId3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772F327-94F7-22E4-2655-14375007A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E3B906B-AB4C-3456-148D-C08DE6299123}"/>
              </a:ext>
            </a:extLst>
          </p:cNvPr>
          <p:cNvGrpSpPr/>
          <p:nvPr/>
        </p:nvGrpSpPr>
        <p:grpSpPr>
          <a:xfrm>
            <a:off x="6700837" y="1780048"/>
            <a:ext cx="5086350" cy="4128900"/>
            <a:chOff x="6700837" y="1780048"/>
            <a:chExt cx="5086350" cy="41289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F7599A0-682C-E927-220E-D7A72708E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05675" y="1780048"/>
              <a:ext cx="3876675" cy="329790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B6AAA2-F29F-0F86-D35D-5FDB55F20BD1}"/>
                </a:ext>
              </a:extLst>
            </p:cNvPr>
            <p:cNvSpPr txBox="1"/>
            <p:nvPr/>
          </p:nvSpPr>
          <p:spPr>
            <a:xfrm>
              <a:off x="6700837" y="5077951"/>
              <a:ext cx="50863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Axisymmetric mapping of a 3D Lagrangian bubble kernel onto neighboring FVM cells (Maeda-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Colonius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2018).</a:t>
              </a:r>
              <a:endParaRPr lang="en-US" sz="1600" i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4A1174-49B3-604F-821F-8E72681BDDBA}"/>
              </a:ext>
            </a:extLst>
          </p:cNvPr>
          <p:cNvSpPr txBox="1"/>
          <p:nvPr/>
        </p:nvSpPr>
        <p:spPr>
          <a:xfrm>
            <a:off x="783844" y="1088998"/>
            <a:ext cx="9884155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Cylindrical Euler-Lagrange Bubble Model: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allows Lagrangian gas nuclei to be used in the axisymmetric formulation used for the simulations</a:t>
            </a:r>
          </a:p>
        </p:txBody>
      </p:sp>
    </p:spTree>
    <p:extLst>
      <p:ext uri="{BB962C8B-B14F-4D97-AF65-F5344CB8AC3E}">
        <p14:creationId xmlns:p14="http://schemas.microsoft.com/office/powerpoint/2010/main" val="186041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2AC7-A43F-31DF-4DFE-DD02E942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3C2A3D-624B-1C48-31BD-53823CCC86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Benchmarking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DAB6D3-38C6-FAFF-0D99-7517B51DD7D1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Benchmarking Against Shock-Water Column Experiments: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Sembian 2016 studies the interaction of a planar shock (Mach = 1.75 and 2.4) onto a droplet column of diameter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=22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𝑚𝑚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Large droplet allows for the observation of key internal acoustics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Numerical schlieren is compared directly to the experimental shadowgraph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Comparison of transmitted shocks, reflected waves, expansion regions, slip surfaces, and triple-point/Mach-stem structures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Excellent agreement is observed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DAB6D3-38C6-FAFF-0D99-7517B51DD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  <a:blipFill>
                <a:blip r:embed="rId3"/>
                <a:stretch>
                  <a:fillRect l="-519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B4FA39C-A778-C755-44D5-DD1413965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5B2E41-C82D-FB9A-FF00-90BCCBCA9612}"/>
              </a:ext>
            </a:extLst>
          </p:cNvPr>
          <p:cNvGrpSpPr/>
          <p:nvPr/>
        </p:nvGrpSpPr>
        <p:grpSpPr>
          <a:xfrm>
            <a:off x="5612780" y="3681761"/>
            <a:ext cx="5244244" cy="2634399"/>
            <a:chOff x="5612780" y="3681761"/>
            <a:chExt cx="5244244" cy="26343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EC28ACC-85C2-BBE4-5D7D-9B8FED1A5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2780" y="3681761"/>
              <a:ext cx="5244244" cy="22958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AC631D-5676-CB02-A4B7-FF32D52E10C0}"/>
                </a:ext>
              </a:extLst>
            </p:cNvPr>
            <p:cNvSpPr txBox="1"/>
            <p:nvPr/>
          </p:nvSpPr>
          <p:spPr>
            <a:xfrm>
              <a:off x="5612780" y="5977606"/>
              <a:ext cx="52442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22mm water column of Sembian 2016.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30799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1408-696A-7903-796E-DC587D72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197747-AC98-0248-0C76-AAA5203A99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Benchmarking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9A3956-E082-4F6A-6F5D-68E49E85CFDF}"/>
              </a:ext>
            </a:extLst>
          </p:cNvPr>
          <p:cNvSpPr/>
          <p:nvPr/>
        </p:nvSpPr>
        <p:spPr>
          <a:xfrm>
            <a:off x="783845" y="938931"/>
            <a:ext cx="10569955" cy="4565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Benchmarking Against Shock-Water Column Experiments: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AA23279-0384-BA96-7646-D9E69D40E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A36154-92B9-23B2-D092-A4C134F43FFD}"/>
              </a:ext>
            </a:extLst>
          </p:cNvPr>
          <p:cNvGrpSpPr/>
          <p:nvPr/>
        </p:nvGrpSpPr>
        <p:grpSpPr>
          <a:xfrm>
            <a:off x="545826" y="1423038"/>
            <a:ext cx="11100348" cy="4496031"/>
            <a:chOff x="545827" y="1702926"/>
            <a:chExt cx="11100348" cy="44960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C5DE11-2229-247B-2789-F912F6381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27" y="1702926"/>
              <a:ext cx="5321573" cy="449603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79234B-7843-47CA-2766-3B6BD9AF4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759" b="840"/>
            <a:stretch>
              <a:fillRect/>
            </a:stretch>
          </p:blipFill>
          <p:spPr>
            <a:xfrm>
              <a:off x="6324602" y="1702926"/>
              <a:ext cx="5321573" cy="449603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EFA281-133B-E97F-62B7-73578CED8FDE}"/>
              </a:ext>
            </a:extLst>
          </p:cNvPr>
          <p:cNvSpPr txBox="1"/>
          <p:nvPr/>
        </p:nvSpPr>
        <p:spPr>
          <a:xfrm>
            <a:off x="545826" y="6017796"/>
            <a:ext cx="102374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Comparison between experimental shadowgraph images from the Mach 2.4 shock-water-column experiment of Sembian et al. and numerical schlieren fields from the MFC simulation.</a:t>
            </a: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747BCF-6FAB-EA0E-C3D3-9CF24FC8A5D0}"/>
              </a:ext>
            </a:extLst>
          </p:cNvPr>
          <p:cNvGrpSpPr/>
          <p:nvPr/>
        </p:nvGrpSpPr>
        <p:grpSpPr>
          <a:xfrm>
            <a:off x="2390775" y="1967984"/>
            <a:ext cx="2600325" cy="369332"/>
            <a:chOff x="2390775" y="1967984"/>
            <a:chExt cx="2600325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A35B549-FC15-886C-2ACB-4FCF644586E4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DECC9C-822B-8F57-0175-ADA7C765BB64}"/>
                </a:ext>
              </a:extLst>
            </p:cNvPr>
            <p:cNvSpPr txBox="1"/>
            <p:nvPr/>
          </p:nvSpPr>
          <p:spPr>
            <a:xfrm>
              <a:off x="2390775" y="1967984"/>
              <a:ext cx="211455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Transmitted shock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1781B-7CD4-D6FA-9492-41379593CB2C}"/>
              </a:ext>
            </a:extLst>
          </p:cNvPr>
          <p:cNvGrpSpPr/>
          <p:nvPr/>
        </p:nvGrpSpPr>
        <p:grpSpPr>
          <a:xfrm>
            <a:off x="2673677" y="5191929"/>
            <a:ext cx="2222173" cy="369332"/>
            <a:chOff x="1828800" y="1967984"/>
            <a:chExt cx="2222173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35CBA4B-65B3-2C16-A1E5-5C2AF6588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36EE11-E7AB-F637-744A-CDF0067D5C5D}"/>
                </a:ext>
              </a:extLst>
            </p:cNvPr>
            <p:cNvSpPr txBox="1"/>
            <p:nvPr/>
          </p:nvSpPr>
          <p:spPr>
            <a:xfrm>
              <a:off x="2390775" y="1967984"/>
              <a:ext cx="1660198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REx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Focusing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EA195C-8AB9-D9B8-E299-CC32970181DE}"/>
              </a:ext>
            </a:extLst>
          </p:cNvPr>
          <p:cNvGrpSpPr/>
          <p:nvPr/>
        </p:nvGrpSpPr>
        <p:grpSpPr>
          <a:xfrm>
            <a:off x="7905749" y="1918662"/>
            <a:ext cx="2885581" cy="369332"/>
            <a:chOff x="2105519" y="1967984"/>
            <a:chExt cx="2885581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908B95A-F709-C752-5BD8-302B2B8132CE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BF0E56-2B40-C9BD-F799-126C82493FBA}"/>
                </a:ext>
              </a:extLst>
            </p:cNvPr>
            <p:cNvSpPr txBox="1"/>
            <p:nvPr/>
          </p:nvSpPr>
          <p:spPr>
            <a:xfrm>
              <a:off x="2105519" y="1967984"/>
              <a:ext cx="239980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Secondary Reflection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FA3CD5-3260-3C99-4B4E-FD6585EB38E0}"/>
              </a:ext>
            </a:extLst>
          </p:cNvPr>
          <p:cNvGrpSpPr/>
          <p:nvPr/>
        </p:nvGrpSpPr>
        <p:grpSpPr>
          <a:xfrm>
            <a:off x="8569157" y="4106079"/>
            <a:ext cx="2961781" cy="369332"/>
            <a:chOff x="1828800" y="1967984"/>
            <a:chExt cx="2961781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BB067F-4BEC-03F4-8CA6-003946AC8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111AD7-4C87-ECE3-ECDE-40308A77BDEE}"/>
                </a:ext>
              </a:extLst>
            </p:cNvPr>
            <p:cNvSpPr txBox="1"/>
            <p:nvPr/>
          </p:nvSpPr>
          <p:spPr>
            <a:xfrm>
              <a:off x="2390775" y="1967984"/>
              <a:ext cx="239980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Mach-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ach collision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8EAF78-0729-5FE6-802D-25787593F8E3}"/>
              </a:ext>
            </a:extLst>
          </p:cNvPr>
          <p:cNvGrpSpPr/>
          <p:nvPr/>
        </p:nvGrpSpPr>
        <p:grpSpPr>
          <a:xfrm>
            <a:off x="8610600" y="5102659"/>
            <a:ext cx="2743200" cy="369332"/>
            <a:chOff x="1828800" y="1967984"/>
            <a:chExt cx="274320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6AF428F-4959-7C39-A1D9-83E00BC9F9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376390-B941-35AA-AFF9-F20F250F5C0A}"/>
                </a:ext>
              </a:extLst>
            </p:cNvPr>
            <p:cNvSpPr txBox="1"/>
            <p:nvPr/>
          </p:nvSpPr>
          <p:spPr>
            <a:xfrm>
              <a:off x="2390775" y="1967984"/>
              <a:ext cx="2181225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Re-circulation zone</a:t>
              </a:r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4DAF1D-F108-2363-DA0D-59C925A8D37E}"/>
              </a:ext>
            </a:extLst>
          </p:cNvPr>
          <p:cNvGrpSpPr/>
          <p:nvPr/>
        </p:nvGrpSpPr>
        <p:grpSpPr>
          <a:xfrm>
            <a:off x="2390775" y="4106079"/>
            <a:ext cx="2811548" cy="646331"/>
            <a:chOff x="2179552" y="1967984"/>
            <a:chExt cx="2811548" cy="646331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D52E509-24DC-C789-91A5-0B8FD46E05F7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4103EE-F010-1ED8-C3E8-4D5D4747C2C3}"/>
                </a:ext>
              </a:extLst>
            </p:cNvPr>
            <p:cNvSpPr txBox="1"/>
            <p:nvPr/>
          </p:nvSpPr>
          <p:spPr>
            <a:xfrm>
              <a:off x="2179552" y="1967984"/>
              <a:ext cx="2325773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Reflected expansion waves (</a:t>
              </a:r>
              <a:r>
                <a:rPr lang="en-US" sz="1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REx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401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C3CDD2-AF03-A84F-F77D-83EC638A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2C0450-0060-4490-2E72-4D93C1FFBE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Mesh Independence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724C21-12B2-54A8-8895-898305FD3A9C}"/>
                  </a:ext>
                </a:extLst>
              </p:cNvPr>
              <p:cNvSpPr/>
              <p:nvPr/>
            </p:nvSpPr>
            <p:spPr>
              <a:xfrm>
                <a:off x="783846" y="1088998"/>
                <a:ext cx="10569954" cy="506754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Performed on a clean droplet in our case of interest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7 is chosen for the study as it produces the largest pressure gradients within the droplet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refinement factor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~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is used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Shock-arrival time, peak pressure, pressure decay, and area-averaged pressure response across mesh levels was compared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meshes show close agreement, hence the medium mesh was chosen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724C21-12B2-54A8-8895-898305FD3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6" y="1088998"/>
                <a:ext cx="10569954" cy="5067541"/>
              </a:xfrm>
              <a:prstGeom prst="rect">
                <a:avLst/>
              </a:prstGeom>
              <a:blipFill>
                <a:blip r:embed="rId3"/>
                <a:stretch>
                  <a:fillRect l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11FC903-57BF-1C1F-8D9D-E1D48085F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24B53BE-0D03-3EE4-5BE4-8F42A5A2C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278327"/>
                  </p:ext>
                </p:extLst>
              </p:nvPr>
            </p:nvGraphicFramePr>
            <p:xfrm>
              <a:off x="3426237" y="2562956"/>
              <a:ext cx="533952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080">
                      <a:extLst>
                        <a:ext uri="{9D8B030D-6E8A-4147-A177-3AD203B41FA5}">
                          <a16:colId xmlns:a16="http://schemas.microsoft.com/office/drawing/2014/main" val="1961112945"/>
                        </a:ext>
                      </a:extLst>
                    </a:gridCol>
                    <a:gridCol w="1155954">
                      <a:extLst>
                        <a:ext uri="{9D8B030D-6E8A-4147-A177-3AD203B41FA5}">
                          <a16:colId xmlns:a16="http://schemas.microsoft.com/office/drawing/2014/main" val="3825452903"/>
                        </a:ext>
                      </a:extLst>
                    </a:gridCol>
                    <a:gridCol w="2148586">
                      <a:extLst>
                        <a:ext uri="{9D8B030D-6E8A-4147-A177-3AD203B41FA5}">
                          <a16:colId xmlns:a16="http://schemas.microsoft.com/office/drawing/2014/main" val="3728204819"/>
                        </a:ext>
                      </a:extLst>
                    </a:gridCol>
                    <a:gridCol w="1013905">
                      <a:extLst>
                        <a:ext uri="{9D8B030D-6E8A-4147-A177-3AD203B41FA5}">
                          <a16:colId xmlns:a16="http://schemas.microsoft.com/office/drawing/2014/main" val="2436172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Cells /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Grid size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0846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3.33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59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×1600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2.50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5540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×2400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1.67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499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24B53BE-0D03-3EE4-5BE4-8F42A5A2C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278327"/>
                  </p:ext>
                </p:extLst>
              </p:nvPr>
            </p:nvGraphicFramePr>
            <p:xfrm>
              <a:off x="3426237" y="2562956"/>
              <a:ext cx="533952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080">
                      <a:extLst>
                        <a:ext uri="{9D8B030D-6E8A-4147-A177-3AD203B41FA5}">
                          <a16:colId xmlns:a16="http://schemas.microsoft.com/office/drawing/2014/main" val="1961112945"/>
                        </a:ext>
                      </a:extLst>
                    </a:gridCol>
                    <a:gridCol w="1155954">
                      <a:extLst>
                        <a:ext uri="{9D8B030D-6E8A-4147-A177-3AD203B41FA5}">
                          <a16:colId xmlns:a16="http://schemas.microsoft.com/office/drawing/2014/main" val="3825452903"/>
                        </a:ext>
                      </a:extLst>
                    </a:gridCol>
                    <a:gridCol w="2148586">
                      <a:extLst>
                        <a:ext uri="{9D8B030D-6E8A-4147-A177-3AD203B41FA5}">
                          <a16:colId xmlns:a16="http://schemas.microsoft.com/office/drawing/2014/main" val="3728204819"/>
                        </a:ext>
                      </a:extLst>
                    </a:gridCol>
                    <a:gridCol w="1013905">
                      <a:extLst>
                        <a:ext uri="{9D8B030D-6E8A-4147-A177-3AD203B41FA5}">
                          <a16:colId xmlns:a16="http://schemas.microsoft.com/office/drawing/2014/main" val="2436172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9418" t="-8197" r="-27724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8197" r="-4844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8197" r="-3012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0846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108197" r="-4844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108197" r="-301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759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208197" r="-4844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208197" r="-301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540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308197" r="-4844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308197" r="-301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4994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DDFABA4-E7ED-9EE3-AAA6-27018AD46DA4}"/>
              </a:ext>
            </a:extLst>
          </p:cNvPr>
          <p:cNvSpPr txBox="1"/>
          <p:nvPr/>
        </p:nvSpPr>
        <p:spPr>
          <a:xfrm>
            <a:off x="2618057" y="4046316"/>
            <a:ext cx="6955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Mesh levels used in the shock-droplet mesh-independence study.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74568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143BB7-98D4-BAA8-EB1D-F24FE0D9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CC9D18-D2E4-E82E-260F-7C265289C1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272564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Mesh Independence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CC864CA-0DE2-6298-C902-97FD94352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63537" y="6402873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E1BB18-EB64-23C2-29C3-3A45B5F7A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50" y="795760"/>
            <a:ext cx="4274127" cy="30311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AB2D42-DF7F-48CF-7017-006EA1B3E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50" y="3826880"/>
            <a:ext cx="4274127" cy="30311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662772-EFE3-C78F-097E-A3CBCBE7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605" y="795760"/>
            <a:ext cx="4274127" cy="30311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1DD94CB-C923-E182-8956-F3A983D36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605" y="3826880"/>
            <a:ext cx="4274127" cy="3031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87B6D-1B3F-FB6D-258F-258186C904BB}"/>
                  </a:ext>
                </a:extLst>
              </p:cNvPr>
              <p:cNvSpPr txBox="1"/>
              <p:nvPr/>
            </p:nvSpPr>
            <p:spPr>
              <a:xfrm rot="16200000">
                <a:off x="4771198" y="2126653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87B6D-1B3F-FB6D-258F-258186C90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71198" y="2126653"/>
                <a:ext cx="1168090" cy="369332"/>
              </a:xfrm>
              <a:prstGeom prst="rect">
                <a:avLst/>
              </a:prstGeom>
              <a:blipFill>
                <a:blip r:embed="rId7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4F6FD3-5AE8-A958-FA22-3CDB0F7CBEA0}"/>
                  </a:ext>
                </a:extLst>
              </p:cNvPr>
              <p:cNvSpPr txBox="1"/>
              <p:nvPr/>
            </p:nvSpPr>
            <p:spPr>
              <a:xfrm rot="16200000">
                <a:off x="65857" y="5157773"/>
                <a:ext cx="1291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4F6FD3-5AE8-A958-FA22-3CDB0F7CB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857" y="5157773"/>
                <a:ext cx="1291855" cy="369332"/>
              </a:xfrm>
              <a:prstGeom prst="rect">
                <a:avLst/>
              </a:prstGeom>
              <a:blipFill>
                <a:blip r:embed="rId8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04F54A-B21A-1DFB-6373-622868FD2D5B}"/>
                  </a:ext>
                </a:extLst>
              </p:cNvPr>
              <p:cNvSpPr txBox="1"/>
              <p:nvPr/>
            </p:nvSpPr>
            <p:spPr>
              <a:xfrm rot="16200000">
                <a:off x="4772894" y="5157774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04F54A-B21A-1DFB-6373-622868FD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72894" y="5157774"/>
                <a:ext cx="1168090" cy="369332"/>
              </a:xfrm>
              <a:prstGeom prst="rect">
                <a:avLst/>
              </a:prstGeom>
              <a:blipFill>
                <a:blip r:embed="rId9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E00E94-3F52-CC97-3818-69963AF2C112}"/>
                  </a:ext>
                </a:extLst>
              </p:cNvPr>
              <p:cNvSpPr txBox="1"/>
              <p:nvPr/>
            </p:nvSpPr>
            <p:spPr>
              <a:xfrm rot="16200000">
                <a:off x="127739" y="2064770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E00E94-3F52-CC97-3818-69963AF2C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7739" y="2064770"/>
                <a:ext cx="1168090" cy="369332"/>
              </a:xfrm>
              <a:prstGeom prst="rect">
                <a:avLst/>
              </a:prstGeom>
              <a:blipFill>
                <a:blip r:embed="rId10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23CEC98-C755-ACDF-FDC0-5B795680EC80}"/>
              </a:ext>
            </a:extLst>
          </p:cNvPr>
          <p:cNvSpPr txBox="1"/>
          <p:nvPr/>
        </p:nvSpPr>
        <p:spPr>
          <a:xfrm rot="16200000">
            <a:off x="-1072398" y="3244333"/>
            <a:ext cx="2684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Nearest-cell pressures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11A35-150C-3A90-0D46-87AF66A3286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7520" r="10798" b="46886"/>
          <a:stretch>
            <a:fillRect/>
          </a:stretch>
        </p:blipFill>
        <p:spPr>
          <a:xfrm>
            <a:off x="9930275" y="2895364"/>
            <a:ext cx="2176462" cy="12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24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A3C98D-18EC-BFE4-27E3-DAFDA194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8276B1-73CD-9D5B-307F-1340DE81A3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Summary of Assumptions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BE4B7-48B2-44D0-CFA7-DAD27F59959E}"/>
              </a:ext>
            </a:extLst>
          </p:cNvPr>
          <p:cNvSpPr/>
          <p:nvPr/>
        </p:nvSpPr>
        <p:spPr>
          <a:xfrm>
            <a:off x="783846" y="999986"/>
            <a:ext cx="10569954" cy="58580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Geometry / interface: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Axisymmetric geometry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Diffuse-interface formulation with interface sharpening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Droplet-scale surface tension neglected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Sub-grid nuclei model: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Bubbles are modeled as spherical sub-grid nuclei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Bubbles remain fixed in space; no stochastic correction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 asymmetrical collapse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Bubble-bubble interaction only through the resolved pressure field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Thermodynamic / transport simplifications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Non-condensable gas nuclei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 vapor production, mass transfer, and phase change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Polytropic bubble gas response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Neglecting viscosity in Eulerian phase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5D0598F-7B7F-0E84-F72B-E786E02A8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9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9AAE-DF78-3616-EA39-F2983B24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45EB6E-42A0-B25D-24FB-C0E1B1614D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Non-</a:t>
            </a:r>
            <a:r>
              <a:rPr lang="en-US" sz="2800" b="1" dirty="0" err="1">
                <a:solidFill>
                  <a:srgbClr val="00509A"/>
                </a:solidFill>
                <a:latin typeface="Arial"/>
                <a:ea typeface="Roboto"/>
                <a:cs typeface="Arial"/>
              </a:rPr>
              <a:t>dimensionalization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7E6D86-7DF4-BB46-E214-BC967FEC04F2}"/>
                  </a:ext>
                </a:extLst>
              </p:cNvPr>
              <p:cNvSpPr/>
              <p:nvPr/>
            </p:nvSpPr>
            <p:spPr>
              <a:xfrm>
                <a:off x="783845" y="1088998"/>
                <a:ext cx="6759955" cy="463364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Shock-droplet interaction in the absence of dissolved gas nuclei.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quantities are presented in the dimensionless time: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𝜏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𝑎𝑟𝑟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is the Ranger-Nichols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aerobreakup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timescale: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𝑈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𝑔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Define acoustic crossing time: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7E6D86-7DF4-BB46-E214-BC967FEC04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6759955" cy="4633641"/>
              </a:xfrm>
              <a:prstGeom prst="rect">
                <a:avLst/>
              </a:prstGeo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74F043C-073E-AAF6-9324-0E571241B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FA9B519-C7F3-0725-79B3-B68892AC6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6460632"/>
                  </p:ext>
                </p:extLst>
              </p:nvPr>
            </p:nvGraphicFramePr>
            <p:xfrm>
              <a:off x="7543800" y="2419379"/>
              <a:ext cx="4308856" cy="2262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3291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17219536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𝑝𝑜𝑠𝑡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𝑀𝑃𝑎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2.929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5.757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233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𝑝𝑜𝑠𝑡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772.5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1390.6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1986.5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0.0653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0.0971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5857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FA9B519-C7F3-0725-79B3-B68892AC6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6460632"/>
                  </p:ext>
                </p:extLst>
              </p:nvPr>
            </p:nvGraphicFramePr>
            <p:xfrm>
              <a:off x="7543800" y="2419379"/>
              <a:ext cx="4308856" cy="2262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3291">
                      <a:extLst>
                        <a:ext uri="{9D8B030D-6E8A-4147-A177-3AD203B41FA5}">
                          <a16:colId xmlns:a16="http://schemas.microsoft.com/office/drawing/2014/main" val="1149116295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4262753197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2676493960"/>
                        </a:ext>
                      </a:extLst>
                    </a:gridCol>
                    <a:gridCol w="871855">
                      <a:extLst>
                        <a:ext uri="{9D8B030D-6E8A-4147-A177-3AD203B41FA5}">
                          <a16:colId xmlns:a16="http://schemas.microsoft.com/office/drawing/2014/main" val="17219536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M</a:t>
                          </a:r>
                          <a:r>
                            <a:rPr lang="en-US" baseline="-25000" dirty="0" err="1"/>
                            <a:t>s</a:t>
                          </a:r>
                          <a:r>
                            <a:rPr lang="en-US" baseline="-25000" dirty="0"/>
                            <a:t> </a:t>
                          </a:r>
                          <a:r>
                            <a:rPr lang="en-US" baseline="0" dirty="0"/>
                            <a:t>= 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5046295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103125" r="-156115" b="-4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1.044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2.929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5.757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233540"/>
                      </a:ext>
                    </a:extLst>
                  </a:tr>
                  <a:tr h="3918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203125" r="-156115" b="-3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772.5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1390.6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1986.5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114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318033" r="-15611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6.31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628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418033" r="-15611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83341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0" t="-518033" r="-15611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0.0319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0.0653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0.0971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58574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686B7AB-AB37-A398-E785-E9C8416F20EA}"/>
              </a:ext>
            </a:extLst>
          </p:cNvPr>
          <p:cNvSpPr txBox="1"/>
          <p:nvPr/>
        </p:nvSpPr>
        <p:spPr>
          <a:xfrm>
            <a:off x="8413460" y="4681567"/>
            <a:ext cx="3137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Key acoustic timescales.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513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6976D-DEB6-E92D-475F-78546666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B31934-14AB-E89A-ADA8-BD8357BA15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Internal Wave Structure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6728DC7-6B59-5D6C-E8D7-68188BE2B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918E05-4880-7E84-DB85-5545934137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188"/>
          <a:stretch>
            <a:fillRect/>
          </a:stretch>
        </p:blipFill>
        <p:spPr>
          <a:xfrm>
            <a:off x="64976" y="875741"/>
            <a:ext cx="4078399" cy="5106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DE111A-4671-ABD4-BA07-80BFD93C970F}"/>
              </a:ext>
            </a:extLst>
          </p:cNvPr>
          <p:cNvSpPr txBox="1"/>
          <p:nvPr/>
        </p:nvSpPr>
        <p:spPr>
          <a:xfrm>
            <a:off x="1853516" y="5982259"/>
            <a:ext cx="8490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Space-time diagram of axial centerline pressure for the three clean-baseline cases.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Left: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 3;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center:</a:t>
            </a:r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 5;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right: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Mach 7.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441BE1-C730-A39A-AEDF-CF816DB1C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11" r="33765"/>
          <a:stretch>
            <a:fillRect/>
          </a:stretch>
        </p:blipFill>
        <p:spPr>
          <a:xfrm>
            <a:off x="4143375" y="875741"/>
            <a:ext cx="3910966" cy="51065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0C062-47C7-D82F-CF23-2E7F7E3F8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36"/>
          <a:stretch>
            <a:fillRect/>
          </a:stretch>
        </p:blipFill>
        <p:spPr>
          <a:xfrm>
            <a:off x="8054341" y="875741"/>
            <a:ext cx="4072682" cy="51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B3AE20-6CD2-0C73-6CCC-60FC8C32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466BE9-0C4A-7B86-6AB8-D37DBCB60E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Peak Pressure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9A8D6CF-0BEC-9AAA-1E19-F54723DA2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ADD1E-E702-EC72-C0A1-D8D9C6D02A41}"/>
              </a:ext>
            </a:extLst>
          </p:cNvPr>
          <p:cNvSpPr txBox="1"/>
          <p:nvPr/>
        </p:nvSpPr>
        <p:spPr>
          <a:xfrm>
            <a:off x="783845" y="5114896"/>
            <a:ext cx="1107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Center-probe pressure history plotted against time normalized by the acoustic crossing time.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Left: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absolute pressure.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Right: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pressure normalized by case-specific post-shock pressure.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96CB9-19A1-80C5-57DE-BE5CE9803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2" y="1248428"/>
            <a:ext cx="6024608" cy="3715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B93BBE-B04B-8750-8BCA-A4B6CA836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238975"/>
            <a:ext cx="6024608" cy="372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3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A40E-9F5F-7AB3-EA4E-9362930B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07C0D8-9F15-EA03-4FA5-5D679E29C2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Rarefaction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49BA7CB-DE65-6030-2809-DD3915F80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8EACD-441E-2F47-0121-429A4A7FA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65" y="1798438"/>
            <a:ext cx="10868269" cy="4455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74B6-7A20-7BF8-B29C-ECE6A956E3B8}"/>
                  </a:ext>
                </a:extLst>
              </p:cNvPr>
              <p:cNvSpPr txBox="1"/>
              <p:nvPr/>
            </p:nvSpPr>
            <p:spPr>
              <a:xfrm>
                <a:off x="661865" y="6254245"/>
                <a:ext cx="10868269" cy="603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Minimum centerline pressure along the droplet axis, minimized over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𝜏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0,0.45</m:t>
                        </m:r>
                      </m:e>
                    </m:d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.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absolute minimum pressure.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normalized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𝑝𝑜𝑠𝑡</m:t>
                        </m:r>
                      </m:sub>
                    </m:sSub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74B6-7A20-7BF8-B29C-ECE6A956E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65" y="6254245"/>
                <a:ext cx="10868269" cy="603755"/>
              </a:xfrm>
              <a:prstGeom prst="rect">
                <a:avLst/>
              </a:prstGeom>
              <a:blipFill>
                <a:blip r:embed="rId4"/>
                <a:stretch>
                  <a:fillRect l="-337" t="-4040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B2801AB-E0A8-8C38-0B08-379AABA55512}"/>
              </a:ext>
            </a:extLst>
          </p:cNvPr>
          <p:cNvSpPr txBox="1"/>
          <p:nvPr/>
        </p:nvSpPr>
        <p:spPr>
          <a:xfrm>
            <a:off x="661864" y="938931"/>
            <a:ext cx="10868269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Each acoustic reflection generates a rarefaction wave that propagates back into the droplet and produces tensile pressures.</a:t>
            </a:r>
          </a:p>
        </p:txBody>
      </p:sp>
    </p:spTree>
    <p:extLst>
      <p:ext uri="{BB962C8B-B14F-4D97-AF65-F5344CB8AC3E}">
        <p14:creationId xmlns:p14="http://schemas.microsoft.com/office/powerpoint/2010/main" val="79178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3D0E-4E7F-CBAE-7E13-D7C6644C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E87D35-9801-E8E7-CEED-8891A7464F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Clean Results: Early Droplet Deformation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627AF54-6BB0-A43D-2809-8F9BFDE4B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6581" y="6442265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C194C2-3D1E-C334-CAEC-A27C00470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604" y="914095"/>
            <a:ext cx="3854648" cy="5924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C09B70-9430-68FC-A933-3E41CC207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252" y="914095"/>
            <a:ext cx="3810196" cy="59439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9846D4-DD6D-9A69-18CE-838FD506B1F8}"/>
              </a:ext>
            </a:extLst>
          </p:cNvPr>
          <p:cNvSpPr/>
          <p:nvPr/>
        </p:nvSpPr>
        <p:spPr>
          <a:xfrm>
            <a:off x="108120" y="5337295"/>
            <a:ext cx="4043604" cy="12875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Numerical schlieren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left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and numerical shadowgraph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right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of the early-time droplet deformation.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88605B-304A-996A-A09F-BB19431D61A3}"/>
              </a:ext>
            </a:extLst>
          </p:cNvPr>
          <p:cNvSpPr/>
          <p:nvPr/>
        </p:nvSpPr>
        <p:spPr>
          <a:xfrm>
            <a:off x="0" y="1352979"/>
            <a:ext cx="4043604" cy="33650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Early-time droplet deformation: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Noticeable flattening on the windward 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Rim roll-up and lip 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RTP mode 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Dimple forming at the aft interface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Numerical artifact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*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Upstream-face dimple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A9B76-FF8B-1B3D-71C7-E35470AC80B6}"/>
              </a:ext>
            </a:extLst>
          </p:cNvPr>
          <p:cNvGrpSpPr/>
          <p:nvPr/>
        </p:nvGrpSpPr>
        <p:grpSpPr>
          <a:xfrm>
            <a:off x="7787639" y="2666159"/>
            <a:ext cx="1843695" cy="369332"/>
            <a:chOff x="3147405" y="1967984"/>
            <a:chExt cx="1843695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9395088-FAD3-964B-E97B-D6B0A60E218D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D89AD9-B554-D666-D292-935C79B381D5}"/>
                </a:ext>
              </a:extLst>
            </p:cNvPr>
            <p:cNvSpPr txBox="1"/>
            <p:nvPr/>
          </p:nvSpPr>
          <p:spPr>
            <a:xfrm>
              <a:off x="3147405" y="1967984"/>
              <a:ext cx="1357919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Rim roll-up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476135-D332-4DFD-BED5-5236102C0959}"/>
              </a:ext>
            </a:extLst>
          </p:cNvPr>
          <p:cNvGrpSpPr/>
          <p:nvPr/>
        </p:nvGrpSpPr>
        <p:grpSpPr>
          <a:xfrm>
            <a:off x="5025997" y="6218339"/>
            <a:ext cx="3305175" cy="369332"/>
            <a:chOff x="1828800" y="1967984"/>
            <a:chExt cx="3305175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0131B5A-BC08-2592-F56C-CC5DB14C58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1608EB-402C-2723-A748-96432155D729}"/>
                </a:ext>
              </a:extLst>
            </p:cNvPr>
            <p:cNvSpPr txBox="1"/>
            <p:nvPr/>
          </p:nvSpPr>
          <p:spPr>
            <a:xfrm>
              <a:off x="2390775" y="1967984"/>
              <a:ext cx="274320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Windward face flattening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FF6CBA-72A7-D5D7-1440-B4125D77F3B0}"/>
              </a:ext>
            </a:extLst>
          </p:cNvPr>
          <p:cNvGrpSpPr/>
          <p:nvPr/>
        </p:nvGrpSpPr>
        <p:grpSpPr>
          <a:xfrm>
            <a:off x="7581900" y="3822510"/>
            <a:ext cx="2013436" cy="369332"/>
            <a:chOff x="2977664" y="1967984"/>
            <a:chExt cx="2013436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C68C03B-11D7-FCB4-0A4C-E384F5D1F72C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80F774-D260-4DBF-4B23-AE33AF5D71BD}"/>
                </a:ext>
              </a:extLst>
            </p:cNvPr>
            <p:cNvSpPr txBox="1"/>
            <p:nvPr/>
          </p:nvSpPr>
          <p:spPr>
            <a:xfrm>
              <a:off x="2977664" y="1967984"/>
              <a:ext cx="1527661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Lip formation</a:t>
              </a:r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27BC47-8A68-C120-9325-63989CE928CB}"/>
              </a:ext>
            </a:extLst>
          </p:cNvPr>
          <p:cNvGrpSpPr/>
          <p:nvPr/>
        </p:nvGrpSpPr>
        <p:grpSpPr>
          <a:xfrm>
            <a:off x="9145557" y="2758492"/>
            <a:ext cx="1746840" cy="369332"/>
            <a:chOff x="3244260" y="1967984"/>
            <a:chExt cx="1746840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D1732C2-FA25-BC19-699E-93B11C03CD5E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C2DFB1-DF83-7280-A9B0-F1BEF79CCB6A}"/>
                </a:ext>
              </a:extLst>
            </p:cNvPr>
            <p:cNvSpPr txBox="1"/>
            <p:nvPr/>
          </p:nvSpPr>
          <p:spPr>
            <a:xfrm>
              <a:off x="3244260" y="1967984"/>
              <a:ext cx="1261065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RT modes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F0D6FA-A38C-DBF0-598A-6722295A13F8}"/>
              </a:ext>
            </a:extLst>
          </p:cNvPr>
          <p:cNvGrpSpPr/>
          <p:nvPr/>
        </p:nvGrpSpPr>
        <p:grpSpPr>
          <a:xfrm>
            <a:off x="7306234" y="4692657"/>
            <a:ext cx="2753993" cy="369332"/>
            <a:chOff x="1828800" y="1967984"/>
            <a:chExt cx="2753993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6697C4D-16F4-3007-7155-1C4A961D3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F520A0-1FE8-2F32-D26E-AD83B3D82AFA}"/>
                </a:ext>
              </a:extLst>
            </p:cNvPr>
            <p:cNvSpPr txBox="1"/>
            <p:nvPr/>
          </p:nvSpPr>
          <p:spPr>
            <a:xfrm>
              <a:off x="2390775" y="1967984"/>
              <a:ext cx="2192018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Aft-interface dimple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9F5F87-D65B-B1A2-E1DC-8D9F3B336BD9}"/>
              </a:ext>
            </a:extLst>
          </p:cNvPr>
          <p:cNvGrpSpPr/>
          <p:nvPr/>
        </p:nvGrpSpPr>
        <p:grpSpPr>
          <a:xfrm>
            <a:off x="6797041" y="1672485"/>
            <a:ext cx="3055618" cy="369332"/>
            <a:chOff x="1935482" y="1967984"/>
            <a:chExt cx="3055618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7104312-8B1E-2606-841E-FB7973E491E6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553935-1D3F-7208-39EB-8B0C53DB7477}"/>
                </a:ext>
              </a:extLst>
            </p:cNvPr>
            <p:cNvSpPr txBox="1"/>
            <p:nvPr/>
          </p:nvSpPr>
          <p:spPr>
            <a:xfrm>
              <a:off x="1935482" y="1967984"/>
              <a:ext cx="2569844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Upstream-face dimple</a:t>
              </a: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*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155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DF6DDFE-4335-99D1-D98A-1633BE6F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5364B5-B0F4-DA98-AF34-732AF98822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Spatial Selectivity of Activation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99C32BB-1E4F-4BA7-7D5E-00C0ADD2F1CD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normalized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underpressure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integral predicted that bubble activation should be concentrated in the downstream half of the droplet.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simulations confirm this prediction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Consider the Mach 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=0.2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case: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Bin the 100 bubbles by initial position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99C32BB-1E4F-4BA7-7D5E-00C0ADD2F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2118529"/>
              </a:xfrm>
              <a:prstGeom prst="rect">
                <a:avLst/>
              </a:prstGeom>
              <a:blipFill>
                <a:blip r:embed="rId3"/>
                <a:stretch>
                  <a:fillRect l="-519" b="-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9D90183-5D92-1338-B2AD-C717BA5DD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E2ED84-B305-4CBB-C456-CDE6F0D81B21}"/>
              </a:ext>
            </a:extLst>
          </p:cNvPr>
          <p:cNvGrpSpPr/>
          <p:nvPr/>
        </p:nvGrpSpPr>
        <p:grpSpPr>
          <a:xfrm>
            <a:off x="2500533" y="2921577"/>
            <a:ext cx="7971983" cy="3617335"/>
            <a:chOff x="1427383" y="3357594"/>
            <a:chExt cx="7971983" cy="36173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E59537-C73E-856E-0F7A-890BA9677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9358"/>
            <a:stretch>
              <a:fillRect/>
            </a:stretch>
          </p:blipFill>
          <p:spPr>
            <a:xfrm>
              <a:off x="1427383" y="3357594"/>
              <a:ext cx="7971983" cy="277846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98F4A6-B942-D4C6-0C5D-6F3C530E1BF3}"/>
                </a:ext>
              </a:extLst>
            </p:cNvPr>
            <p:cNvSpPr/>
            <p:nvPr/>
          </p:nvSpPr>
          <p:spPr>
            <a:xfrm>
              <a:off x="1427383" y="6102895"/>
              <a:ext cx="7971983" cy="872034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Spatial bins based on initial streamwise nucleus location, showing median and maximum bubble growth.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272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6C4A-3692-F0CF-919D-0A1CDA9D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69D0B7-FB1F-476D-2D2D-F582FB4387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Spatial Selectivity of Activation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58EE3D3-C5D4-6E34-1403-3B46CF8FB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8C82F-DD15-0F4C-1FA0-814A162C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2" y="1699470"/>
            <a:ext cx="5637778" cy="3986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32D56B-1CFC-A9AD-61B5-D5FC89851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95600"/>
            <a:ext cx="5637778" cy="3990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71304D-05A8-60B1-764F-0DFB59BCBF99}"/>
                  </a:ext>
                </a:extLst>
              </p:cNvPr>
              <p:cNvSpPr/>
              <p:nvPr/>
            </p:nvSpPr>
            <p:spPr>
              <a:xfrm>
                <a:off x="783845" y="5540734"/>
                <a:ext cx="10083800" cy="45653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Scatter plots of normalized bubble growth at Mach 5. </a:t>
                </a:r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=0.1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 </a:t>
                </a:r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1.0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71304D-05A8-60B1-764F-0DFB59BCB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5540734"/>
                <a:ext cx="10083800" cy="456535"/>
              </a:xfrm>
              <a:prstGeom prst="rect">
                <a:avLst/>
              </a:prstGeom>
              <a:blipFill>
                <a:blip r:embed="rId5"/>
                <a:stretch>
                  <a:fillRect l="-544" r="-242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CCFEDCE2-0636-E31B-C7E7-0BFDAC3A6AB9}"/>
              </a:ext>
            </a:extLst>
          </p:cNvPr>
          <p:cNvSpPr/>
          <p:nvPr/>
        </p:nvSpPr>
        <p:spPr>
          <a:xfrm>
            <a:off x="783845" y="1088998"/>
            <a:ext cx="10569955" cy="4565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Downstream half of the droplet shows most bubble activation</a:t>
            </a:r>
          </a:p>
        </p:txBody>
      </p:sp>
    </p:spTree>
    <p:extLst>
      <p:ext uri="{BB962C8B-B14F-4D97-AF65-F5344CB8AC3E}">
        <p14:creationId xmlns:p14="http://schemas.microsoft.com/office/powerpoint/2010/main" val="326634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B1E7-B08E-07F7-4585-E553E201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9FEDEE-3758-7662-1269-4294880EE5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Absolute Bubble Growth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A36CA30-BABC-7FBD-CA8D-5B5EAD76C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10D767-6603-5899-6F12-93071AF329CB}"/>
              </a:ext>
            </a:extLst>
          </p:cNvPr>
          <p:cNvGrpSpPr/>
          <p:nvPr/>
        </p:nvGrpSpPr>
        <p:grpSpPr>
          <a:xfrm>
            <a:off x="405003" y="1078631"/>
            <a:ext cx="6987794" cy="4976707"/>
            <a:chOff x="2602103" y="1002431"/>
            <a:chExt cx="6987794" cy="49767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102C40B-19A4-A4B8-6EA2-D6376D74CF3D}"/>
                    </a:ext>
                  </a:extLst>
                </p:cNvPr>
                <p:cNvSpPr txBox="1"/>
                <p:nvPr/>
              </p:nvSpPr>
              <p:spPr>
                <a:xfrm>
                  <a:off x="2602103" y="5640584"/>
                  <a:ext cx="6987794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i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Figure: 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Absolute maximum bubble radius in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𝜇</m:t>
                      </m:r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𝑚</m:t>
                      </m:r>
                    </m:oMath>
                  </a14:m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for all doped cases.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102C40B-19A4-A4B8-6EA2-D6376D74C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2103" y="5640584"/>
                  <a:ext cx="6987794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436" t="-7273" b="-2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CEE934A-A8C9-527D-EF49-9FF2137A5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2103" y="1002431"/>
              <a:ext cx="6987794" cy="463815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7FF8CE0-D048-A508-9351-44EE02F18DC7}"/>
                  </a:ext>
                </a:extLst>
              </p:cNvPr>
              <p:cNvSpPr/>
              <p:nvPr/>
            </p:nvSpPr>
            <p:spPr>
              <a:xfrm>
                <a:off x="7573534" y="1078631"/>
                <a:ext cx="4574016" cy="4611519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number: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Strongest influence on peak bubble growth (Mach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↑,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 ↑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bubble radius: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Significant effect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~constant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𝑎𝑏𝑠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for a given Mach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Bubble population: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Least effect on peak bubble growth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=1000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seems to limit peak bubble growth when compared to other population sizes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7FF8CE0-D048-A508-9351-44EE02F18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534" y="1078631"/>
                <a:ext cx="4574016" cy="4611519"/>
              </a:xfrm>
              <a:prstGeom prst="rect">
                <a:avLst/>
              </a:prstGeom>
              <a:blipFill>
                <a:blip r:embed="rId5"/>
                <a:stretch>
                  <a:fillRect l="-1065" b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54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8504-B995-9828-E397-9ABD038B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33AD12C-A83D-CB9B-0D58-5F76B2CBDA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Pressure Perturbations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3289BF-F316-132B-89BF-1A178E2503DF}"/>
                  </a:ext>
                </a:extLst>
              </p:cNvPr>
              <p:cNvSpPr/>
              <p:nvPr/>
            </p:nvSpPr>
            <p:spPr>
              <a:xfrm>
                <a:off x="476251" y="1088998"/>
                <a:ext cx="10877550" cy="1319657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volumetric growth and collapse of the Lagrangian bubbles feeds back onto the Eulerian carrier field 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𝑑𝑜𝑝𝑒𝑑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𝑐𝑙𝑒𝑎𝑛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Δ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bubble population attenuates the clean acoustic reverberations</a:t>
                </a:r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3289BF-F316-132B-89BF-1A178E2503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1" y="1088998"/>
                <a:ext cx="10877550" cy="1319657"/>
              </a:xfrm>
              <a:prstGeom prst="rect">
                <a:avLst/>
              </a:prstGeom>
              <a:blipFill>
                <a:blip r:embed="rId3"/>
                <a:stretch>
                  <a:fillRect l="-448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A98A7C0-5F7C-764A-7228-D4C224F9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453" y="6408272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B7B9A4-D109-08CA-4B0A-A6BAFF379132}"/>
                  </a:ext>
                </a:extLst>
              </p:cNvPr>
              <p:cNvSpPr txBox="1"/>
              <p:nvPr/>
            </p:nvSpPr>
            <p:spPr>
              <a:xfrm>
                <a:off x="1157986" y="6298446"/>
                <a:ext cx="982167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Space-time diagram of axial centerline pressures at Mach 5.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Doped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=0.1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Center: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Clean;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pressure difference.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B7B9A4-D109-08CA-4B0A-A6BAFF379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986" y="6298446"/>
                <a:ext cx="9821672" cy="584775"/>
              </a:xfrm>
              <a:prstGeom prst="rect">
                <a:avLst/>
              </a:prstGeom>
              <a:blipFill>
                <a:blip r:embed="rId4"/>
                <a:stretch>
                  <a:fillRect l="-372" t="-3125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0504EF9D-E88E-B769-6C58-EAF7F6343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596" y="2596850"/>
            <a:ext cx="3724808" cy="37393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06AD034-59D0-40A9-0F51-45DD65E63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58" y="2596850"/>
            <a:ext cx="3724808" cy="37393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AB33C8-0DCE-85D8-AC59-AD3FF361DF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734" y="2596850"/>
            <a:ext cx="3724808" cy="373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1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C726D3-13C3-F998-0F3B-573BAE01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7807F9-F4EC-0A19-D606-72D4EECD0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870" y="2600490"/>
            <a:ext cx="3706674" cy="37356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05BEF2-130F-D754-AA09-8EA429ED9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598" y="2600492"/>
            <a:ext cx="3724808" cy="373568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D9A814E-F8C6-DE86-7123-179807A399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Pressure Perturbations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F7613-31B0-B4C5-F00B-71B56BA0C0F4}"/>
              </a:ext>
            </a:extLst>
          </p:cNvPr>
          <p:cNvSpPr/>
          <p:nvPr/>
        </p:nvSpPr>
        <p:spPr>
          <a:xfrm>
            <a:off x="783845" y="1088998"/>
            <a:ext cx="10569955" cy="12875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perturbation signal is negligible during the initial shock transmission phase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pressure perturbation fills the entire droplet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Forms characteristic V-shaped or X-shaped diagonal bands</a:t>
            </a:r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9AF7066-0F8E-C97D-E73F-602B48425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453" y="6408272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FAE753-0895-14A1-29A0-8755000FD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71" y="2600492"/>
            <a:ext cx="3732061" cy="37356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502C51-ED3C-CB9C-A7BF-3E6A460F8870}"/>
                  </a:ext>
                </a:extLst>
              </p:cNvPr>
              <p:cNvSpPr txBox="1"/>
              <p:nvPr/>
            </p:nvSpPr>
            <p:spPr>
              <a:xfrm>
                <a:off x="1734947" y="6260715"/>
                <a:ext cx="866775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Space-time diagram of axial centerline pressure differences at Mach 3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1.0 </m:t>
                    </m:r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center: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sz="16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00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502C51-ED3C-CB9C-A7BF-3E6A460F8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47" y="6260715"/>
                <a:ext cx="8667750" cy="584775"/>
              </a:xfrm>
              <a:prstGeom prst="rect">
                <a:avLst/>
              </a:prstGeom>
              <a:blipFill>
                <a:blip r:embed="rId6"/>
                <a:stretch>
                  <a:fillRect l="-422" t="-3125" r="-211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7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7922-E670-B8A3-71F6-63084E89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9EE143-31C9-7347-3CBA-569FBB09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81900"/>
            <a:ext cx="5563701" cy="3764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A2880A-7916-80EB-746A-6F479253D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58" y="1081900"/>
            <a:ext cx="5555842" cy="376414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D3EB63D-1001-213F-629E-0C77B8C0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Pressure Perturbations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CF4F319-3D7A-EF66-5A1C-58FB3B8C9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453" y="6408272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BE46C-3A7C-ABE2-500D-CB54BDD67987}"/>
                  </a:ext>
                </a:extLst>
              </p:cNvPr>
              <p:cNvSpPr txBox="1"/>
              <p:nvPr/>
            </p:nvSpPr>
            <p:spPr>
              <a:xfrm>
                <a:off x="540158" y="4846042"/>
                <a:ext cx="1111954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Heat maps of peak positive and negative pressure differences.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|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𝑚𝑖𝑛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|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7BE46C-3A7C-ABE2-500D-CB54BDD6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58" y="4846042"/>
                <a:ext cx="11119542" cy="338554"/>
              </a:xfrm>
              <a:prstGeom prst="rect">
                <a:avLst/>
              </a:prstGeom>
              <a:blipFill>
                <a:blip r:embed="rId5"/>
                <a:stretch>
                  <a:fillRect l="-329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A6D9C42-71F6-8739-A939-44F12EEDE953}"/>
                  </a:ext>
                </a:extLst>
              </p:cNvPr>
              <p:cNvSpPr/>
              <p:nvPr/>
            </p:nvSpPr>
            <p:spPr>
              <a:xfrm>
                <a:off x="540158" y="5318098"/>
                <a:ext cx="10877550" cy="960263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Peaks are highly dependent on Mach number (Mach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↑,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max</m:t>
                        </m:r>
                        <m: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min</m:t>
                        </m:r>
                      </m:sub>
                    </m:sSub>
                    <m: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 ↑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Peaks are highly dependent on bubble population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↑,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Δ</m:t>
                    </m:r>
                    <m:sSub>
                      <m:sSubPr>
                        <m:ctrl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max</m:t>
                        </m:r>
                        <m: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</a:rPr>
                          <m:t>min</m:t>
                        </m:r>
                      </m:sub>
                    </m:sSub>
                    <m:r>
                      <a:rPr 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</a:rPr>
                  <a:t> ↑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)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A6D9C42-71F6-8739-A939-44F12EEDE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58" y="5318098"/>
                <a:ext cx="10877550" cy="960263"/>
              </a:xfrm>
              <a:prstGeom prst="rect">
                <a:avLst/>
              </a:prstGeom>
              <a:blipFill>
                <a:blip r:embed="rId6"/>
                <a:stretch>
                  <a:fillRect l="-392" b="-6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48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2B30-4BEA-A48A-1805-CA40EF4F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752892-070D-7727-4F87-4EEBFD1C8D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Early Droplet Deformation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C608179-0AF2-69AF-56AD-6EE84DFD9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76CD01-EC79-0EE8-BE08-897216D155BE}"/>
                  </a:ext>
                </a:extLst>
              </p:cNvPr>
              <p:cNvSpPr txBox="1"/>
              <p:nvPr/>
            </p:nvSpPr>
            <p:spPr>
              <a:xfrm>
                <a:off x="283782" y="5004801"/>
                <a:ext cx="1162443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Numerical schlieren taken at doped cases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=1.0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 Each frame shows comparison of respective clean half (left) and the doped half (right).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Left: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3;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center: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5;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right: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7.</a:t>
                </a:r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76CD01-EC79-0EE8-BE08-897216D1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82" y="5004801"/>
                <a:ext cx="11624436" cy="584775"/>
              </a:xfrm>
              <a:prstGeom prst="rect">
                <a:avLst/>
              </a:prstGeom>
              <a:blipFill>
                <a:blip r:embed="rId3"/>
                <a:stretch>
                  <a:fillRect t="-3125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5D2652-862F-1FB5-24D0-1A4E8667B207}"/>
                  </a:ext>
                </a:extLst>
              </p:cNvPr>
              <p:cNvSpPr txBox="1"/>
              <p:nvPr/>
            </p:nvSpPr>
            <p:spPr>
              <a:xfrm>
                <a:off x="263926" y="5516677"/>
                <a:ext cx="11624436" cy="1287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There is nearly no observable difference* in surface deformation at any Mach or bubble density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*Mach 7,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=1000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𝜏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=0.40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Noticeable damping of internal acoustics in doped cases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=1000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5D2652-862F-1FB5-24D0-1A4E8667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6" y="5516677"/>
                <a:ext cx="11624436" cy="1287532"/>
              </a:xfrm>
              <a:prstGeom prst="rect">
                <a:avLst/>
              </a:prstGeom>
              <a:blipFill>
                <a:blip r:embed="rId4"/>
                <a:stretch>
                  <a:fillRect l="-315" b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6B1A51E-CC98-21F5-97B2-613860A2A8BC}"/>
              </a:ext>
            </a:extLst>
          </p:cNvPr>
          <p:cNvGrpSpPr/>
          <p:nvPr/>
        </p:nvGrpSpPr>
        <p:grpSpPr>
          <a:xfrm>
            <a:off x="283782" y="899162"/>
            <a:ext cx="3812325" cy="4094319"/>
            <a:chOff x="283782" y="899162"/>
            <a:chExt cx="3812325" cy="409431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5DEE663-15E0-5D73-3C8A-6B2B0BC8E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3782" y="1228725"/>
              <a:ext cx="3812325" cy="3764756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A182C0-130D-9713-D96B-D2B38B962CAC}"/>
                </a:ext>
              </a:extLst>
            </p:cNvPr>
            <p:cNvSpPr/>
            <p:nvPr/>
          </p:nvSpPr>
          <p:spPr>
            <a:xfrm>
              <a:off x="283782" y="938931"/>
              <a:ext cx="3812324" cy="4054550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191580-8E9B-CE0A-DEF7-D372C0470050}"/>
                </a:ext>
              </a:extLst>
            </p:cNvPr>
            <p:cNvSpPr txBox="1"/>
            <p:nvPr/>
          </p:nvSpPr>
          <p:spPr>
            <a:xfrm>
              <a:off x="1706847" y="899162"/>
              <a:ext cx="9661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 3</a:t>
              </a:r>
              <a:endParaRPr lang="en-US" u="sng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9203A9-8E10-4FCD-85FF-EE962D1300DB}"/>
              </a:ext>
            </a:extLst>
          </p:cNvPr>
          <p:cNvGrpSpPr/>
          <p:nvPr/>
        </p:nvGrpSpPr>
        <p:grpSpPr>
          <a:xfrm>
            <a:off x="4189836" y="899162"/>
            <a:ext cx="3812326" cy="4094319"/>
            <a:chOff x="4189836" y="899162"/>
            <a:chExt cx="3812326" cy="409431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6DAA619-DB29-BA65-23FC-A93E05F22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89837" y="1228725"/>
              <a:ext cx="3812325" cy="3764756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5DF399D-DF77-474D-7D33-C0D9EE9E2379}"/>
                </a:ext>
              </a:extLst>
            </p:cNvPr>
            <p:cNvSpPr/>
            <p:nvPr/>
          </p:nvSpPr>
          <p:spPr>
            <a:xfrm>
              <a:off x="4189836" y="938931"/>
              <a:ext cx="3812324" cy="4054550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6F7E18-A88C-1F24-80B8-8913517681DC}"/>
                </a:ext>
              </a:extLst>
            </p:cNvPr>
            <p:cNvSpPr txBox="1"/>
            <p:nvPr/>
          </p:nvSpPr>
          <p:spPr>
            <a:xfrm>
              <a:off x="5651091" y="899162"/>
              <a:ext cx="9661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 5</a:t>
              </a:r>
              <a:endParaRPr lang="en-US" u="sng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1E5F86-5160-FE7D-37C1-086346DB4E42}"/>
              </a:ext>
            </a:extLst>
          </p:cNvPr>
          <p:cNvGrpSpPr/>
          <p:nvPr/>
        </p:nvGrpSpPr>
        <p:grpSpPr>
          <a:xfrm>
            <a:off x="8076038" y="899162"/>
            <a:ext cx="3832180" cy="4094319"/>
            <a:chOff x="8076038" y="899162"/>
            <a:chExt cx="3832180" cy="409431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BC7FEE4-18A3-328E-B487-A4FCB146F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95893" y="1228725"/>
              <a:ext cx="3812325" cy="3764756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EC6F1BC-3420-A6F2-59FC-130A693FDBCA}"/>
                </a:ext>
              </a:extLst>
            </p:cNvPr>
            <p:cNvSpPr/>
            <p:nvPr/>
          </p:nvSpPr>
          <p:spPr>
            <a:xfrm>
              <a:off x="8076038" y="938931"/>
              <a:ext cx="3812324" cy="4054550"/>
            </a:xfrm>
            <a:prstGeom prst="rect">
              <a:avLst/>
            </a:prstGeom>
            <a:ln w="38100">
              <a:solidFill>
                <a:srgbClr val="00206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8F66358-D7DF-ECB9-5ABA-493A783D9D3E}"/>
                </a:ext>
              </a:extLst>
            </p:cNvPr>
            <p:cNvSpPr txBox="1"/>
            <p:nvPr/>
          </p:nvSpPr>
          <p:spPr>
            <a:xfrm>
              <a:off x="9518958" y="899162"/>
              <a:ext cx="9661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 7</a:t>
              </a:r>
              <a:endParaRPr lang="en-US" u="sng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C5FA0-7035-F5BE-25F7-6ED958C656F9}"/>
              </a:ext>
            </a:extLst>
          </p:cNvPr>
          <p:cNvGrpSpPr/>
          <p:nvPr/>
        </p:nvGrpSpPr>
        <p:grpSpPr>
          <a:xfrm>
            <a:off x="7893050" y="4170792"/>
            <a:ext cx="3018378" cy="646331"/>
            <a:chOff x="1972722" y="1967984"/>
            <a:chExt cx="3018378" cy="646331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1F9D7FF-DCB1-661E-11CE-BFE589C8AE32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0F2FCC6-575C-D118-E70C-D448ECE4A821}"/>
                </a:ext>
              </a:extLst>
            </p:cNvPr>
            <p:cNvSpPr txBox="1"/>
            <p:nvPr/>
          </p:nvSpPr>
          <p:spPr>
            <a:xfrm>
              <a:off x="1972722" y="1967984"/>
              <a:ext cx="2532603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Attenuation of acoustic reverberations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347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0F0C5B-0B8E-A5C1-CA32-479DAA70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3D59C2-B2DF-F2D6-5C39-ABBF71742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Doped Results: Early Droplet Deformation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922C7D7-9147-0FCB-E599-39AA80AC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2482-D7A1-CD6F-1E63-87D987B8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102"/>
          <a:stretch>
            <a:fillRect/>
          </a:stretch>
        </p:blipFill>
        <p:spPr>
          <a:xfrm>
            <a:off x="607996" y="1185863"/>
            <a:ext cx="2574957" cy="4694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9FAEF9-41DF-18B7-1E9E-FBB87AA58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674" b="22429"/>
          <a:stretch>
            <a:fillRect/>
          </a:stretch>
        </p:blipFill>
        <p:spPr>
          <a:xfrm>
            <a:off x="3321819" y="1185863"/>
            <a:ext cx="2574957" cy="4694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D64378-F9C7-5074-F0D1-8F74575ED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269"/>
          <a:stretch>
            <a:fillRect/>
          </a:stretch>
        </p:blipFill>
        <p:spPr>
          <a:xfrm>
            <a:off x="6096000" y="1185863"/>
            <a:ext cx="2574957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54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BF7F-C412-2332-4A2F-CEE207C0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CD97EA-1165-608E-7B92-47AEA21B1E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Principal Findings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130EA1-F6A7-5317-2036-5C37F5319492}"/>
              </a:ext>
            </a:extLst>
          </p:cNvPr>
          <p:cNvSpPr/>
          <p:nvPr/>
        </p:nvSpPr>
        <p:spPr>
          <a:xfrm>
            <a:off x="783845" y="1088998"/>
            <a:ext cx="10569955" cy="41960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Main Conclusion:</a:t>
            </a: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Pre-existing gas nuclei undergo strong internal activation, but this activation does not measurably alter early droplet-scale deformation over the tested parameter range, given the modeling assumptions.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Clean-droplet cases establish strong internal acoustic focusing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Gas nuclei are activated primarily by reflected tensile waves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 growth is spatially selective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Dense populations produce acoustic attenuation and self-suppression of individual bubble growth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Despite strong local bubble dynamics and pressure perturbations, early interface deformation remains nearly unchanged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1EB79-4AA7-10F3-AEFE-4739D20DB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6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BB10-4F68-06D6-8D06-4DC9CF3B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73658B-A9B2-ABCC-952C-24E7FFA47C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Limitations and Future Work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4BC63-8793-549E-6DA2-92F79433CAEC}"/>
              </a:ext>
            </a:extLst>
          </p:cNvPr>
          <p:cNvSpPr/>
          <p:nvPr/>
        </p:nvSpPr>
        <p:spPr>
          <a:xfrm>
            <a:off x="783845" y="1088998"/>
            <a:ext cx="10569955" cy="50270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Limitations: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Vapor production, condensation, and mass transfer were excluded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Bubble nuclei were fixed in space and did not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advect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with the liquid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Axisymmetric assumption limits 3D instability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Conclusions are computational and require targeted experimental validation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Model extensions: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Add rate-limited phase-change models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Allow nuclei to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advect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with the liquid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Extend simulations beyond early-time axisymmetric regime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Extend nuclei modeling to solid/particulate inclusions and heterogeneous cavitation sites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Experimental direction: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Perform companion experiments with controlled nuclei populations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609008-F39D-76AB-C886-E7885B891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73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EB737A-40F8-C64B-A2DD-3DEEDBC17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43461" y="1635922"/>
            <a:ext cx="2419350" cy="0"/>
          </a:xfrm>
          <a:prstGeom prst="line">
            <a:avLst/>
          </a:prstGeom>
          <a:ln w="69850">
            <a:solidFill>
              <a:srgbClr val="FCC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B35FF4F-EE20-8B43-87A7-A7F65C82E1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76299" y="1862616"/>
            <a:ext cx="10439400" cy="317007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Brendon A. Cavainolo¹, Rebecca Shannon²,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Sheryl M. Grace², and Michael P. Kinzel¹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¹Department of Aerospace Engineering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Embry-Riddle Aeronautical University, Daytona Beach, FL, USA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²Department of Mechanical Engineering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Boston University, Boston, MA, USA</a:t>
            </a:r>
            <a:br>
              <a:rPr lang="en-US" sz="2000" b="1" dirty="0">
                <a:solidFill>
                  <a:schemeClr val="bg1"/>
                </a:solidFill>
                <a:ea typeface="+mn-ea"/>
              </a:rPr>
            </a:br>
            <a:br>
              <a:rPr lang="en-US" sz="2000" b="1" dirty="0">
                <a:solidFill>
                  <a:schemeClr val="bg1"/>
                </a:solidFill>
                <a:ea typeface="+mn-ea"/>
              </a:rPr>
            </a:br>
            <a:r>
              <a:rPr lang="en-US" sz="2000" b="1" dirty="0">
                <a:solidFill>
                  <a:schemeClr val="bg1"/>
                </a:solidFill>
                <a:ea typeface="+mn-ea"/>
              </a:rPr>
              <a:t>This work was partially supported by the Air Force Office of Scientific Research under award number FA9550-22-1-0021.</a:t>
            </a:r>
            <a:br>
              <a:rPr lang="en-US" sz="2000" b="1" dirty="0">
                <a:solidFill>
                  <a:schemeClr val="bg1"/>
                </a:solidFill>
                <a:ea typeface="+mn-ea"/>
              </a:rPr>
            </a:br>
            <a:r>
              <a:rPr lang="en-US" sz="2000" b="1" dirty="0">
                <a:solidFill>
                  <a:schemeClr val="bg1"/>
                </a:solidFill>
                <a:ea typeface="+mn-ea"/>
              </a:rPr>
              <a:t>The author acknowledges DoD HPCMP and ERAU VEGA HPC use.</a:t>
            </a:r>
            <a:endParaRPr kumimoji="0" lang="en-US" sz="2000" b="1" i="0" u="none" strike="noStrike" kern="1200" cap="none" spc="6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A20F54-59C4-8245-B7C8-F228B9C8B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43461" y="5222078"/>
            <a:ext cx="2419350" cy="0"/>
          </a:xfrm>
          <a:prstGeom prst="line">
            <a:avLst/>
          </a:prstGeom>
          <a:ln w="69850">
            <a:solidFill>
              <a:srgbClr val="FCC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4FCADE-044F-9629-38E9-14DD169D30D9}"/>
              </a:ext>
            </a:extLst>
          </p:cNvPr>
          <p:cNvSpPr txBox="1"/>
          <p:nvPr/>
        </p:nvSpPr>
        <p:spPr>
          <a:xfrm>
            <a:off x="3353125" y="1007894"/>
            <a:ext cx="5485749" cy="769417"/>
          </a:xfrm>
          <a:prstGeom prst="rect">
            <a:avLst/>
          </a:prstGeom>
        </p:spPr>
        <p:txBody>
          <a:bodyPr wrap="none" lIns="91416" tIns="45708" rIns="91416" bIns="45708" rtlCol="0" anchor="t">
            <a:spAutoFit/>
          </a:bodyPr>
          <a:lstStyle/>
          <a:p>
            <a:pPr algn="ctr" fontAlgn="auto">
              <a:spcAft>
                <a:spcPts val="0"/>
              </a:spcAft>
              <a:tabLst>
                <a:tab pos="3590925" algn="l"/>
              </a:tabLst>
            </a:pP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1990568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lnSpc>
            <a:spcPct val="150000"/>
          </a:lnSpc>
          <a:defRPr sz="1600" b="1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Open Sans" panose="020B0606030504020204" pitchFamily="34" charset="0"/>
            <a:cs typeface="Arial" panose="020B0604020202020204" pitchFamily="34" charset="0"/>
          </a:defRPr>
        </a:defPPr>
      </a:lstStyle>
    </a:spDef>
    <a:txDef>
      <a:spPr/>
      <a:bodyPr lIns="91416" tIns="45708" rIns="91416" bIns="45708" anchor="t"/>
      <a:lstStyle>
        <a:defPPr algn="l" fontAlgn="auto">
          <a:spcAft>
            <a:spcPts val="0"/>
          </a:spcAft>
          <a:tabLst>
            <a:tab pos="3590925" algn="l"/>
          </a:tabLst>
          <a:defRPr sz="900" b="1" spc="600" dirty="0" smtClean="0">
            <a:solidFill>
              <a:schemeClr val="bg1">
                <a:lumMod val="65000"/>
              </a:schemeClr>
            </a:solidFill>
            <a:latin typeface="Arial" panose="020B0604020202020204" pitchFamily="34" charset="0"/>
            <a:ea typeface="Roboto" panose="02000000000000000000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lnSpc>
            <a:spcPct val="150000"/>
          </a:lnSpc>
          <a:defRPr sz="1600" b="1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Open Sans" panose="020B0606030504020204" pitchFamily="34" charset="0"/>
            <a:cs typeface="Arial" panose="020B0604020202020204" pitchFamily="34" charset="0"/>
          </a:defRPr>
        </a:defPPr>
      </a:lstStyle>
    </a:spDef>
    <a:txDef>
      <a:spPr/>
      <a:bodyPr lIns="91416" tIns="45708" rIns="91416" bIns="45708" anchor="t"/>
      <a:lstStyle>
        <a:defPPr algn="l" fontAlgn="auto">
          <a:spcAft>
            <a:spcPts val="0"/>
          </a:spcAft>
          <a:tabLst>
            <a:tab pos="3590925" algn="l"/>
          </a:tabLst>
          <a:defRPr sz="900" b="1" spc="600" dirty="0" smtClean="0">
            <a:solidFill>
              <a:schemeClr val="bg1">
                <a:lumMod val="65000"/>
              </a:schemeClr>
            </a:solidFill>
            <a:latin typeface="Arial" panose="020B0604020202020204" pitchFamily="34" charset="0"/>
            <a:ea typeface="Roboto" panose="02000000000000000000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887839EBA1FC42855A778CF7DEA682" ma:contentTypeVersion="13" ma:contentTypeDescription="Create a new document." ma:contentTypeScope="" ma:versionID="e680db73553fbdafc71e2a99a23abb12">
  <xsd:schema xmlns:xsd="http://www.w3.org/2001/XMLSchema" xmlns:xs="http://www.w3.org/2001/XMLSchema" xmlns:p="http://schemas.microsoft.com/office/2006/metadata/properties" xmlns:ns2="eeab21f8-b200-4f2d-840e-2d2e7bdc5e9e" xmlns:ns3="3c556dd3-f7e7-46bd-97c1-82821899741b" targetNamespace="http://schemas.microsoft.com/office/2006/metadata/properties" ma:root="true" ma:fieldsID="5232225848e24f14a33cd370927f618f" ns2:_="" ns3:_="">
    <xsd:import namespace="eeab21f8-b200-4f2d-840e-2d2e7bdc5e9e"/>
    <xsd:import namespace="3c556dd3-f7e7-46bd-97c1-8282189974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ab21f8-b200-4f2d-840e-2d2e7bdc5e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4ee6b6e-1dad-49a7-85d1-bf6bd71129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556dd3-f7e7-46bd-97c1-82821899741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fb860da-0ed8-4079-bdc0-e4d3e732567f}" ma:internalName="TaxCatchAll" ma:showField="CatchAllData" ma:web="3c556dd3-f7e7-46bd-97c1-8282189974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556dd3-f7e7-46bd-97c1-82821899741b" xsi:nil="true"/>
    <lcf76f155ced4ddcb4097134ff3c332f xmlns="eeab21f8-b200-4f2d-840e-2d2e7bdc5e9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19367D-542C-4ED2-B1D3-DF37452252F2}">
  <ds:schemaRefs>
    <ds:schemaRef ds:uri="3c556dd3-f7e7-46bd-97c1-82821899741b"/>
    <ds:schemaRef ds:uri="eeab21f8-b200-4f2d-840e-2d2e7bdc5e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1319263-1834-4DB9-88BE-B649B972CB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0A8C37-5927-46AA-9C81-6FE423D3814D}">
  <ds:schemaRefs>
    <ds:schemaRef ds:uri="http://purl.org/dc/elements/1.1/"/>
    <ds:schemaRef ds:uri="http://schemas.microsoft.com/office/2006/metadata/properties"/>
    <ds:schemaRef ds:uri="eeab21f8-b200-4f2d-840e-2d2e7bdc5e9e"/>
    <ds:schemaRef ds:uri="http://purl.org/dc/terms/"/>
    <ds:schemaRef ds:uri="http://www.w3.org/XML/1998/namespace"/>
    <ds:schemaRef ds:uri="3c556dd3-f7e7-46bd-97c1-82821899741b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5720</TotalTime>
  <Words>3090</Words>
  <Application>Microsoft Office PowerPoint</Application>
  <PresentationFormat>Widescreen</PresentationFormat>
  <Paragraphs>530</Paragraphs>
  <Slides>39</Slides>
  <Notes>39</Notes>
  <HiddenSlides>13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Arial</vt:lpstr>
      <vt:lpstr>Calibri</vt:lpstr>
      <vt:lpstr>Cambria</vt:lpstr>
      <vt:lpstr>Cambria Math</vt:lpstr>
      <vt:lpstr>Open Sans</vt:lpstr>
      <vt:lpstr>Office Theme</vt:lpstr>
      <vt:lpstr>1_Office Theme</vt:lpstr>
      <vt:lpstr>PowerPoint Presentation</vt:lpstr>
      <vt:lpstr>Motivation – Rain Erosion</vt:lpstr>
      <vt:lpstr>Motivation – Rain Erosion</vt:lpstr>
      <vt:lpstr>Motivation – Drop Acoustics and Rain Formation</vt:lpstr>
      <vt:lpstr>Scope and Objectives</vt:lpstr>
      <vt:lpstr>Literature: Cavitation and Entrained Nuclei</vt:lpstr>
      <vt:lpstr>Literature: Knowledge Gaps</vt:lpstr>
      <vt:lpstr>Methodology: Computational Setup</vt:lpstr>
      <vt:lpstr>Methodology: Simulation Matrix</vt:lpstr>
      <vt:lpstr>Methodology: Number Density and Void Fraction</vt:lpstr>
      <vt:lpstr>Methodology: The Numerical Model</vt:lpstr>
      <vt:lpstr>Methodology: Interface Formulation</vt:lpstr>
      <vt:lpstr>Methodology: The Numerical Model</vt:lpstr>
      <vt:lpstr>Methodology: Euler-Lagrange Bubble Model</vt:lpstr>
      <vt:lpstr>Methodology: Keller-Miksis-Type Model</vt:lpstr>
      <vt:lpstr>Methodology: Numerical Methods</vt:lpstr>
      <vt:lpstr>Methodology: Strang Splitting</vt:lpstr>
      <vt:lpstr>Methodology: Code Extensions</vt:lpstr>
      <vt:lpstr>Methodology: Benchmarking</vt:lpstr>
      <vt:lpstr>Methodology: Benchmarking</vt:lpstr>
      <vt:lpstr>Methodology: Mesh Independence</vt:lpstr>
      <vt:lpstr>Methodology: Mesh Independence</vt:lpstr>
      <vt:lpstr>Methodology: Summary of Assumptions</vt:lpstr>
      <vt:lpstr>Clean Results: Non-dimensionalization</vt:lpstr>
      <vt:lpstr>Clean Results: Internal Wave Structure</vt:lpstr>
      <vt:lpstr>Clean Results: Peak Pressure</vt:lpstr>
      <vt:lpstr>Clean Results: Rarefaction</vt:lpstr>
      <vt:lpstr>Clean Results: Early Droplet Deformation</vt:lpstr>
      <vt:lpstr>Doped Results: Spatial Selectivity of Activation</vt:lpstr>
      <vt:lpstr>Doped Results: Spatial Selectivity of Activation</vt:lpstr>
      <vt:lpstr>Doped Results: Absolute Bubble Growth</vt:lpstr>
      <vt:lpstr>Doped Results: Pressure Perturbations</vt:lpstr>
      <vt:lpstr>Doped Results: Pressure Perturbations</vt:lpstr>
      <vt:lpstr>Doped Results: Pressure Perturbations</vt:lpstr>
      <vt:lpstr>Doped Results: Early Droplet Deformation</vt:lpstr>
      <vt:lpstr>Doped Results: Early Droplet Deformation</vt:lpstr>
      <vt:lpstr>Principal Findings</vt:lpstr>
      <vt:lpstr>Limitations and Future Work</vt:lpstr>
      <vt:lpstr>Brendon A. Cavainolo¹, Rebecca Shannon², Sheryl M. Grace², and Michael P. Kinzel¹   ¹Department of Aerospace Engineering, Embry-Riddle Aeronautical University, Daytona Beach, FL, USA ²Department of Mechanical Engineering, Boston University, Boston, MA, USA  This work was partially supported by the Air Force Office of Scientific Research under award number FA9550-22-1-0021. The author acknowledges DoD HPCMP and ERAU VEGA HPC use.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Crystal S.</dc:creator>
  <cp:lastModifiedBy>Roldan, Juan P.</cp:lastModifiedBy>
  <cp:revision>6</cp:revision>
  <dcterms:created xsi:type="dcterms:W3CDTF">2021-04-05T14:03:31Z</dcterms:created>
  <dcterms:modified xsi:type="dcterms:W3CDTF">2026-08-24T04:20:04Z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0x01010013887839EBA1FC42855A778CF7DEA682</vt:lpwstr>
  </property>
  <property fmtid="{D5CDD505-2E9C-101B-9397-08002B2CF9AE}" pid="3" name="MediaServiceImageTags">
    <vt:lpwstr/>
  </property>
</Properties>
</file>