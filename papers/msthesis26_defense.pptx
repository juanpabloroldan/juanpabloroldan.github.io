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73" r:id="rId5"/>
  </p:sldMasterIdLst>
  <p:notesMasterIdLst>
    <p:notesMasterId r:id="rId59"/>
  </p:notesMasterIdLst>
  <p:handoutMasterIdLst>
    <p:handoutMasterId r:id="rId60"/>
  </p:handoutMasterIdLst>
  <p:sldIdLst>
    <p:sldId id="385" r:id="rId6"/>
    <p:sldId id="586" r:id="rId7"/>
    <p:sldId id="614" r:id="rId8"/>
    <p:sldId id="660" r:id="rId9"/>
    <p:sldId id="624" r:id="rId10"/>
    <p:sldId id="626" r:id="rId11"/>
    <p:sldId id="615" r:id="rId12"/>
    <p:sldId id="620" r:id="rId13"/>
    <p:sldId id="621" r:id="rId14"/>
    <p:sldId id="622" r:id="rId15"/>
    <p:sldId id="623" r:id="rId16"/>
    <p:sldId id="631" r:id="rId17"/>
    <p:sldId id="632" r:id="rId18"/>
    <p:sldId id="633" r:id="rId19"/>
    <p:sldId id="627" r:id="rId20"/>
    <p:sldId id="661" r:id="rId21"/>
    <p:sldId id="628" r:id="rId22"/>
    <p:sldId id="629" r:id="rId23"/>
    <p:sldId id="662" r:id="rId24"/>
    <p:sldId id="630" r:id="rId25"/>
    <p:sldId id="663" r:id="rId26"/>
    <p:sldId id="634" r:id="rId27"/>
    <p:sldId id="635" r:id="rId28"/>
    <p:sldId id="636" r:id="rId29"/>
    <p:sldId id="664" r:id="rId30"/>
    <p:sldId id="639" r:id="rId31"/>
    <p:sldId id="640" r:id="rId32"/>
    <p:sldId id="641" r:id="rId33"/>
    <p:sldId id="642" r:id="rId34"/>
    <p:sldId id="643" r:id="rId35"/>
    <p:sldId id="644" r:id="rId36"/>
    <p:sldId id="665" r:id="rId37"/>
    <p:sldId id="645" r:id="rId38"/>
    <p:sldId id="647" r:id="rId39"/>
    <p:sldId id="649" r:id="rId40"/>
    <p:sldId id="650" r:id="rId41"/>
    <p:sldId id="651" r:id="rId42"/>
    <p:sldId id="652" r:id="rId43"/>
    <p:sldId id="653" r:id="rId44"/>
    <p:sldId id="654" r:id="rId45"/>
    <p:sldId id="655" r:id="rId46"/>
    <p:sldId id="656" r:id="rId47"/>
    <p:sldId id="657" r:id="rId48"/>
    <p:sldId id="658" r:id="rId49"/>
    <p:sldId id="666" r:id="rId50"/>
    <p:sldId id="669" r:id="rId51"/>
    <p:sldId id="667" r:id="rId52"/>
    <p:sldId id="668" r:id="rId53"/>
    <p:sldId id="616" r:id="rId54"/>
    <p:sldId id="617" r:id="rId55"/>
    <p:sldId id="619" r:id="rId56"/>
    <p:sldId id="618" r:id="rId57"/>
    <p:sldId id="346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4472C4"/>
    <a:srgbClr val="03539E"/>
    <a:srgbClr val="00509A"/>
    <a:srgbClr val="FCC100"/>
    <a:srgbClr val="FF0000"/>
    <a:srgbClr val="7F7F7F"/>
    <a:srgbClr val="404040"/>
    <a:srgbClr val="26262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D97EE-96DD-41A0-B471-FB48213F57CB}" v="9" dt="2026-08-23T19:15:56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990" autoAdjust="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2.xml"/><Relationship Id="rId61" Type="http://schemas.openxmlformats.org/officeDocument/2006/relationships/presProps" Target="pres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handoutMaster" Target="handoutMasters/handoutMaster1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F963ED-470C-374F-FA93-EE896CE061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19329-D566-1216-82DE-860B88CE3D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79AE8-2921-4206-A740-E37681DC48F8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B6BF8-864A-022A-BB70-8D50B8327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5431A-1147-CD71-83A0-ACAA92549C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66624-23B6-42C7-9F96-EAA4AD450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951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3382E-39D2-214A-BD32-6A88F16428CB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B40E1-6B58-6542-B459-683BEC69D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117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25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F9729-A5C9-CCD3-BBC8-6F4C1696C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FCD86-551E-AA5B-DD40-AFBDA3667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90F9F-F598-E1FC-75DB-950B83349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766E5-A4CF-C4CB-3AC6-3C1EA86AF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2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9FFE6-400D-5F4F-E0BA-3707EB4B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9381E-C016-975E-4BA3-C0E74E6D5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EFFB2-AFA9-1892-8926-7347984E7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B3B17-1D22-2259-6512-8430CAC2C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49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CD01-9147-E324-1B52-752A162D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D52D4-575F-B533-8264-A1739C198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231DD-0254-DA63-1C91-446606094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E2386-F4D4-78A8-6EB9-51F27937A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83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17E7D-55BC-02BF-F949-F0553F1E3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72344-B7E8-04B3-D1D1-BE8FE9E79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45C82-82E1-8B3F-62B1-47C3E3EB2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2070A-C322-D045-1039-CFC0120E9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7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4E54-5604-D107-FEDB-1BF7AE05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1D591-0DA7-378D-5E63-8438F037D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8A216-B358-D042-1B56-3337190AF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C99C-2A49-22FE-751D-FD87029D4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58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83B7E-C41D-FB0D-37EA-C9C5842E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C9BB1-F16A-524B-DEFA-6BA38DCD9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CA5F0-7B5D-7A19-BD1D-D9B32CF73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F0A21-F81E-AA20-8F2B-3C5032EC5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67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D6C73-F937-8E4F-102E-6BCEECD6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9C82C-8A3E-02E2-3441-FE5B780DB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9C3F8-C328-7E61-94BC-29B45727B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2CB45-7C09-38C1-5DD7-491B547F7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80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18FE-AD4C-A833-C996-F4B75A36B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8E6C0-020A-BB35-5D78-D836F448B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AD6AF-360E-ACDA-06C8-AA9FF147E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27A08-89D1-2BF8-D5E8-012FACCF0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22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D0AD-89DE-DDCB-46AE-CAB39138C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7C2AC-99C1-F313-65EB-17319AB87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BD4EF-BDD1-B7B4-0B90-837E524E9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D973D-A445-27C5-0509-6377F3B06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6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0E50-97E4-28DE-B9F3-1E4ACEB0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08489-09FB-985C-4CDC-DCFF456AA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C355B-E478-DA9A-63E8-7BCA6AD5B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A8C42-D1EA-BF73-381B-A8730AA6C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38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CDEB-C67D-DDF3-E1FC-D5493B93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3D469-FDF1-8A45-9D1F-01FAABA47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B803A-59AD-52C0-F349-486AE33A5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6ED9D-3AF4-4887-D7C3-0232DF532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47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6DE7F-8CDD-E41E-4AF4-4F6B4C80E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4C2E6-910E-D0C6-54E1-3BC0B6C7A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C96CD-91D7-B5BF-8EAF-283F86A1B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226E7-EA83-99FE-B3E3-DC6B453CF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17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10D3-E825-3C21-8E50-412728D3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5F76B-EB1A-D2D2-E063-F0606C9A6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55E72-D2D3-AC23-7F8F-1E289C220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2CF86-7C8A-A33E-9C70-C148315BA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42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FB28-9E94-F0BC-D805-ED5588C0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034E2-8998-B80F-B023-CBF04AC7F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2D383-7BFA-97AC-35B2-AC364C21A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1A17-B6DA-2DCF-BE73-AEFDA9530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9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0334D-5552-9578-CFB2-0F27468D3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757A9-55CE-DD28-3D56-B687AD8E1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E3E6E-AB0B-3647-06B7-791824A21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270A5-27BA-F3D4-2118-400849E1C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9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6376-4A23-9BBB-A3F3-812DC55B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50CE3-518E-4937-AAB5-E65001B3A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C181C-BAA1-DCFD-D487-2F7DADA84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4FC64-EED4-CE66-77C6-6DDE8AF1C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24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13AF6-CBA8-FB3A-2DEE-B4FC6A18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09A32-2C55-5AE1-A263-6E267BB71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A6A60-64FD-C034-51FB-E6497B7B8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0CE3D-1C4D-C561-4F2B-9EB9EF405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07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42D3-23A6-0B8F-CF32-F830CC4C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1CCCF-F947-8D6D-B8A7-FFF534994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576F3-442D-4F63-4ED6-4B6B0CF19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744CD-9B26-D5DD-106F-5C07B2EAE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85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5E3B-FEC7-208B-1B66-4235D440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C93AB-D004-FD69-086E-D715BEA97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48F37-0F97-A2A4-D263-6366B5802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2D7C-18B5-19EA-232B-BE8CD7222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04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5E5E0-18C1-7973-A85B-73727EF12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E1D8D-8CEC-1126-8D7B-83CC3ECF3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CFDFE-B3D1-EE82-97D3-5B16AB2F7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B29B7-3D5D-DAAC-5BE9-F00A090CB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53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C0D58-2F7F-8B6B-22A4-55664245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287C7-9D26-D684-1776-1B0C1E454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F39EB-4430-D841-0C3E-D03699E3F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96C9A-124B-0E5A-7F2B-4616C86D9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253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B8C3-3545-726F-FAB5-E8830511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FBB4A-C1A7-5780-0F0A-9547A4A2E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01800-9949-34EF-6499-6297C27BF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E81E1-115B-54AF-6530-02C1F1DA0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88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0EA04-D793-02C5-3BA5-85F5E3AF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8A8D4-A67D-B486-C9AB-A5239AD10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87180-CD45-D2FE-21B4-5A5634125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D4345-BB8D-5A09-A312-11CACD095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66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F228-3FEC-E3DE-389F-428A0C1B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85019-72CE-6B7D-451B-729017F69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57361-6D16-E752-80AC-B6E1DC89A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6FDF4-4EB1-F310-BC0D-DD16A4846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579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61729-693C-D3A0-BFE2-FBB663893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EA4B1-C76A-92C8-0C66-898D1B6A0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29992-3315-61CE-272F-9C37111F6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26B44-DF66-D82F-EF13-892399102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951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4AF6-EE47-00D9-0423-02D836FB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9D44A-A186-078E-0DD6-C74149014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A1A4E-AECF-2226-1618-7387EA28D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C570A-CC66-F0A7-4DE5-9811FF7FC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278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1945-BB7A-F679-41C7-8E7525E08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B1C03-AD64-4E8E-F3F6-01A26E988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6DF58-4D43-7E84-C0E4-99D9012FE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988D0-8346-52BF-A232-E135AEDE7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189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F0F57-402D-1A17-8012-B7285E1F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50A13-F03E-C4EE-9001-A3D93130A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29821-2D62-129A-5580-6BE3E8FA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6DFD9-D178-588F-491E-19D500817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268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05BE0-808E-EC7A-8659-2FEB1D551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15572-003A-EE9F-9FE9-03A2B8C5F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91F14-F27E-A425-5457-798088419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A0F5E-1579-7467-3C35-9BB254A21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209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BA257-BC14-C90B-7C82-A9ADD0BE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996F2-178F-FF63-39F9-470721201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E268C-F314-B2FC-11E3-998C67571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C129F-7904-DAFD-F40F-FE6B8EDBB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746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1E36-8E45-58A4-2668-18F517141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94814-B7AF-D8D3-A42F-A094D97E6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DBCFE-E40C-D7D3-C32A-711204B05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7DDBB-34D7-DC4E-1DC0-8503FFC12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687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703A1-3CDE-9D07-6D3C-5EA9BEA3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08FE8-13D2-46A8-9CCC-43729FA32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4603D-C3F7-194F-A504-BEEE2787D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AE441-5842-A8FA-5948-51A1F0572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803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F0F22-B8AE-749C-AA18-764A25E9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E5F94-6D6F-DE02-1F93-2DB6521BB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C7E2F-429A-7EDD-06F5-AA3F48E7B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BF4A2-AAF6-1096-5BC2-D4CF80FA6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10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91B8-92DF-79A1-6D67-46391764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B1DF-1E4F-1C06-8663-614268946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8170F-A736-904C-0135-AA4D187C5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AADBE-087D-6205-B1B4-102F72014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967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197E-AD1A-33C7-6CD2-3CD7A00C5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B7B04-B3B0-9B96-5FBE-C087E4307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43321-927B-1842-0202-45A4765F0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A22C3-21DE-2ACF-72E3-753E0621E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263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AC7B-F1ED-ABDF-2CBA-D4CC4517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21EA8-1A4D-9A8B-7D65-059DEA012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AAEF8-4B1D-1586-FD75-37FEC3E1A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DCCE5-3AEA-38DD-0CD4-49B2DF753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087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07B99-E397-7C5A-0337-AE7D81D2A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8FEAD6-5FE2-5CB9-9712-EFB4DBC32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DE7FD-B39F-B82D-31F3-013D84628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6885C-BF77-7261-D9EC-9C7513825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997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38E6C-BF68-2789-7034-BBA7C66E1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20FF8-8C5C-3603-8421-18495D772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75807-27C2-A685-CBD7-2CFC8ADD5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2AD0D-3559-E4B5-1ADD-E10E6FD17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951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E1A5E-A850-CB17-492C-3F50106C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92826-C059-A0A0-5B83-73361A8D2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0186A-EAAA-490A-13AC-124D4CA7B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225C1-C94A-40EF-BDA9-C00C07C43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593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9C734-6975-8618-0EFB-D3D009148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0B889-F269-D184-1361-84A8D698B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09F89-2BE9-6D0A-2BAA-1D36724D2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AC6A2-F415-DD49-DE66-9F8E1C401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003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4E0B0-F15C-5D7C-18AC-6CDBD7BB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EC13D-DB62-6D29-3C7F-EDD02B964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2CE17-A8D4-55AD-FF83-534E7E2B8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261C2-40B1-FFD7-E5E0-7AB50D5F6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254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BA6D-F021-EEC2-38ED-D3C2D113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AE916-18C1-F01D-DF9D-51F8C6932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F31FF-7D08-284C-8A2A-E6180D32F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6BA8-B241-06AF-F1D3-A09A2AB7E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572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FEE2-482F-C7C0-5F45-B9D1310D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B72AA-D8C6-AFC2-8D1A-E34C33106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86825-30E7-6CF6-1AB8-F71F5C793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10110-700F-2F29-295D-786EDBC09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175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89769-C65D-4513-C383-068F42FF3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B122A-395C-2BE5-ECA0-2F7B1933A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EC032-3EFB-14E5-B70B-E41E99503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0D832-6BB4-D715-2BB0-5ECFD103B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806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41331-34DD-15DE-81B2-0393AE14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6EE0A-F8BD-C609-88AF-B9B892458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B1DF3-B215-032E-57D7-72AC41194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D6DFD-9C28-624F-5311-2C4E8FF9A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466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261C-F250-ECA0-DDCA-2BC9CF7D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98538-67B1-3A55-BC76-823A352B3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63949-1998-A676-F0B1-4F5BC068A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41535-11CB-03B7-1AE5-281C9E072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694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29F0C-CD20-CF0E-3478-2D6879D90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4230B-BFFE-C001-B771-7BDEE370E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C1063-AD72-A553-5B50-ACDCFFAFD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E0637-0B50-1EBA-0733-C020A80FA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278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0EBE0-67C9-E7E0-285D-67B8A885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BB594-44B0-9452-AADE-7E00E4B1B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A303E-37A7-D212-FFDC-B395AE2FC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CA091-2B04-D589-D4D9-7319FB71C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082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3D38E-08BC-A05F-5B7A-67A17C63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09CCA-E7A6-D5EE-701C-2AB6AD3BA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31E78-21D5-3635-8D61-1D3F8A864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80571-CFC2-6736-B215-5947BCEBC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3697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033A3-5A1C-150A-44D6-3031094A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768E0-16EC-BF68-C624-CCCFC42CA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15FCD-E3C3-3F64-C46C-9886A1E82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42D0E-7743-A611-4093-B03BFDDC3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7938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D344F-CD04-F5C5-31AA-0C2C3F14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C70ED-8907-7168-04EA-29B85ACA9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71069-6DC0-5205-D4DC-021E1404E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2B171-DF40-6848-012C-F9BD7B808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230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6B40E1-6B58-6542-B459-683BEC69D2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181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lide">
    <p:bg>
      <p:bgPr>
        <a:solidFill>
          <a:srgbClr val="0050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rgbClr val="0050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3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and Eag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720433-1BF1-DD46-86BC-2B9E6B0DF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52FCD5-ABEC-C91D-A839-77B4DC394E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1732"/>
          <a:stretch>
            <a:fillRect/>
          </a:stretch>
        </p:blipFill>
        <p:spPr>
          <a:xfrm>
            <a:off x="9256236" y="169652"/>
            <a:ext cx="1197821" cy="5155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D78B6B-0FEF-AFAC-C257-25C45D13A2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54057" y="170035"/>
            <a:ext cx="1503926" cy="51550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78B25B1-1F96-6266-AA1E-AC6E29A1C726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FE07-E262-8340-BC14-9BBFD105B2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D6C0D-EBDB-8048-8A42-C8B750D3A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mbry-Riddle wordmark.">
            <a:extLst>
              <a:ext uri="{FF2B5EF4-FFF2-40B4-BE49-F238E27FC236}">
                <a16:creationId xmlns:a16="http://schemas.microsoft.com/office/drawing/2014/main" id="{41909F1C-71CB-D24C-AAC9-99E098F8C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7C7A9D-667E-6590-3483-F426C7036F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60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DD172-42CC-124A-9EAD-DBF3A73E0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mbry-Riddle wordmark">
            <a:extLst>
              <a:ext uri="{FF2B5EF4-FFF2-40B4-BE49-F238E27FC236}">
                <a16:creationId xmlns:a16="http://schemas.microsoft.com/office/drawing/2014/main" id="{1E80EC0A-110A-E24C-8252-9E6BDE8B2B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2763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3AEF34-2AD0-BCD3-F0B7-850FE52B2D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947" y="22732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0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07C24F-5714-9146-B66B-2C051B258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5" y="2416629"/>
            <a:ext cx="12187845" cy="44413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3695F-4D59-104F-9559-894258EB7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mbry-Riddle wordmark">
            <a:extLst>
              <a:ext uri="{FF2B5EF4-FFF2-40B4-BE49-F238E27FC236}">
                <a16:creationId xmlns:a16="http://schemas.microsoft.com/office/drawing/2014/main" id="{59E19346-CE04-0C4F-9903-979A2D6E78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8DFD92C-423C-C17B-E7EB-6462413FF5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9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FE76E5C-EF04-924F-B550-7B13EDC8D90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2454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pic>
        <p:nvPicPr>
          <p:cNvPr id="6" name="Picture 5" descr="Embry-Riddle wordmark.">
            <a:extLst>
              <a:ext uri="{FF2B5EF4-FFF2-40B4-BE49-F238E27FC236}">
                <a16:creationId xmlns:a16="http://schemas.microsoft.com/office/drawing/2014/main" id="{8FF38597-57EC-F849-BDEE-27EE30A0B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E19472-BAAE-ADBD-DCFA-C55EF39FA3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4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Embry-Riddle wordmark">
            <a:extLst>
              <a:ext uri="{FF2B5EF4-FFF2-40B4-BE49-F238E27FC236}">
                <a16:creationId xmlns:a16="http://schemas.microsoft.com/office/drawing/2014/main" id="{DC902EFC-D42D-5D4C-8A23-40A659BF4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F0FC16EF-E998-554F-A565-990A0930E11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2454" y="1096831"/>
            <a:ext cx="526774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4D8B2EE7-F678-644E-9B74-ED8D8C4BC1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45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0FD87CB3-7E5E-DF4B-BF7D-C87531280D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484D61-08B3-2848-58E0-A5C30740AB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7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Embry-Riddle wordmark">
            <a:extLst>
              <a:ext uri="{FF2B5EF4-FFF2-40B4-BE49-F238E27FC236}">
                <a16:creationId xmlns:a16="http://schemas.microsoft.com/office/drawing/2014/main" id="{093343DA-253A-5240-AC7D-1B8C7493CD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6F01912-8A2F-3D4C-B185-CB877EFEA24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2454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9DF6E0-B234-7F41-BF47-8693198B5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67924" y="1096831"/>
            <a:ext cx="2532270" cy="2534279"/>
          </a:xfrm>
          <a:prstGeom prst="rect">
            <a:avLst/>
          </a:prstGeom>
          <a:solidFill>
            <a:srgbClr val="FCC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DEB0ADEB-C167-3146-9A39-32EA9FBC322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1197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9D8CFFDA-3410-724F-904A-AE70C9D0DA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4744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6D4BC0-1008-3D42-8901-29757DC16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2454" y="3847867"/>
            <a:ext cx="2532270" cy="2534279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8572892F-1839-064E-A139-0CEA16D8D6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1979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90F46A-CA4A-9645-92EF-4A3C9518F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47450" y="3847867"/>
            <a:ext cx="2553612" cy="2535238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D6CEE8-B837-743C-BEA2-7A278E02DE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3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de Photo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2000" cy="329836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4E21C-D8F7-1744-86C3-3A232A5D7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4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Blue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FEF6E-DFBA-9E4C-94AE-F73781D3D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0632"/>
            <a:ext cx="12191999" cy="6727368"/>
          </a:xfrm>
          <a:prstGeom prst="rect">
            <a:avLst/>
          </a:prstGeom>
          <a:solidFill>
            <a:srgbClr val="00509A">
              <a:alpha val="88000"/>
            </a:srgb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01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795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lide">
    <p:bg>
      <p:bgPr>
        <a:solidFill>
          <a:srgbClr val="0050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rgbClr val="0050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20581F-C80B-97F0-2724-0BF9CC217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33" y="6036866"/>
            <a:ext cx="4200597" cy="707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1746F1-78C8-5B61-C422-11178513F5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4764"/>
          <a:stretch>
            <a:fillRect/>
          </a:stretch>
        </p:blipFill>
        <p:spPr>
          <a:xfrm>
            <a:off x="4293730" y="6036866"/>
            <a:ext cx="1743003" cy="7078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2A04C9-DE55-4E77-5D56-B88F6C0940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40516" y="6035754"/>
            <a:ext cx="2058351" cy="7089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351B22-EA52-8D85-D050-8BBE2C52FD8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45782" y="6034640"/>
            <a:ext cx="1994734" cy="70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60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47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56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and Eag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720433-1BF1-DD46-86BC-2B9E6B0DF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Embry-Riddle wordmark.">
            <a:extLst>
              <a:ext uri="{FF2B5EF4-FFF2-40B4-BE49-F238E27FC236}">
                <a16:creationId xmlns:a16="http://schemas.microsoft.com/office/drawing/2014/main" id="{D5C2ECB1-A06C-5C4F-BDAC-D3DA513A00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92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D6C0D-EBDB-8048-8A42-C8B750D3A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mbry-Riddle wordmark.">
            <a:extLst>
              <a:ext uri="{FF2B5EF4-FFF2-40B4-BE49-F238E27FC236}">
                <a16:creationId xmlns:a16="http://schemas.microsoft.com/office/drawing/2014/main" id="{41909F1C-71CB-D24C-AAC9-99E098F8C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095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DD172-42CC-124A-9EAD-DBF3A73E0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mbry-Riddle wordmark">
            <a:extLst>
              <a:ext uri="{FF2B5EF4-FFF2-40B4-BE49-F238E27FC236}">
                <a16:creationId xmlns:a16="http://schemas.microsoft.com/office/drawing/2014/main" id="{1E80EC0A-110A-E24C-8252-9E6BDE8B2B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2763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96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07C24F-5714-9146-B66B-2C051B258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5" y="2416629"/>
            <a:ext cx="12187845" cy="44413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3695F-4D59-104F-9559-894258EB7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mbry-Riddle wordmark">
            <a:extLst>
              <a:ext uri="{FF2B5EF4-FFF2-40B4-BE49-F238E27FC236}">
                <a16:creationId xmlns:a16="http://schemas.microsoft.com/office/drawing/2014/main" id="{59E19346-CE04-0C4F-9903-979A2D6E78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595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FE76E5C-EF04-924F-B550-7B13EDC8D90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2454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pic>
        <p:nvPicPr>
          <p:cNvPr id="6" name="Picture 5" descr="Embry-Riddle wordmark.">
            <a:extLst>
              <a:ext uri="{FF2B5EF4-FFF2-40B4-BE49-F238E27FC236}">
                <a16:creationId xmlns:a16="http://schemas.microsoft.com/office/drawing/2014/main" id="{8FF38597-57EC-F849-BDEE-27EE30A0B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137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Embry-Riddle wordmark">
            <a:extLst>
              <a:ext uri="{FF2B5EF4-FFF2-40B4-BE49-F238E27FC236}">
                <a16:creationId xmlns:a16="http://schemas.microsoft.com/office/drawing/2014/main" id="{DC902EFC-D42D-5D4C-8A23-40A659BF4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F0FC16EF-E998-554F-A565-990A0930E11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2454" y="1096831"/>
            <a:ext cx="526774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4D8B2EE7-F678-644E-9B74-ED8D8C4BC1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45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0FD87CB3-7E5E-DF4B-BF7D-C87531280D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1253305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Embry-Riddle wordmark">
            <a:extLst>
              <a:ext uri="{FF2B5EF4-FFF2-40B4-BE49-F238E27FC236}">
                <a16:creationId xmlns:a16="http://schemas.microsoft.com/office/drawing/2014/main" id="{093343DA-253A-5240-AC7D-1B8C7493CD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6F01912-8A2F-3D4C-B185-CB877EFEA24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2454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9DF6E0-B234-7F41-BF47-8693198B5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67924" y="1096831"/>
            <a:ext cx="2532270" cy="2534279"/>
          </a:xfrm>
          <a:prstGeom prst="rect">
            <a:avLst/>
          </a:prstGeom>
          <a:solidFill>
            <a:srgbClr val="FCC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DEB0ADEB-C167-3146-9A39-32EA9FBC322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1197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9D8CFFDA-3410-724F-904A-AE70C9D0DA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4744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6D4BC0-1008-3D42-8901-29757DC16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2454" y="3847867"/>
            <a:ext cx="2532270" cy="2534279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8572892F-1839-064E-A139-0CEA16D8D6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1979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90F46A-CA4A-9645-92EF-4A3C9518F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47450" y="3847867"/>
            <a:ext cx="2553612" cy="2535238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211080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de Photo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2000" cy="329836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4E21C-D8F7-1744-86C3-3A232A5D7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50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Blue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FEF6E-DFBA-9E4C-94AE-F73781D3D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0632"/>
            <a:ext cx="12191999" cy="6727368"/>
          </a:xfrm>
          <a:prstGeom prst="rect">
            <a:avLst/>
          </a:prstGeom>
          <a:solidFill>
            <a:srgbClr val="00509A">
              <a:alpha val="88000"/>
            </a:srgb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527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14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FD283-F7F1-EA40-B1FF-779E5473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8E710-1888-764D-8865-43CB26551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68175-0C34-424F-AC9D-533EC2981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FBAB-E6EE-3847-8E5C-70BB30378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CAD7B-BBB4-074D-8042-366791D90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FE07-E262-8340-BC14-9BBFD105B2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90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70" r:id="rId3"/>
    <p:sldLayoutId id="2147483649" r:id="rId4"/>
    <p:sldLayoutId id="2147483661" r:id="rId5"/>
    <p:sldLayoutId id="2147483662" r:id="rId6"/>
    <p:sldLayoutId id="2147483667" r:id="rId7"/>
    <p:sldLayoutId id="2147483671" r:id="rId8"/>
    <p:sldLayoutId id="2147483669" r:id="rId9"/>
    <p:sldLayoutId id="2147483672" r:id="rId10"/>
    <p:sldLayoutId id="2147483664" r:id="rId11"/>
    <p:sldLayoutId id="2147483665" r:id="rId12"/>
    <p:sldLayoutId id="214748365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bg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FD283-F7F1-EA40-B1FF-779E5473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8E710-1888-764D-8865-43CB26551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68175-0C34-424F-AC9D-533EC2981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FBAB-E6EE-3847-8E5C-70BB30378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CAD7B-BBB4-074D-8042-366791D90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FE07-E262-8340-BC14-9BBFD105B2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4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bg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0.jpeg"/><Relationship Id="rId4" Type="http://schemas.openxmlformats.org/officeDocument/2006/relationships/image" Target="../media/image3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8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11" Type="http://schemas.openxmlformats.org/officeDocument/2006/relationships/image" Target="../media/image54.png"/><Relationship Id="rId5" Type="http://schemas.openxmlformats.org/officeDocument/2006/relationships/image" Target="../media/image52.png"/><Relationship Id="rId10" Type="http://schemas.openxmlformats.org/officeDocument/2006/relationships/image" Target="../media/image59.png"/><Relationship Id="rId4" Type="http://schemas.openxmlformats.org/officeDocument/2006/relationships/image" Target="../media/image49.png"/><Relationship Id="rId9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11" Type="http://schemas.openxmlformats.org/officeDocument/2006/relationships/image" Target="../media/image67.png"/><Relationship Id="rId5" Type="http://schemas.openxmlformats.org/officeDocument/2006/relationships/image" Target="../media/image63.png"/><Relationship Id="rId10" Type="http://schemas.openxmlformats.org/officeDocument/2006/relationships/image" Target="../media/image66.png"/><Relationship Id="rId4" Type="http://schemas.openxmlformats.org/officeDocument/2006/relationships/image" Target="../media/image62.png"/><Relationship Id="rId9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5.png"/><Relationship Id="rId4" Type="http://schemas.openxmlformats.org/officeDocument/2006/relationships/image" Target="../media/image8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8.png"/><Relationship Id="rId4" Type="http://schemas.openxmlformats.org/officeDocument/2006/relationships/image" Target="../media/image84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1.png"/><Relationship Id="rId5" Type="http://schemas.openxmlformats.org/officeDocument/2006/relationships/image" Target="../media/image87.png"/><Relationship Id="rId4" Type="http://schemas.openxmlformats.org/officeDocument/2006/relationships/image" Target="../media/image9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7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4.png"/><Relationship Id="rId5" Type="http://schemas.openxmlformats.org/officeDocument/2006/relationships/image" Target="../media/image99.png"/><Relationship Id="rId4" Type="http://schemas.openxmlformats.org/officeDocument/2006/relationships/image" Target="../media/image10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53E3-4FBA-FFD8-9B37-63153166D2D6}"/>
              </a:ext>
            </a:extLst>
          </p:cNvPr>
          <p:cNvSpPr txBox="1"/>
          <p:nvPr/>
        </p:nvSpPr>
        <p:spPr>
          <a:xfrm>
            <a:off x="471236" y="565546"/>
            <a:ext cx="11249526" cy="2123634"/>
          </a:xfrm>
          <a:prstGeom prst="rect">
            <a:avLst/>
          </a:prstGeom>
        </p:spPr>
        <p:txBody>
          <a:bodyPr wrap="square" lIns="91416" tIns="45708" rIns="91416" bIns="45708" rtlCol="0" anchor="t">
            <a:spAutoFit/>
          </a:bodyPr>
          <a:lstStyle/>
          <a:p>
            <a:pPr algn="ctr" fontAlgn="auto">
              <a:spcAft>
                <a:spcPts val="0"/>
              </a:spcAft>
              <a:tabLst>
                <a:tab pos="3590925" algn="l"/>
              </a:tabLst>
            </a:pPr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NUMERICAL INVESTIGATION OF SHOCK-INDUCED DEFORMATION OF BUBBLE-LADEN DROPLETS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09F07608-81EE-13F6-4FAB-A83392F7F356}"/>
              </a:ext>
            </a:extLst>
          </p:cNvPr>
          <p:cNvSpPr txBox="1">
            <a:spLocks/>
          </p:cNvSpPr>
          <p:nvPr/>
        </p:nvSpPr>
        <p:spPr>
          <a:xfrm>
            <a:off x="2137017" y="3021960"/>
            <a:ext cx="7917964" cy="25545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Juan P. Roldan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endParaRPr lang="en-US" sz="2000" dirty="0">
              <a:solidFill>
                <a:schemeClr val="bg1"/>
              </a:solidFill>
              <a:latin typeface="Arial"/>
              <a:ea typeface="Roboto" panose="02000000000000000000" pitchFamily="2" charset="0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Dr. Michael Kinzel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Computational Fluids and Aerodynamics Lab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Dr. Guillermo Jaramillo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IMPETUS INDOMITUS, Universidad del Valle, CO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endParaRPr lang="en-US" sz="2000" dirty="0">
              <a:solidFill>
                <a:schemeClr val="bg1"/>
              </a:solidFill>
              <a:latin typeface="Arial"/>
              <a:ea typeface="Roboto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i="1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M.S. Aerospace Engineering Thesis: Defense (Summer 2026)</a:t>
            </a:r>
            <a:endParaRPr lang="en-US" sz="2000" i="1" dirty="0">
              <a:solidFill>
                <a:schemeClr val="bg1"/>
              </a:solidFill>
              <a:latin typeface="Arial"/>
              <a:ea typeface="Roboto" panose="02000000000000000000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457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7F336-F176-1CDB-3773-D5E94EAA4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79089F-B59F-DC56-C76E-A150F76263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700969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Presentation Outline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07DAF6-BBF9-9B9F-5D36-7A003D2FB0D0}"/>
              </a:ext>
            </a:extLst>
          </p:cNvPr>
          <p:cNvSpPr/>
          <p:nvPr/>
        </p:nvSpPr>
        <p:spPr>
          <a:xfrm>
            <a:off x="783845" y="1224165"/>
            <a:ext cx="10569955" cy="44096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Motivation &amp; Research Question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Background &amp; Knowledge Gaps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Methodology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Clean Baseline Results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Gas-Seeded Parametric Results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Conclusions &amp; Future Work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0A278D-D358-9BD8-71A3-34F4C00A7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175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C3901-F546-2F8A-0D3D-F88DEC15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CACF27-85D5-300A-8719-59EB30A165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Motivation – Rain Erosion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4B2C61-63E1-00F5-425F-EFB5C2EBC174}"/>
              </a:ext>
            </a:extLst>
          </p:cNvPr>
          <p:cNvSpPr/>
          <p:nvPr/>
        </p:nvSpPr>
        <p:spPr>
          <a:xfrm>
            <a:off x="783845" y="1088998"/>
            <a:ext cx="10569955" cy="21185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Hypersonic glide vehicles encounter atmospheric hydrometeors during terminal descent at 0–7 km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Micron cloud droplets to millimeter raindrops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Cumulative droplet impacts roughen the surface → early boundary-layer transition → heating/drag/control-authority penalties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These margins are already thin in air-breathing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37972B-24AB-9696-49FC-DDE80082E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C17CC1-F3A5-A190-3E73-911F0C3882BA}"/>
              </a:ext>
            </a:extLst>
          </p:cNvPr>
          <p:cNvGrpSpPr/>
          <p:nvPr/>
        </p:nvGrpSpPr>
        <p:grpSpPr>
          <a:xfrm>
            <a:off x="1927952" y="3207527"/>
            <a:ext cx="8336096" cy="3513948"/>
            <a:chOff x="1927952" y="3207527"/>
            <a:chExt cx="8336096" cy="351394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EEC41E-C00B-0917-9D1F-B6EF3ED2B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7952" y="3207527"/>
              <a:ext cx="8281739" cy="300025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454044-BF3B-0F96-B476-987162112455}"/>
                </a:ext>
              </a:extLst>
            </p:cNvPr>
            <p:cNvSpPr txBox="1"/>
            <p:nvPr/>
          </p:nvSpPr>
          <p:spPr>
            <a:xfrm>
              <a:off x="1982309" y="6136700"/>
              <a:ext cx="82817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Schematic of atmospheric droplets interacting with the bow shock of a hypersonic vehicle before and after shock passage. Adapted from Aguilera 2023.</a:t>
              </a:r>
              <a:endParaRPr lang="en-US" sz="1600" i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9D8F72-8114-509D-7058-553EDD26F9DB}"/>
              </a:ext>
            </a:extLst>
          </p:cNvPr>
          <p:cNvGrpSpPr/>
          <p:nvPr/>
        </p:nvGrpSpPr>
        <p:grpSpPr>
          <a:xfrm>
            <a:off x="4928612" y="3514311"/>
            <a:ext cx="3326128" cy="2158950"/>
            <a:chOff x="4928612" y="3514311"/>
            <a:chExt cx="3326128" cy="2158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DC2CC75-1ACD-BD99-01DA-60D930C90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176" t="19586" b="9328"/>
            <a:stretch>
              <a:fillRect/>
            </a:stretch>
          </p:blipFill>
          <p:spPr>
            <a:xfrm rot="10800000">
              <a:off x="4928613" y="3514311"/>
              <a:ext cx="1719001" cy="1762261"/>
            </a:xfrm>
            <a:prstGeom prst="rect">
              <a:avLst/>
            </a:prstGeom>
            <a:ln w="57150">
              <a:solidFill>
                <a:srgbClr val="03539E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E96DD2A-0870-BA1F-7177-AA4FF3F88032}"/>
                </a:ext>
              </a:extLst>
            </p:cNvPr>
            <p:cNvSpPr/>
            <p:nvPr/>
          </p:nvSpPr>
          <p:spPr>
            <a:xfrm>
              <a:off x="7865961" y="4707656"/>
              <a:ext cx="388779" cy="388779"/>
            </a:xfrm>
            <a:prstGeom prst="rect">
              <a:avLst/>
            </a:prstGeom>
            <a:ln w="28575">
              <a:solidFill>
                <a:srgbClr val="00509A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3C3EDA-B33A-5187-43BE-B9D10C7F9CC8}"/>
                </a:ext>
              </a:extLst>
            </p:cNvPr>
            <p:cNvCxnSpPr>
              <a:cxnSpLocks/>
              <a:stCxn id="4" idx="1"/>
              <a:endCxn id="5" idx="1"/>
            </p:cNvCxnSpPr>
            <p:nvPr/>
          </p:nvCxnSpPr>
          <p:spPr>
            <a:xfrm>
              <a:off x="6647614" y="4395441"/>
              <a:ext cx="1218347" cy="506605"/>
            </a:xfrm>
            <a:prstGeom prst="line">
              <a:avLst/>
            </a:prstGeom>
            <a:ln w="38100">
              <a:solidFill>
                <a:srgbClr val="0050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B02E5C-2604-30C0-C9EB-4C700FE5EC7A}"/>
                </a:ext>
              </a:extLst>
            </p:cNvPr>
            <p:cNvSpPr txBox="1"/>
            <p:nvPr/>
          </p:nvSpPr>
          <p:spPr>
            <a:xfrm>
              <a:off x="4928612" y="5365484"/>
              <a:ext cx="1719002" cy="3077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3539E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latin typeface="Arial"/>
                  <a:ea typeface="Open Sans"/>
                  <a:cs typeface="Arial"/>
                </a:rPr>
                <a:t>Dworzanczyk</a:t>
              </a:r>
              <a:r>
                <a:rPr lang="en-US" sz="1400" dirty="0">
                  <a:latin typeface="Arial"/>
                  <a:ea typeface="Open Sans"/>
                  <a:cs typeface="Arial"/>
                </a:rPr>
                <a:t> 2025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645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5EBE-D576-90A7-94C4-3FA4AD103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470346-7A7A-DAA1-1207-A950A07104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Motivation – Rain Erosion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10BCE8F-CFA0-6CD2-A4E7-F3CE323D4639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872034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Impact loading scales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~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𝜌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 single 2mm raindrop can exert up to 40kN of force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10BCE8F-CFA0-6CD2-A4E7-F3CE323D46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872034"/>
              </a:xfrm>
              <a:prstGeom prst="rect">
                <a:avLst/>
              </a:prstGeom>
              <a:blipFill>
                <a:blip r:embed="rId3"/>
                <a:stretch>
                  <a:fillRect l="-404" b="-10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670979-A610-8C7B-D5C3-69B31AF7D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F93EF-270B-9922-E5EE-9B5BF4EBD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99" y="2111099"/>
            <a:ext cx="4320891" cy="37267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9DB5B4-AF45-AADF-F863-8C3BADC30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707" y="791749"/>
            <a:ext cx="3741402" cy="26372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0EAB4B-4B4A-7617-D7F1-DCBA177221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646539" y="3473250"/>
            <a:ext cx="1533739" cy="283884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09EE85B-C9DC-4AA0-5138-A15BDA0A20F5}"/>
              </a:ext>
            </a:extLst>
          </p:cNvPr>
          <p:cNvSpPr txBox="1"/>
          <p:nvPr/>
        </p:nvSpPr>
        <p:spPr>
          <a:xfrm>
            <a:off x="562899" y="5861518"/>
            <a:ext cx="43208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View of hypersonic vehicle terminal dive phase (Aguilera 2023).</a:t>
            </a:r>
            <a:endParaRPr lang="en-US" sz="160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349E4F-A21F-CC1C-21C6-B2AAB374FDFB}"/>
              </a:ext>
            </a:extLst>
          </p:cNvPr>
          <p:cNvSpPr txBox="1"/>
          <p:nvPr/>
        </p:nvSpPr>
        <p:spPr>
          <a:xfrm>
            <a:off x="7542707" y="3429000"/>
            <a:ext cx="381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4mm droplet impact on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radome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at Mach 3 (Moylan 2013).</a:t>
            </a:r>
            <a:endParaRPr lang="en-US" sz="1600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1CC720-1732-D881-48E7-6353FDCC8F9A}"/>
              </a:ext>
            </a:extLst>
          </p:cNvPr>
          <p:cNvSpPr txBox="1"/>
          <p:nvPr/>
        </p:nvSpPr>
        <p:spPr>
          <a:xfrm>
            <a:off x="7506768" y="5715559"/>
            <a:ext cx="381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Vehicle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nosetip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post flight through clouds (Sandia National Labs).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31292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B976-08FC-9476-11C3-E5D94B36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E9A8A3-8F53-866B-692B-0E494A71BE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Motivation – Drop Acoustics and Rain Formation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749DCE-6AD9-DAB0-57B6-A409DBB7B29A}"/>
              </a:ext>
            </a:extLst>
          </p:cNvPr>
          <p:cNvSpPr/>
          <p:nvPr/>
        </p:nvSpPr>
        <p:spPr>
          <a:xfrm>
            <a:off x="783845" y="1088998"/>
            <a:ext cx="10569955" cy="17030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Shock transmission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  <a:sym typeface="Wingdings" panose="05000000000000000000" pitchFamily="2" charset="2"/>
              </a:rPr>
              <a:t> internal wave dynamics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  <a:sym typeface="Wingdings" panose="05000000000000000000" pitchFamily="2" charset="2"/>
              </a:rPr>
              <a:t>Reflections / expansion waves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Cloud droplets and raindrops form through condensation on suspended aerosol particles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May trap microscopic gas pockets (heterogenous nuclei)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0783E-A075-A48B-514C-4B5576AC8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0DAC6DA-A869-987B-9B22-637BC20230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1106435"/>
                  </p:ext>
                </p:extLst>
              </p:nvPr>
            </p:nvGraphicFramePr>
            <p:xfrm>
              <a:off x="5288506" y="3475575"/>
              <a:ext cx="6644188" cy="2392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07870">
                      <a:extLst>
                        <a:ext uri="{9D8B030D-6E8A-4147-A177-3AD203B41FA5}">
                          <a16:colId xmlns:a16="http://schemas.microsoft.com/office/drawing/2014/main" val="2774158782"/>
                        </a:ext>
                      </a:extLst>
                    </a:gridCol>
                    <a:gridCol w="1526985">
                      <a:extLst>
                        <a:ext uri="{9D8B030D-6E8A-4147-A177-3AD203B41FA5}">
                          <a16:colId xmlns:a16="http://schemas.microsoft.com/office/drawing/2014/main" val="338392577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9728048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Particle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Diameter, </a:t>
                          </a:r>
                          <a:r>
                            <a:rPr lang="el-GR" dirty="0"/>
                            <a:t>μ</a:t>
                          </a:r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Terminal velocity, m s</a:t>
                          </a:r>
                          <a:r>
                            <a:rPr lang="en-US" baseline="30000" dirty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2999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condensation nucleus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dirty="0"/>
                            <a:t> 10</a:t>
                          </a:r>
                          <a:r>
                            <a:rPr lang="en-US" baseline="30000" dirty="0"/>
                            <a:t>-6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1294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cloud drop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2345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Cloud drop / raindrop conventional borderline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846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raindrop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6.50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34036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0DAC6DA-A869-987B-9B22-637BC20230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1106435"/>
                  </p:ext>
                </p:extLst>
              </p:nvPr>
            </p:nvGraphicFramePr>
            <p:xfrm>
              <a:off x="5288506" y="3475575"/>
              <a:ext cx="6644188" cy="2392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07870">
                      <a:extLst>
                        <a:ext uri="{9D8B030D-6E8A-4147-A177-3AD203B41FA5}">
                          <a16:colId xmlns:a16="http://schemas.microsoft.com/office/drawing/2014/main" val="2774158782"/>
                        </a:ext>
                      </a:extLst>
                    </a:gridCol>
                    <a:gridCol w="1526985">
                      <a:extLst>
                        <a:ext uri="{9D8B030D-6E8A-4147-A177-3AD203B41FA5}">
                          <a16:colId xmlns:a16="http://schemas.microsoft.com/office/drawing/2014/main" val="338392577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9728048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Particle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Diameter, </a:t>
                          </a:r>
                          <a:r>
                            <a:rPr lang="el-GR" dirty="0"/>
                            <a:t>μ</a:t>
                          </a:r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Terminal velocity, m s</a:t>
                          </a:r>
                          <a:r>
                            <a:rPr lang="en-US" baseline="30000" dirty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299924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condensation nucleus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5393" t="-62857" r="-899" b="-23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1294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cloud drop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234536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Cloud drop / raindrop conventional borderline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846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raindrop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6.50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34036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9E8C7C4-66D3-8ED5-0366-AE631058A079}"/>
              </a:ext>
            </a:extLst>
          </p:cNvPr>
          <p:cNvSpPr txBox="1"/>
          <p:nvPr/>
        </p:nvSpPr>
        <p:spPr>
          <a:xfrm>
            <a:off x="5288507" y="5868255"/>
            <a:ext cx="6644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Typical sizes and terminal velocities of liquid particles in clouds (Aguilera 2023).</a:t>
            </a:r>
            <a:endParaRPr lang="en-US" sz="16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146A3A-2B42-AC28-5416-66B5D1936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53" y="3130194"/>
            <a:ext cx="4331232" cy="30065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8969F1-8C9B-4A71-1863-41D93FE3FAEB}"/>
              </a:ext>
            </a:extLst>
          </p:cNvPr>
          <p:cNvSpPr txBox="1"/>
          <p:nvPr/>
        </p:nvSpPr>
        <p:spPr>
          <a:xfrm>
            <a:off x="558054" y="6136700"/>
            <a:ext cx="43312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Progression of droplet internal waves 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Biasiori-Poulanges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2023).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28902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406CA-2BAA-1ECF-F08F-7506744B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6554C8B-55DE-8FEE-68A9-4052773250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Scope and Objectives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625431-982E-126D-7216-46C7BAD4373A}"/>
              </a:ext>
            </a:extLst>
          </p:cNvPr>
          <p:cNvSpPr/>
          <p:nvPr/>
        </p:nvSpPr>
        <p:spPr>
          <a:xfrm>
            <a:off x="783845" y="1088998"/>
            <a:ext cx="10569955" cy="46115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Can the consideration of pre-existing nuclei measurably affect droplet deformation?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Computationally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study the role of pre-existing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non-condensable gas nuclei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in the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early-time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response of a shock-loaded liquid droplet.</a:t>
            </a:r>
            <a:endParaRPr lang="en-US" b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Objectives: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Develop and verify a cylindrical Euler-Lagrange bubble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Benchmark the compressible multiphase framework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Characterize the “clean” shock-droplet baseline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Quantify the mechanical response of embedded gas nuclei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Assess the impact of the bubble response on the droplet pressure field and deformation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4F5A101-3B6C-A535-DDBF-9B9C4E8BF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39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B36C-D031-7F54-466B-0686EEFF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D113EF-A25C-55FB-714C-35923D1A1B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Literature: Classical Shock-Droplet Breakup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F7A2A5-5F2D-4D4B-4818-7C8E5ED3FF9E}"/>
              </a:ext>
            </a:extLst>
          </p:cNvPr>
          <p:cNvSpPr/>
          <p:nvPr/>
        </p:nvSpPr>
        <p:spPr>
          <a:xfrm>
            <a:off x="783845" y="1088998"/>
            <a:ext cx="10569955" cy="87203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Early shock-tube studies established the canonical macroscopic breakup sequence and the characteristic breakup timescale.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740006-13D7-49E8-E5C9-D905EC097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D02F7DB-F315-B47D-9EA8-316F9213ED57}"/>
              </a:ext>
            </a:extLst>
          </p:cNvPr>
          <p:cNvCxnSpPr>
            <a:cxnSpLocks/>
          </p:cNvCxnSpPr>
          <p:nvPr/>
        </p:nvCxnSpPr>
        <p:spPr>
          <a:xfrm>
            <a:off x="526275" y="2610854"/>
            <a:ext cx="1113945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519EDF-DDA7-2999-3458-FDDC96063440}"/>
              </a:ext>
            </a:extLst>
          </p:cNvPr>
          <p:cNvCxnSpPr/>
          <p:nvPr/>
        </p:nvCxnSpPr>
        <p:spPr>
          <a:xfrm>
            <a:off x="1988110" y="2225842"/>
            <a:ext cx="0" cy="77002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148E60-7E4D-F5D3-4E69-1A033B476AF9}"/>
              </a:ext>
            </a:extLst>
          </p:cNvPr>
          <p:cNvSpPr txBox="1"/>
          <p:nvPr/>
        </p:nvSpPr>
        <p:spPr>
          <a:xfrm>
            <a:off x="526275" y="3061848"/>
            <a:ext cx="29236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1958, Engel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Diameters: 1.4 - 2.7mm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Mach: 1.3 – 1.7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Identified the canonical sequence: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Latency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  <a:sym typeface="Wingdings" panose="05000000000000000000" pitchFamily="2" charset="2"/>
              </a:rPr>
              <a:t> Flattening  Lateral Stripping  Mist formation  Catastrophic Breakup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AFD48C-AA66-9727-D870-A0E1BFB61770}"/>
              </a:ext>
            </a:extLst>
          </p:cNvPr>
          <p:cNvSpPr txBox="1"/>
          <p:nvPr/>
        </p:nvSpPr>
        <p:spPr>
          <a:xfrm>
            <a:off x="4634165" y="3028156"/>
            <a:ext cx="29236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1967, Dabora et al..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Diameters: 0.75 - 2.7mm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Mach: 1.5 – 3.5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Distinguished an initial deformation stage from later shear-stripping stage.</a:t>
            </a:r>
          </a:p>
          <a:p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Showed breakup time scales with droplet diameter and post-shock gas velocity.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EDB9A6-0F9B-8B5F-E1CA-3E9210F94A18}"/>
                  </a:ext>
                </a:extLst>
              </p:cNvPr>
              <p:cNvSpPr txBox="1"/>
              <p:nvPr/>
            </p:nvSpPr>
            <p:spPr>
              <a:xfrm>
                <a:off x="8742055" y="3064473"/>
                <a:ext cx="292367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1969, Ranger &amp; Nicholls</a:t>
                </a:r>
              </a:p>
              <a:p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Diameters: 0.75 – 4.4mm</a:t>
                </a:r>
              </a:p>
              <a:p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Mach: 1.5 – 3.5</a:t>
                </a:r>
              </a:p>
              <a:p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Introduced the Rayleigh timescale: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EDB9A6-0F9B-8B5F-E1CA-3E9210F94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2055" y="3064473"/>
                <a:ext cx="2923670" cy="2862322"/>
              </a:xfrm>
              <a:prstGeom prst="rect">
                <a:avLst/>
              </a:prstGeom>
              <a:blipFill>
                <a:blip r:embed="rId3"/>
                <a:stretch>
                  <a:fillRect l="-1667" t="-1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DA3D40-D0A8-2BEA-9AE9-EC1164D83513}"/>
              </a:ext>
            </a:extLst>
          </p:cNvPr>
          <p:cNvCxnSpPr/>
          <p:nvPr/>
        </p:nvCxnSpPr>
        <p:spPr>
          <a:xfrm>
            <a:off x="6096000" y="2192151"/>
            <a:ext cx="0" cy="77002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A54D779-4584-1C57-E7CE-0B76F6089552}"/>
              </a:ext>
            </a:extLst>
          </p:cNvPr>
          <p:cNvCxnSpPr/>
          <p:nvPr/>
        </p:nvCxnSpPr>
        <p:spPr>
          <a:xfrm>
            <a:off x="10203890" y="2225842"/>
            <a:ext cx="0" cy="77002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9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E29FD-0687-D997-7350-68FC5B4E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C222E77-ED9E-14F5-97B7-7E360FAD72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Literature: Classical Shock-Droplet Breakup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67E469-83BF-292B-0556-3D54BBF1B139}"/>
              </a:ext>
            </a:extLst>
          </p:cNvPr>
          <p:cNvSpPr/>
          <p:nvPr/>
        </p:nvSpPr>
        <p:spPr>
          <a:xfrm>
            <a:off x="783845" y="1088998"/>
            <a:ext cx="10569955" cy="40575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Early shock-tube studies established the canonical macroscopic breakup sequence and the characteristic breakup timescale.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1969, Reinecke &amp; McKay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Diameters: 0.5 – 2.5mm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Mach: 3, 6, 9, 11, 12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Discovered breakup mode transition at ~Mach 6.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&lt; Mach 6: Stripped by aerodynamic shear (KH)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&gt; Mach 6: Catastrophic shattering (RT piercing)</a:t>
            </a:r>
            <a:endParaRPr lang="en-US" dirty="0"/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ABE1BD-3DB2-F78E-EBC2-B0CE59C00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9E6C0-3119-BDDC-16B1-BB95D5BB1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519" y="4059746"/>
            <a:ext cx="2463927" cy="1638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73C899-08E5-02B3-A982-391C83C49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265883" y="1190228"/>
            <a:ext cx="1511378" cy="29020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F538BB-56C7-C57F-3980-F2C6362F1A04}"/>
              </a:ext>
            </a:extLst>
          </p:cNvPr>
          <p:cNvSpPr txBox="1"/>
          <p:nvPr/>
        </p:nvSpPr>
        <p:spPr>
          <a:xfrm>
            <a:off x="7659834" y="3396967"/>
            <a:ext cx="2695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Droplet, Mach 3 (Reinecke-McKay 1969)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7710FF-35A3-9A6C-879A-E6198A41F86E}"/>
              </a:ext>
            </a:extLst>
          </p:cNvPr>
          <p:cNvSpPr txBox="1"/>
          <p:nvPr/>
        </p:nvSpPr>
        <p:spPr>
          <a:xfrm>
            <a:off x="7611932" y="5698129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Droplet, Mach 11 (Reinecke-McKay 1969)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8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F736AD-DB15-999E-05DB-19136BAC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A9C8C7-E99B-7C5D-EF5E-D2EDC736BC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Literature: Breakup Mechanisms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686212-7807-3D8D-5144-280E191F0A34}"/>
              </a:ext>
            </a:extLst>
          </p:cNvPr>
          <p:cNvSpPr/>
          <p:nvPr/>
        </p:nvSpPr>
        <p:spPr>
          <a:xfrm>
            <a:off x="783845" y="1088998"/>
            <a:ext cx="10569955" cy="54425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Modern interpretations frame droplet breakup as a competition between aerodynamic stripping and surface-instability growth.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Ranger &amp; Nicholls, 1969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Boundary-layer stripping model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Pilch &amp; Erdman, 1987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Emphasized importance of considering surface instability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Funada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&amp; Joseph, 1999-2001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Connected droplet deformation to RT and KH instabilities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Theofanous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group, 2004-2012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Developed the RTP/ SIE framework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Dworzanczyk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et al,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Reconciled high-Mach experiments and simulations using nonlinear instability growth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261C6C9-E17B-32A2-3215-AF2CA82D2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7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17787-023E-E002-8229-DB3ABA9C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B2E9AB-6EBC-0052-A0F0-12F9D6B577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Literature: Cavitation and Entrained Nuclei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5A737D-C534-3611-CDD1-DBB1F6793776}"/>
              </a:ext>
            </a:extLst>
          </p:cNvPr>
          <p:cNvSpPr/>
          <p:nvPr/>
        </p:nvSpPr>
        <p:spPr>
          <a:xfrm>
            <a:off x="811022" y="999986"/>
            <a:ext cx="10569955" cy="58580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Internal pressure focusing can activate cavitation or gas nuclei, but existing studies have not isolated the mechanical response of pre-existing non-condensable nuclei.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Sembian et al., 2016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Provided direct shock-water-column evidence of internal wave focusing and cavitation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Forehand et al., 2023-2024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Compared simulations with and without cavitation modeling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One-way coupling bubble dynamics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Shannon 2024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Resolved one cavitation bubble near an interface and showed it can seed KH roll-up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Briggs / Aguilera, 2023-2026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Experiments of degassed, ambient, and doped droplets (~Mach 3, D=1-3mm)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Limited diagnostic, little evidence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Cavainolo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2026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One-way cavitation estimate from CFD pressure history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7A32B1F-F87F-21B0-C3F7-07C56061B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04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9B9B6-DEF7-AD04-E79A-7627B1458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2B41EB-A117-7813-B5CF-7D2D5A8B470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Literature: Knowledge Gaps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5187E7-33BB-DE69-DC8B-654B32AB8BAE}"/>
              </a:ext>
            </a:extLst>
          </p:cNvPr>
          <p:cNvSpPr/>
          <p:nvPr/>
        </p:nvSpPr>
        <p:spPr>
          <a:xfrm>
            <a:off x="783845" y="1088998"/>
            <a:ext cx="10569955" cy="87203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Prior work identified cavitation-prone regions and droplet breakup mechanisms, but did not resolve the direct feedback of pre-existing gas nuclei.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679C5FC-A774-C63B-9A7C-2DD248D4F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FFE8F4-4A7C-8949-B6D8-518499EB6688}"/>
              </a:ext>
            </a:extLst>
          </p:cNvPr>
          <p:cNvSpPr/>
          <p:nvPr/>
        </p:nvSpPr>
        <p:spPr>
          <a:xfrm>
            <a:off x="331470" y="3634125"/>
            <a:ext cx="3577590" cy="549867"/>
          </a:xfrm>
          <a:prstGeom prst="roundRect">
            <a:avLst/>
          </a:prstGeom>
          <a:solidFill>
            <a:srgbClr val="00509A"/>
          </a:solidFill>
          <a:ln w="19050">
            <a:solidFill>
              <a:srgbClr val="FCC100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Open Sans"/>
                <a:cs typeface="Arial"/>
              </a:rPr>
              <a:t>Isolated nuclei response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5F3B44-F0C7-B7EC-F5B0-B611F144236A}"/>
              </a:ext>
            </a:extLst>
          </p:cNvPr>
          <p:cNvSpPr/>
          <p:nvPr/>
        </p:nvSpPr>
        <p:spPr>
          <a:xfrm>
            <a:off x="4280027" y="3378736"/>
            <a:ext cx="3577590" cy="1060646"/>
          </a:xfrm>
          <a:prstGeom prst="roundRect">
            <a:avLst/>
          </a:prstGeom>
          <a:solidFill>
            <a:srgbClr val="00509A"/>
          </a:solidFill>
          <a:ln w="19050">
            <a:solidFill>
              <a:srgbClr val="FCC100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Open Sans"/>
                <a:cs typeface="Arial"/>
              </a:rPr>
              <a:t>Two-way coupled multi-nuclei effects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22E2F4-E2B7-C676-0EAF-A60246AB7E02}"/>
              </a:ext>
            </a:extLst>
          </p:cNvPr>
          <p:cNvSpPr/>
          <p:nvPr/>
        </p:nvSpPr>
        <p:spPr>
          <a:xfrm>
            <a:off x="8282940" y="3378735"/>
            <a:ext cx="3577590" cy="1060646"/>
          </a:xfrm>
          <a:prstGeom prst="roundRect">
            <a:avLst/>
          </a:prstGeom>
          <a:solidFill>
            <a:srgbClr val="00509A"/>
          </a:solidFill>
          <a:ln w="19050">
            <a:solidFill>
              <a:srgbClr val="FCC100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Open Sans"/>
                <a:cs typeface="Arial"/>
              </a:rPr>
              <a:t>Early pressure field feedback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90D5C-51F4-5BE7-D175-D7621CBC8E02}"/>
              </a:ext>
            </a:extLst>
          </p:cNvPr>
          <p:cNvSpPr txBox="1"/>
          <p:nvPr/>
        </p:nvSpPr>
        <p:spPr>
          <a:xfrm>
            <a:off x="1445070" y="2630904"/>
            <a:ext cx="135039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Gap 1:</a:t>
            </a:r>
            <a:endParaRPr lang="en-US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377D7-96A6-8ED3-EA09-81C66A1E4ED1}"/>
              </a:ext>
            </a:extLst>
          </p:cNvPr>
          <p:cNvSpPr txBox="1"/>
          <p:nvPr/>
        </p:nvSpPr>
        <p:spPr>
          <a:xfrm>
            <a:off x="5393627" y="2630903"/>
            <a:ext cx="135039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Gap 2:</a:t>
            </a:r>
            <a:endParaRPr lang="en-US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15A88-494B-C1FA-91A3-9C4A87DC1257}"/>
              </a:ext>
            </a:extLst>
          </p:cNvPr>
          <p:cNvSpPr txBox="1"/>
          <p:nvPr/>
        </p:nvSpPr>
        <p:spPr>
          <a:xfrm>
            <a:off x="9307005" y="2632906"/>
            <a:ext cx="135039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Gap 3:</a:t>
            </a:r>
            <a:endParaRPr lang="en-US" sz="2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B13F1C-ECAA-96D2-AC4C-20BAD2AC38D6}"/>
              </a:ext>
            </a:extLst>
          </p:cNvPr>
          <p:cNvSpPr/>
          <p:nvPr/>
        </p:nvSpPr>
        <p:spPr>
          <a:xfrm>
            <a:off x="783844" y="4961848"/>
            <a:ext cx="10569955" cy="87203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Hypothesis: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mechanically responding NCG nuclei modify early internal pressure dynamics before producing visible changes in droplet deformation.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842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/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7787-9B91-A957-1805-297041C19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78255D-A0BF-F73D-1271-0612CA7082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Computational Setup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6E86D83-5974-E43F-9467-219C10299EE9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442516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simulations are performed in cylindrical coordinates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(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𝑟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under an axisymmetric assumption.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Boundary conditions: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bottom boundary is an axis of symmetry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other boundaries are non-reflecting boundaries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Initial conditions: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Shocked air set by Rankine-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Hugoniot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jump conditions into quiescent, ambient air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6E86D83-5974-E43F-9467-219C10299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442516"/>
              </a:xfrm>
              <a:prstGeom prst="rect">
                <a:avLst/>
              </a:prstGeom>
              <a:blipFill>
                <a:blip r:embed="rId3"/>
                <a:stretch>
                  <a:fillRect l="-519" b="-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5882DF1-4381-CCDD-2C7D-38D04A254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726C12-F731-337B-081B-F33F29D04F67}"/>
              </a:ext>
            </a:extLst>
          </p:cNvPr>
          <p:cNvGrpSpPr/>
          <p:nvPr/>
        </p:nvGrpSpPr>
        <p:grpSpPr>
          <a:xfrm>
            <a:off x="1949259" y="1672665"/>
            <a:ext cx="8239125" cy="2824579"/>
            <a:chOff x="1949259" y="1672665"/>
            <a:chExt cx="8239125" cy="282457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DAB875E-022E-73E8-0447-7299122E4A32}"/>
                </a:ext>
              </a:extLst>
            </p:cNvPr>
            <p:cNvGrpSpPr/>
            <p:nvPr/>
          </p:nvGrpSpPr>
          <p:grpSpPr>
            <a:xfrm>
              <a:off x="1949259" y="1672665"/>
              <a:ext cx="8239125" cy="2824579"/>
              <a:chOff x="1949259" y="1672665"/>
              <a:chExt cx="8239125" cy="282457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03CFFA3-2765-70B3-D05C-F0374D6DF7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9259" y="1672665"/>
                <a:ext cx="8239125" cy="2486025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56118E-BDB4-3EEA-0EF9-38F007446D0F}"/>
                  </a:ext>
                </a:extLst>
              </p:cNvPr>
              <p:cNvSpPr txBox="1"/>
              <p:nvPr/>
            </p:nvSpPr>
            <p:spPr>
              <a:xfrm>
                <a:off x="1949259" y="4158690"/>
                <a:ext cx="823912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Computational domain, normalized by droplet diameter,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</a:t>
                </a:r>
                <a:endParaRPr lang="en-US" sz="1600" i="1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409384A-5C2E-E645-FF44-E4AB3230DFD6}"/>
                </a:ext>
              </a:extLst>
            </p:cNvPr>
            <p:cNvGrpSpPr/>
            <p:nvPr/>
          </p:nvGrpSpPr>
          <p:grpSpPr>
            <a:xfrm>
              <a:off x="2470209" y="3113999"/>
              <a:ext cx="434917" cy="614971"/>
              <a:chOff x="2470209" y="3113999"/>
              <a:chExt cx="434917" cy="614971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EA1DEDC-49B4-BA96-4124-9FC2ECA12E52}"/>
                  </a:ext>
                </a:extLst>
              </p:cNvPr>
              <p:cNvGrpSpPr/>
              <p:nvPr/>
            </p:nvGrpSpPr>
            <p:grpSpPr>
              <a:xfrm>
                <a:off x="2479733" y="3299619"/>
                <a:ext cx="346017" cy="367795"/>
                <a:chOff x="282633" y="3233651"/>
                <a:chExt cx="474605" cy="465513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56AFD29E-9840-7763-D1A6-CB409589EA51}"/>
                    </a:ext>
                  </a:extLst>
                </p:cNvPr>
                <p:cNvCxnSpPr/>
                <p:nvPr/>
              </p:nvCxnSpPr>
              <p:spPr>
                <a:xfrm flipV="1">
                  <a:off x="282633" y="3233651"/>
                  <a:ext cx="0" cy="465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CA72C05E-8A94-632C-451A-F578A4EAE6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633" y="3699164"/>
                  <a:ext cx="474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71FCAD3-C5A3-69B5-1140-C52D7D085A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46376" y="3421193"/>
                    <a:ext cx="158750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71FCAD3-C5A3-69B5-1140-C52D7D085A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46376" y="3421193"/>
                    <a:ext cx="158750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34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EA259FE-5923-F23F-EC28-6C6A7B108EC8}"/>
                      </a:ext>
                    </a:extLst>
                  </p:cNvPr>
                  <p:cNvSpPr txBox="1"/>
                  <p:nvPr/>
                </p:nvSpPr>
                <p:spPr>
                  <a:xfrm>
                    <a:off x="2470209" y="3113999"/>
                    <a:ext cx="158750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EA259FE-5923-F23F-EC28-6C6A7B108E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0209" y="3113999"/>
                    <a:ext cx="158750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4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53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62FC6-C64D-AB0A-2FE9-C29CA9E6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E354B-B925-AC26-57E3-F55D044140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Simulation Matrix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17A399-700F-D6F0-39A4-5BC6DFD6EF56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2949525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Parameter space: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For a 1mm droplet,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∈{3, 5, 7}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0.1, 0.2, 1, 2</m:t>
                        </m:r>
                      </m:e>
                    </m:d>
                    <m:r>
                      <a:rPr lang="en-US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 </m:t>
                    </m:r>
                    <m:r>
                      <a:rPr lang="en-US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10, 100, 1000</m:t>
                        </m:r>
                      </m:e>
                    </m:d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 clean case is run at each Mach, 36 doped cases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17A399-700F-D6F0-39A4-5BC6DFD6EF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2949525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A3D46BB-4C96-E97E-CBA6-8D071A62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762F6C0-36E1-D233-44CA-2D73455887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1529311"/>
                  </p:ext>
                </p:extLst>
              </p:nvPr>
            </p:nvGraphicFramePr>
            <p:xfrm>
              <a:off x="3401596" y="2010263"/>
              <a:ext cx="538880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05646">
                      <a:extLst>
                        <a:ext uri="{9D8B030D-6E8A-4147-A177-3AD203B41FA5}">
                          <a16:colId xmlns:a16="http://schemas.microsoft.com/office/drawing/2014/main" val="687863810"/>
                        </a:ext>
                      </a:extLst>
                    </a:gridCol>
                    <a:gridCol w="524192">
                      <a:extLst>
                        <a:ext uri="{9D8B030D-6E8A-4147-A177-3AD203B41FA5}">
                          <a16:colId xmlns:a16="http://schemas.microsoft.com/office/drawing/2014/main" val="3636242740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82613175"/>
                        </a:ext>
                      </a:extLst>
                    </a:gridCol>
                    <a:gridCol w="698818">
                      <a:extLst>
                        <a:ext uri="{9D8B030D-6E8A-4147-A177-3AD203B41FA5}">
                          <a16:colId xmlns:a16="http://schemas.microsoft.com/office/drawing/2014/main" val="1028131215"/>
                        </a:ext>
                      </a:extLst>
                    </a:gridCol>
                    <a:gridCol w="577222">
                      <a:extLst>
                        <a:ext uri="{9D8B030D-6E8A-4147-A177-3AD203B41FA5}">
                          <a16:colId xmlns:a16="http://schemas.microsoft.com/office/drawing/2014/main" val="939720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8242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Shock Mach,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571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Initial bubble radius,</a:t>
                          </a:r>
                          <a:r>
                            <a:rPr lang="en-US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0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baseline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b="0" i="0" baseline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0" baseline="0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183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Number of bubbles,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09185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762F6C0-36E1-D233-44CA-2D73455887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1529311"/>
                  </p:ext>
                </p:extLst>
              </p:nvPr>
            </p:nvGraphicFramePr>
            <p:xfrm>
              <a:off x="3401596" y="2010263"/>
              <a:ext cx="538880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05646">
                      <a:extLst>
                        <a:ext uri="{9D8B030D-6E8A-4147-A177-3AD203B41FA5}">
                          <a16:colId xmlns:a16="http://schemas.microsoft.com/office/drawing/2014/main" val="687863810"/>
                        </a:ext>
                      </a:extLst>
                    </a:gridCol>
                    <a:gridCol w="524192">
                      <a:extLst>
                        <a:ext uri="{9D8B030D-6E8A-4147-A177-3AD203B41FA5}">
                          <a16:colId xmlns:a16="http://schemas.microsoft.com/office/drawing/2014/main" val="3636242740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82613175"/>
                        </a:ext>
                      </a:extLst>
                    </a:gridCol>
                    <a:gridCol w="698818">
                      <a:extLst>
                        <a:ext uri="{9D8B030D-6E8A-4147-A177-3AD203B41FA5}">
                          <a16:colId xmlns:a16="http://schemas.microsoft.com/office/drawing/2014/main" val="1028131215"/>
                        </a:ext>
                      </a:extLst>
                    </a:gridCol>
                    <a:gridCol w="577222">
                      <a:extLst>
                        <a:ext uri="{9D8B030D-6E8A-4147-A177-3AD203B41FA5}">
                          <a16:colId xmlns:a16="http://schemas.microsoft.com/office/drawing/2014/main" val="939720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8242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6" t="-106452" r="-80325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571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6" t="-209836" r="-8032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183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6" t="-309836" r="-80325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09185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3C5CE43-6446-F8DF-EF7D-595D22BB02CC}"/>
              </a:ext>
            </a:extLst>
          </p:cNvPr>
          <p:cNvSpPr txBox="1"/>
          <p:nvPr/>
        </p:nvSpPr>
        <p:spPr>
          <a:xfrm>
            <a:off x="3401596" y="3512158"/>
            <a:ext cx="5388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 3.3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Shock-droplet simulation matrix. This spans the doped cases.</a:t>
            </a:r>
            <a:endParaRPr lang="en-US" sz="1600" i="1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6029C98-D3F4-337D-8EA2-FFD91D79F2F8}"/>
              </a:ext>
            </a:extLst>
          </p:cNvPr>
          <p:cNvGrpSpPr/>
          <p:nvPr/>
        </p:nvGrpSpPr>
        <p:grpSpPr>
          <a:xfrm>
            <a:off x="6441006" y="4553796"/>
            <a:ext cx="4801269" cy="650469"/>
            <a:chOff x="6441006" y="4553796"/>
            <a:chExt cx="4801269" cy="65046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524141F-D1F1-39D2-F32C-0BDB6BE1455A}"/>
                </a:ext>
              </a:extLst>
            </p:cNvPr>
            <p:cNvSpPr txBox="1"/>
            <p:nvPr/>
          </p:nvSpPr>
          <p:spPr>
            <a:xfrm>
              <a:off x="6441006" y="4553796"/>
              <a:ext cx="480126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Sub-grid Lagrangian bubble representation.</a:t>
              </a:r>
              <a:endParaRPr lang="en-US" sz="1600" i="1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D567C19-BC9A-4EC9-6335-7F25E1C1BB91}"/>
                </a:ext>
              </a:extLst>
            </p:cNvPr>
            <p:cNvSpPr/>
            <p:nvPr/>
          </p:nvSpPr>
          <p:spPr>
            <a:xfrm>
              <a:off x="6490904" y="4959788"/>
              <a:ext cx="196734" cy="196734"/>
            </a:xfrm>
            <a:prstGeom prst="ellipse">
              <a:avLst/>
            </a:prstGeom>
            <a:solidFill>
              <a:srgbClr val="4472C4"/>
            </a:solidFill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50E93B-FC58-B550-4290-C20FD68FFEA7}"/>
                </a:ext>
              </a:extLst>
            </p:cNvPr>
            <p:cNvSpPr txBox="1"/>
            <p:nvPr/>
          </p:nvSpPr>
          <p:spPr>
            <a:xfrm>
              <a:off x="6673795" y="4896488"/>
              <a:ext cx="24771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: Sub-grid Lagrangian bubble</a:t>
              </a:r>
              <a:endParaRPr lang="en-US" sz="14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8E2C694-8FE7-3B92-B6DD-5B12EC67FF44}"/>
              </a:ext>
            </a:extLst>
          </p:cNvPr>
          <p:cNvGrpSpPr/>
          <p:nvPr/>
        </p:nvGrpSpPr>
        <p:grpSpPr>
          <a:xfrm>
            <a:off x="1137458" y="4188590"/>
            <a:ext cx="4958542" cy="2374670"/>
            <a:chOff x="1137458" y="4188590"/>
            <a:chExt cx="4958542" cy="237467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DD2C4E3-2C99-1274-70F2-BAE021A2EEAC}"/>
                </a:ext>
              </a:extLst>
            </p:cNvPr>
            <p:cNvGrpSpPr/>
            <p:nvPr/>
          </p:nvGrpSpPr>
          <p:grpSpPr>
            <a:xfrm>
              <a:off x="1137458" y="4188590"/>
              <a:ext cx="4958542" cy="2374670"/>
              <a:chOff x="1137458" y="4188590"/>
              <a:chExt cx="4958542" cy="237467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5E7FBF01-2C12-6F3E-383E-921EC0165E2E}"/>
                  </a:ext>
                </a:extLst>
              </p:cNvPr>
              <p:cNvGrpSpPr/>
              <p:nvPr/>
            </p:nvGrpSpPr>
            <p:grpSpPr>
              <a:xfrm>
                <a:off x="1137458" y="4188590"/>
                <a:ext cx="4958542" cy="2374670"/>
                <a:chOff x="4908665" y="4187951"/>
                <a:chExt cx="4958542" cy="2374670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76793BD-BBC4-DAEE-8CB8-CE186AC11044}"/>
                    </a:ext>
                  </a:extLst>
                </p:cNvPr>
                <p:cNvSpPr/>
                <p:nvPr/>
              </p:nvSpPr>
              <p:spPr>
                <a:xfrm>
                  <a:off x="4908665" y="4187951"/>
                  <a:ext cx="2374669" cy="2374669"/>
                </a:xfrm>
                <a:prstGeom prst="rect">
                  <a:avLst/>
                </a:prstGeom>
                <a:pattFill prst="lgGrid">
                  <a:fgClr>
                    <a:schemeClr val="tx1"/>
                  </a:fgClr>
                  <a:bgClr>
                    <a:schemeClr val="bg1"/>
                  </a:bgClr>
                </a:pattFill>
              </p:spPr>
              <p:txBody>
                <a:bodyPr wrap="square" rtlCol="0" anchor="ctr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DF337303-8020-DF98-A97F-100DA795D308}"/>
                    </a:ext>
                  </a:extLst>
                </p:cNvPr>
                <p:cNvSpPr/>
                <p:nvPr/>
              </p:nvSpPr>
              <p:spPr>
                <a:xfrm>
                  <a:off x="4908665" y="4187952"/>
                  <a:ext cx="2374669" cy="2374669"/>
                </a:xfrm>
                <a:prstGeom prst="ellipse">
                  <a:avLst/>
                </a:prstGeom>
                <a:solidFill>
                  <a:srgbClr val="4472C4">
                    <a:alpha val="50000"/>
                  </a:srgbClr>
                </a:solidFill>
              </p:spPr>
              <p:txBody>
                <a:bodyPr wrap="square" rtlCol="0" anchor="ctr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37521029-A2D7-39CC-EF82-6288CFD16249}"/>
                    </a:ext>
                  </a:extLst>
                </p:cNvPr>
                <p:cNvSpPr/>
                <p:nvPr/>
              </p:nvSpPr>
              <p:spPr>
                <a:xfrm>
                  <a:off x="6199329" y="5039670"/>
                  <a:ext cx="205924" cy="205924"/>
                </a:xfrm>
                <a:prstGeom prst="ellipse">
                  <a:avLst/>
                </a:prstGeom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69DAE798-7F39-E42D-8089-5755FFB0304C}"/>
                    </a:ext>
                  </a:extLst>
                </p:cNvPr>
                <p:cNvSpPr/>
                <p:nvPr/>
              </p:nvSpPr>
              <p:spPr>
                <a:xfrm>
                  <a:off x="8221287" y="4472557"/>
                  <a:ext cx="1645920" cy="1645920"/>
                </a:xfrm>
                <a:prstGeom prst="ellipse">
                  <a:avLst/>
                </a:prstGeom>
                <a:ln w="19050"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CC456489-F77A-F0C9-ECAD-EA6FAA30C461}"/>
                    </a:ext>
                  </a:extLst>
                </p:cNvPr>
                <p:cNvCxnSpPr>
                  <a:cxnSpLocks/>
                  <a:stCxn id="10" idx="1"/>
                  <a:endCxn id="10" idx="7"/>
                </p:cNvCxnSpPr>
                <p:nvPr/>
              </p:nvCxnSpPr>
              <p:spPr>
                <a:xfrm>
                  <a:off x="8462326" y="4713596"/>
                  <a:ext cx="116384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D6AA677-BFD5-BF71-84F0-623E71944396}"/>
                    </a:ext>
                  </a:extLst>
                </p:cNvPr>
                <p:cNvCxnSpPr>
                  <a:cxnSpLocks/>
                  <a:stCxn id="10" idx="1"/>
                  <a:endCxn id="10" idx="3"/>
                </p:cNvCxnSpPr>
                <p:nvPr/>
              </p:nvCxnSpPr>
              <p:spPr>
                <a:xfrm>
                  <a:off x="8462326" y="4713596"/>
                  <a:ext cx="0" cy="11638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0EB0B63A-5DF7-914F-7E6E-2FA1CACD6735}"/>
                    </a:ext>
                  </a:extLst>
                </p:cNvPr>
                <p:cNvCxnSpPr>
                  <a:cxnSpLocks/>
                  <a:stCxn id="10" idx="3"/>
                  <a:endCxn id="10" idx="5"/>
                </p:cNvCxnSpPr>
                <p:nvPr/>
              </p:nvCxnSpPr>
              <p:spPr>
                <a:xfrm>
                  <a:off x="8462326" y="5877438"/>
                  <a:ext cx="116384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FE07807-A7A2-7A44-CFEB-E1A194F93BFD}"/>
                    </a:ext>
                  </a:extLst>
                </p:cNvPr>
                <p:cNvCxnSpPr>
                  <a:cxnSpLocks/>
                  <a:stCxn id="10" idx="7"/>
                  <a:endCxn id="10" idx="5"/>
                </p:cNvCxnSpPr>
                <p:nvPr/>
              </p:nvCxnSpPr>
              <p:spPr>
                <a:xfrm>
                  <a:off x="9626168" y="4713596"/>
                  <a:ext cx="0" cy="11638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C22334BB-8690-34DB-3862-26FFA0A59940}"/>
                    </a:ext>
                  </a:extLst>
                </p:cNvPr>
                <p:cNvCxnSpPr>
                  <a:cxnSpLocks/>
                  <a:stCxn id="10" idx="6"/>
                  <a:endCxn id="10" idx="2"/>
                </p:cNvCxnSpPr>
                <p:nvPr/>
              </p:nvCxnSpPr>
              <p:spPr>
                <a:xfrm flipH="1">
                  <a:off x="8221287" y="5295517"/>
                  <a:ext cx="164592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EB5D8C3-02EF-A133-1C42-242D2F35CE80}"/>
                    </a:ext>
                  </a:extLst>
                </p:cNvPr>
                <p:cNvCxnSpPr>
                  <a:cxnSpLocks/>
                  <a:stCxn id="10" idx="0"/>
                  <a:endCxn id="10" idx="4"/>
                </p:cNvCxnSpPr>
                <p:nvPr/>
              </p:nvCxnSpPr>
              <p:spPr>
                <a:xfrm>
                  <a:off x="9044247" y="4472557"/>
                  <a:ext cx="0" cy="16459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D7D31F7-EEA9-7CAB-ACF6-BA0AB3109E95}"/>
                    </a:ext>
                  </a:extLst>
                </p:cNvPr>
                <p:cNvCxnSpPr>
                  <a:stCxn id="8" idx="7"/>
                  <a:endCxn id="10" idx="1"/>
                </p:cNvCxnSpPr>
                <p:nvPr/>
              </p:nvCxnSpPr>
              <p:spPr>
                <a:xfrm flipV="1">
                  <a:off x="6375096" y="4713596"/>
                  <a:ext cx="2087230" cy="3562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D5E5CF27-52FF-9C93-9771-5F4C99A85AB9}"/>
                    </a:ext>
                  </a:extLst>
                </p:cNvPr>
                <p:cNvCxnSpPr>
                  <a:cxnSpLocks/>
                  <a:stCxn id="8" idx="5"/>
                  <a:endCxn id="10" idx="3"/>
                </p:cNvCxnSpPr>
                <p:nvPr/>
              </p:nvCxnSpPr>
              <p:spPr>
                <a:xfrm>
                  <a:off x="6375096" y="5215437"/>
                  <a:ext cx="2087230" cy="66200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6461C02-B033-2A2B-812E-86C95E8C5FB3}"/>
                    </a:ext>
                  </a:extLst>
                </p:cNvPr>
                <p:cNvSpPr/>
                <p:nvPr/>
              </p:nvSpPr>
              <p:spPr>
                <a:xfrm>
                  <a:off x="8562741" y="5572268"/>
                  <a:ext cx="196734" cy="196734"/>
                </a:xfrm>
                <a:prstGeom prst="ellipse">
                  <a:avLst/>
                </a:prstGeom>
                <a:solidFill>
                  <a:srgbClr val="4472C4"/>
                </a:solidFill>
              </p:spPr>
              <p:txBody>
                <a:bodyPr wrap="square" rtlCol="0" anchor="ctr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42D08FFC-5632-A27F-79A8-372B43CA34B3}"/>
                    </a:ext>
                  </a:extLst>
                </p:cNvPr>
                <p:cNvSpPr/>
                <p:nvPr/>
              </p:nvSpPr>
              <p:spPr>
                <a:xfrm>
                  <a:off x="9121833" y="4767783"/>
                  <a:ext cx="196734" cy="196734"/>
                </a:xfrm>
                <a:prstGeom prst="ellipse">
                  <a:avLst/>
                </a:prstGeom>
                <a:solidFill>
                  <a:srgbClr val="4472C4"/>
                </a:solidFill>
              </p:spPr>
              <p:txBody>
                <a:bodyPr wrap="square" rtlCol="0" anchor="ctr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30137AB1-0EC5-92A5-FAB4-3E4B45E39D52}"/>
                    </a:ext>
                  </a:extLst>
                </p:cNvPr>
                <p:cNvSpPr/>
                <p:nvPr/>
              </p:nvSpPr>
              <p:spPr>
                <a:xfrm>
                  <a:off x="9355974" y="5018703"/>
                  <a:ext cx="196734" cy="196734"/>
                </a:xfrm>
                <a:prstGeom prst="ellipse">
                  <a:avLst/>
                </a:prstGeom>
                <a:solidFill>
                  <a:srgbClr val="4472C4"/>
                </a:solidFill>
              </p:spPr>
              <p:txBody>
                <a:bodyPr wrap="square" rtlCol="0" anchor="ctr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8A94450-521D-DB34-FD8E-AC539AB18E41}"/>
                  </a:ext>
                </a:extLst>
              </p:cNvPr>
              <p:cNvSpPr txBox="1"/>
              <p:nvPr/>
            </p:nvSpPr>
            <p:spPr>
              <a:xfrm rot="16200000">
                <a:off x="1495989" y="5099744"/>
                <a:ext cx="118733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Arial"/>
                    <a:ea typeface="Open Sans"/>
                    <a:cs typeface="Arial"/>
                  </a:rPr>
                  <a:t>D = 1 mm</a:t>
                </a:r>
                <a:endParaRPr lang="en-US" dirty="0"/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0DF5937-0DE9-DAA7-4972-F5D21311AD2D}"/>
                  </a:ext>
                </a:extLst>
              </p:cNvPr>
              <p:cNvCxnSpPr>
                <a:cxnSpLocks/>
                <a:stCxn id="4" idx="4"/>
                <a:endCxn id="4" idx="0"/>
              </p:cNvCxnSpPr>
              <p:nvPr/>
            </p:nvCxnSpPr>
            <p:spPr>
              <a:xfrm flipV="1">
                <a:off x="2324793" y="4188591"/>
                <a:ext cx="0" cy="2374669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32FB392-E0FB-9988-B765-11A58E87C27D}"/>
                </a:ext>
              </a:extLst>
            </p:cNvPr>
            <p:cNvCxnSpPr/>
            <p:nvPr/>
          </p:nvCxnSpPr>
          <p:spPr>
            <a:xfrm>
              <a:off x="5475052" y="5296156"/>
              <a:ext cx="0" cy="58192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F8395B1-CFEF-03CB-2FE0-D13F01C0FF35}"/>
                    </a:ext>
                  </a:extLst>
                </p:cNvPr>
                <p:cNvSpPr txBox="1"/>
                <p:nvPr/>
              </p:nvSpPr>
              <p:spPr>
                <a:xfrm>
                  <a:off x="5408260" y="5426137"/>
                  <a:ext cx="35301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Δ</m:t>
                        </m:r>
                        <m:r>
                          <a:rPr lang="en-US" sz="1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𝑥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F8395B1-CFEF-03CB-2FE0-D13F01C0F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260" y="5426137"/>
                  <a:ext cx="353014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547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1522-CE77-C4E6-8AB4-D38CD0891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231C7A-BDAA-DE58-4175-AF3FD5B1C34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Number Density and Void Fraction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122E924-7304-5CB8-73AF-A4D469E4C9EE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3919471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Number density: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𝑑𝑟𝑜𝑝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𝑑𝑟𝑜𝑝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N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=10, 100, 1000, 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yields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19, 191, 1910 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  <m:sSup>
                      <m:sSup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respectively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Void Fraction: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𝑏</m:t>
                              </m:r>
                            </m:sub>
                          </m:sSub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3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𝑑𝑟𝑜𝑝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122E924-7304-5CB8-73AF-A4D469E4C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3919471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F6B353D-2F54-09C5-ACEE-68FC3A144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3916725-1809-36A1-F45D-57D6634AF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3367254"/>
                  </p:ext>
                </p:extLst>
              </p:nvPr>
            </p:nvGraphicFramePr>
            <p:xfrm>
              <a:off x="2032000" y="4392798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10449162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85168913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07903565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4891446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7360820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88962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4472C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1242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531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79296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81806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3916725-1809-36A1-F45D-57D6634AF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3367254"/>
                  </p:ext>
                </p:extLst>
              </p:nvPr>
            </p:nvGraphicFramePr>
            <p:xfrm>
              <a:off x="2032000" y="4392798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10449162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85168913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07903565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4891446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7360820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5117" t="-1639" r="-375" b="-42459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88962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75" t="-101639" r="-40112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75" t="-101639" r="-30112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8" t="-101639" r="-20225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1639" r="-10149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01639" r="-1498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1242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75" t="-201639" r="-30112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8" t="-201639" r="-20225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01639" r="-10149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201639" r="-149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1531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75" t="-301639" r="-30112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8" t="-301639" r="-20225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01639" r="-10149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301639" r="-1498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9296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75" t="-401639" r="-30112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8" t="-401639" r="-20225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401639" r="-10149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401639" r="-1498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81806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A5FE80-40B6-C616-5693-E31BD0C9DE8F}"/>
                  </a:ext>
                </a:extLst>
              </p:cNvPr>
              <p:cNvSpPr txBox="1"/>
              <p:nvPr/>
            </p:nvSpPr>
            <p:spPr>
              <a:xfrm>
                <a:off x="2031999" y="6246524"/>
                <a:ext cx="812799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Table 3.4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Initial global gas void fraction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for the bubble-loading parameter sweep.</a:t>
                </a:r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A5FE80-40B6-C616-5693-E31BD0C9D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99" y="6246524"/>
                <a:ext cx="8127999" cy="338554"/>
              </a:xfrm>
              <a:prstGeom prst="rect">
                <a:avLst/>
              </a:prstGeom>
              <a:blipFill>
                <a:blip r:embed="rId5"/>
                <a:stretch>
                  <a:fillRect l="-375"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7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B0B0-7D01-EB18-56FF-4DAB6B8C6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C7CE9-EE72-F3D4-F890-A6A761ABFF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The Numerical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960279-7DA6-569E-AEF7-197E88A728F6}"/>
              </a:ext>
            </a:extLst>
          </p:cNvPr>
          <p:cNvSpPr/>
          <p:nvPr/>
        </p:nvSpPr>
        <p:spPr>
          <a:xfrm>
            <a:off x="783845" y="1088998"/>
            <a:ext cx="10569955" cy="25340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present simulations are performed in the Multi-Component Flow Code (MFC)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Open-source, high-order, compressible multiphase solver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Sub-grid bubble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Highly parallel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Resolved Eulerian phase interface: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Reduced five-equation diffuse-interface formulation of Allaire et al. 2002.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B187034-CB86-B3B3-660E-C16F7DB2A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0DAE65-F17B-D03D-26CB-8DC4F0C76CB9}"/>
                  </a:ext>
                </a:extLst>
              </p:cNvPr>
              <p:cNvSpPr txBox="1"/>
              <p:nvPr/>
            </p:nvSpPr>
            <p:spPr>
              <a:xfrm>
                <a:off x="0" y="3595985"/>
                <a:ext cx="6096000" cy="3256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=0,  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=1, 2, …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𝑁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⊗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𝑝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𝑰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𝐸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r>
                        <a:rPr lang="en-US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𝒖</m:t>
                      </m:r>
                    </m:oMath>
                  </m:oMathPara>
                </a14:m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0DAE65-F17B-D03D-26CB-8DC4F0C76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95985"/>
                <a:ext cx="6096000" cy="3256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57FF80A-9F61-79AE-0A25-B05BA9ED2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73092"/>
            <a:ext cx="4801270" cy="2057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EB61DE-6A94-D2E8-D8EE-74455AEDA1A3}"/>
              </a:ext>
            </a:extLst>
          </p:cNvPr>
          <p:cNvSpPr txBox="1"/>
          <p:nvPr/>
        </p:nvSpPr>
        <p:spPr>
          <a:xfrm>
            <a:off x="6095999" y="5857490"/>
            <a:ext cx="48012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Sharp and diffuse interface of a multiphase flow (Adebayo 2025).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43282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D17A476-5D91-C1A5-1721-5B1BDFF8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DB3087-1E30-DAD4-11B0-9B309DC206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Interface Formulation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421F276-CD01-0069-4488-84A3D7EA5A9D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417765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Allaire’s Model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𝑡</m:t>
                        </m:r>
                      </m:den>
                    </m:f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+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𝑢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∙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Mechanical equilibrium with an isobaric closure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Passively advected volume fraction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High numerical robustness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Strictly conservative volume-fraction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Strict entropy consistency is not guaranteed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Kapila’s Formulation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𝑡</m:t>
                        </m:r>
                      </m:den>
                    </m:f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+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𝑢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∙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𝐾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∇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∙</m:t>
                    </m:r>
                    <m:r>
                      <a:rPr lang="en-US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𝒖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Thermodynamically consistent treatment in transition zones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However, the smeared region is not physically a transition zone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Unclear whether this “fix” is physical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Needs additional conservative treatment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Wood’s speed of sound is non-monotonic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421F276-CD01-0069-4488-84A3D7EA5A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417765"/>
              </a:xfrm>
              <a:prstGeom prst="rect">
                <a:avLst/>
              </a:prstGeom>
              <a:blipFill>
                <a:blip r:embed="rId3"/>
                <a:stretch>
                  <a:fillRect l="-519" b="-1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E466FCE-D7B1-F1D6-9BB2-67FC94375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43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9169-E747-FA8B-56B5-13C71CA1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B5D15D-8921-CFE0-4935-AC0ADA6D3C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The Numerical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5659820-FD3B-1444-979C-9968DD891332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045292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Each material is closed with a stiffened-gas equation of state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∞,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material properties are listed below: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Viscous stresses and surface tension are neglected in the resolved Eulerian equations.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5659820-FD3B-1444-979C-9968DD891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045292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938168D-408A-2B51-543F-7BE01CDBB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5A73C15-19BF-0F20-091C-1ED2455C8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663598"/>
                  </p:ext>
                </p:extLst>
              </p:nvPr>
            </p:nvGraphicFramePr>
            <p:xfrm>
              <a:off x="2004822" y="2960370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28975660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07579427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0922219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Air / bubble gas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Liquid water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32597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Density,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1.17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558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Ratio of specific heats,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846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Stiffened pressure,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600 MPa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3840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5A73C15-19BF-0F20-091C-1ED2455C8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663598"/>
                  </p:ext>
                </p:extLst>
              </p:nvPr>
            </p:nvGraphicFramePr>
            <p:xfrm>
              <a:off x="2004822" y="2960370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28975660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07579427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0922219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Air / bubble gas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Liquid water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32597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108197" r="-20089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1.17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558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208197" r="-20089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846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308197" r="-20089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600 MPa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3840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CBD79C2-9B48-13E9-A9C7-B4BD4640E817}"/>
              </a:ext>
            </a:extLst>
          </p:cNvPr>
          <p:cNvSpPr txBox="1"/>
          <p:nvPr/>
        </p:nvSpPr>
        <p:spPr>
          <a:xfrm>
            <a:off x="1768529" y="4553646"/>
            <a:ext cx="8600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Equation-of-state and material parameters used in the shock-droplet simulations.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12636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58DB-870D-C309-9C17-5BE9A8EEC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F02ECD-501F-7BFD-33C0-2490C72EDD2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Euler-Lagrange Bubble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B42FE1B-1FA8-5E7B-F0C8-304E65432EE6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2118529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doped-droplet cases contain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Lagrangian gas nuclei embedded inside the initially liquid droplet.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Each nucleus is modeled as a spherical sub-grid bubble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bubbles do not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advect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resolved Eulerian field provides the local driving pressure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Bubble volume change feeds back to the Eulerian field through source terms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B42FE1B-1FA8-5E7B-F0C8-304E65432E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2118529"/>
              </a:xfrm>
              <a:prstGeom prst="rect">
                <a:avLst/>
              </a:prstGeom>
              <a:blipFill>
                <a:blip r:embed="rId3"/>
                <a:stretch>
                  <a:fillRect l="-519" r="-288" b="-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7D46C4E-6AE9-4AB4-DDF5-EC3C12016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47B6FED-1296-C474-7CC2-EA7FF353D5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392"/>
          <a:stretch>
            <a:fillRect/>
          </a:stretch>
        </p:blipFill>
        <p:spPr>
          <a:xfrm>
            <a:off x="3157766" y="3298289"/>
            <a:ext cx="5876467" cy="269900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352B807-CA3F-C77C-39FB-555570EC29AE}"/>
              </a:ext>
            </a:extLst>
          </p:cNvPr>
          <p:cNvSpPr txBox="1"/>
          <p:nvPr/>
        </p:nvSpPr>
        <p:spPr>
          <a:xfrm>
            <a:off x="2621870" y="5913655"/>
            <a:ext cx="69482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Sub-grid spherical bubble model and two-way Eulerian–Lagrangian coupling used to evolve the embedded gas nuclei.</a:t>
            </a:r>
          </a:p>
        </p:txBody>
      </p:sp>
    </p:spTree>
    <p:extLst>
      <p:ext uri="{BB962C8B-B14F-4D97-AF65-F5344CB8AC3E}">
        <p14:creationId xmlns:p14="http://schemas.microsoft.com/office/powerpoint/2010/main" val="358710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0373C-269F-6F6F-F628-30BC5C72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9A6A8E-9B12-5157-456E-E129AEE5A3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Keller-Miksis-Type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F783162-95E1-5804-CF71-01FE7182C30C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4575099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sub-grid bubble dynamics: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Bubble radius,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(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is evolved with a Keller-Miksis-type equation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Open Sans"/>
                                              <a:cs typeface="Arial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Open Sans"/>
                                              <a:cs typeface="Arial"/>
                                            </a:rPr>
                                            <m:t>𝑅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𝑙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acc>
                        <m:accPr>
                          <m:chr m:val="̈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acc>
                        <m:accPr>
                          <m:chr m:val="̇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2</m:t>
                              </m:r>
                            </m:sup>
                          </m:sSubSup>
                        </m:e>
                      </m:acc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∞,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acc>
                            </m:num>
                            <m:den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𝜎</m:t>
                              </m:r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Extends the Rayleigh–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Plesset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equation (RPE) by retaining first-order liquid compressibility effects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Open Sans"/>
                    <a:cs typeface="Arial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the equation reduced to RPE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Appropriate for spherical sub-grid nuclei in a weakly compressible liquid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F783162-95E1-5804-CF71-01FE7182C3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4575099"/>
              </a:xfrm>
              <a:prstGeom prst="rect">
                <a:avLst/>
              </a:prstGeom>
              <a:blipFill>
                <a:blip r:embed="rId3"/>
                <a:stretch>
                  <a:fillRect l="-519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EC29004-4AD2-BA64-D0F1-FBED55312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095A16-D6E0-22BF-E093-93F148280228}"/>
              </a:ext>
            </a:extLst>
          </p:cNvPr>
          <p:cNvGrpSpPr/>
          <p:nvPr/>
        </p:nvGrpSpPr>
        <p:grpSpPr>
          <a:xfrm>
            <a:off x="2046447" y="2789769"/>
            <a:ext cx="7858482" cy="1511275"/>
            <a:chOff x="2067879" y="3632731"/>
            <a:chExt cx="7858482" cy="1511275"/>
          </a:xfrm>
        </p:grpSpPr>
        <p:sp>
          <p:nvSpPr>
            <p:cNvPr id="3" name="Left Brace 2">
              <a:extLst>
                <a:ext uri="{FF2B5EF4-FFF2-40B4-BE49-F238E27FC236}">
                  <a16:creationId xmlns:a16="http://schemas.microsoft.com/office/drawing/2014/main" id="{489EF903-A983-A47C-E9FC-BF1392501C73}"/>
                </a:ext>
              </a:extLst>
            </p:cNvPr>
            <p:cNvSpPr/>
            <p:nvPr/>
          </p:nvSpPr>
          <p:spPr>
            <a:xfrm rot="16200000">
              <a:off x="3623317" y="2599053"/>
              <a:ext cx="159312" cy="222667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E5904B40-CA32-8855-9A57-CCA8AAA34C65}"/>
                </a:ext>
              </a:extLst>
            </p:cNvPr>
            <p:cNvSpPr/>
            <p:nvPr/>
          </p:nvSpPr>
          <p:spPr>
            <a:xfrm rot="16200000">
              <a:off x="5734229" y="2978890"/>
              <a:ext cx="159313" cy="1466995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93E36757-3F8A-91F1-626F-71788DFEA042}"/>
                </a:ext>
              </a:extLst>
            </p:cNvPr>
            <p:cNvSpPr/>
            <p:nvPr/>
          </p:nvSpPr>
          <p:spPr>
            <a:xfrm rot="16200000">
              <a:off x="4613333" y="2917813"/>
              <a:ext cx="159313" cy="382046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3D061F71-D109-E2C5-1294-8A931C9E5D68}"/>
                </a:ext>
              </a:extLst>
            </p:cNvPr>
            <p:cNvSpPr/>
            <p:nvPr/>
          </p:nvSpPr>
          <p:spPr>
            <a:xfrm rot="16200000">
              <a:off x="8120279" y="3486113"/>
              <a:ext cx="159314" cy="268386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DFDD0C-CB85-E2D3-B27D-4FC97A7C7366}"/>
                </a:ext>
              </a:extLst>
            </p:cNvPr>
            <p:cNvSpPr txBox="1"/>
            <p:nvPr/>
          </p:nvSpPr>
          <p:spPr>
            <a:xfrm>
              <a:off x="2067879" y="3779679"/>
              <a:ext cx="293689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Liquid inertia + compressibility/viscous correction</a:t>
              </a:r>
              <a:endParaRPr lang="en-US" sz="1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9047B9-4456-3E5F-3B3A-9AF54BB36D26}"/>
                </a:ext>
              </a:extLst>
            </p:cNvPr>
            <p:cNvSpPr txBox="1"/>
            <p:nvPr/>
          </p:nvSpPr>
          <p:spPr>
            <a:xfrm>
              <a:off x="5080388" y="3779680"/>
              <a:ext cx="146699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Nonlinear radial inertia</a:t>
              </a:r>
              <a:endParaRPr lang="en-US" sz="1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803936-E69B-B3E3-7BE3-E5350A7C7D90}"/>
                </a:ext>
              </a:extLst>
            </p:cNvPr>
            <p:cNvSpPr txBox="1"/>
            <p:nvPr/>
          </p:nvSpPr>
          <p:spPr>
            <a:xfrm>
              <a:off x="2782755" y="4897785"/>
              <a:ext cx="376462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Net pressure driving, corrected for finite sound speed</a:t>
              </a:r>
              <a:endParaRPr lang="en-US" sz="1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733F936-BB82-5F78-8D49-CECF9E3DF640}"/>
                </a:ext>
              </a:extLst>
            </p:cNvPr>
            <p:cNvSpPr txBox="1"/>
            <p:nvPr/>
          </p:nvSpPr>
          <p:spPr>
            <a:xfrm>
              <a:off x="6816705" y="4897784"/>
              <a:ext cx="310965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Time-varying pressure/ acoustic radiation correction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0642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420A9-2C64-AC67-EBF8-791228325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5738A7-70F6-485F-2E45-8C2BC00B98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Numerical Methods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EDE20-E9C0-D39F-33FC-C7288A87E8B0}"/>
              </a:ext>
            </a:extLst>
          </p:cNvPr>
          <p:cNvSpPr/>
          <p:nvPr/>
        </p:nvSpPr>
        <p:spPr>
          <a:xfrm>
            <a:off x="783845" y="1088998"/>
            <a:ext cx="10569955" cy="378052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Eulerian equations are discretized on a structured grid using a finite-volume formulation.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 constant CFL value of 0.1 is used in all simulations.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264CD09-6A1C-7C99-B8A4-D9BF37D71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6F7787-8AB2-817B-F349-3E5EC94F0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492023"/>
              </p:ext>
            </p:extLst>
          </p:nvPr>
        </p:nvGraphicFramePr>
        <p:xfrm>
          <a:off x="2032000" y="1629295"/>
          <a:ext cx="81280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505637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036513"/>
                    </a:ext>
                  </a:extLst>
                </a:gridCol>
              </a:tblGrid>
              <a:tr h="349645">
                <a:tc>
                  <a:txBody>
                    <a:bodyPr/>
                    <a:lstStyle/>
                    <a:p>
                      <a:r>
                        <a:rPr lang="en-US" dirty="0"/>
                        <a:t>Numerical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13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Face reconstruction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order MUSCL + van Leer limiter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261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Interface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THINC interface sharpening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022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Riemann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HLLC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541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Time-integration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SSP-RK3 (TVD)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3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Flow-bubble 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 splitting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9950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DB38E5A-79B3-9461-95EC-7BB1EDEB5D0B}"/>
              </a:ext>
            </a:extLst>
          </p:cNvPr>
          <p:cNvSpPr txBox="1"/>
          <p:nvPr/>
        </p:nvSpPr>
        <p:spPr>
          <a:xfrm>
            <a:off x="2032000" y="3833140"/>
            <a:ext cx="8128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 3.2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Summary of numerical methods used for the Eulerian flow solver and sub-grid bubble dynamics.</a:t>
            </a:r>
            <a:endParaRPr lang="en-US" sz="1600" i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553CF8F-A395-11A4-C4AC-F47EA9D8A79F}"/>
              </a:ext>
            </a:extLst>
          </p:cNvPr>
          <p:cNvGrpSpPr/>
          <p:nvPr/>
        </p:nvGrpSpPr>
        <p:grpSpPr>
          <a:xfrm>
            <a:off x="665992" y="5019587"/>
            <a:ext cx="10204099" cy="1495634"/>
            <a:chOff x="665992" y="5019587"/>
            <a:chExt cx="10204099" cy="149563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429D18B-60DD-2C50-B52B-CAFA51313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992" y="5019587"/>
              <a:ext cx="5430008" cy="149563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A5234F-2C5F-E579-A02D-01D027265097}"/>
                </a:ext>
              </a:extLst>
            </p:cNvPr>
            <p:cNvSpPr txBox="1"/>
            <p:nvPr/>
          </p:nvSpPr>
          <p:spPr>
            <a:xfrm>
              <a:off x="6068822" y="5027582"/>
              <a:ext cx="480126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Numerical results for a planar Mach onto a gas bubble. With THINC (left) and without THINC (right) are both shown (</a:t>
              </a:r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Shyue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-Xiao 2014).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8305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F908D2-8698-460D-F265-DA700207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BB2029E-C3A9-3A26-196A-8C8754A8C1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Strang Splitting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C466EE9-997A-9805-1FBE-27501C157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BAC45F-EC5F-14BD-E9D2-8079010CADE7}"/>
              </a:ext>
            </a:extLst>
          </p:cNvPr>
          <p:cNvGrpSpPr/>
          <p:nvPr/>
        </p:nvGrpSpPr>
        <p:grpSpPr>
          <a:xfrm>
            <a:off x="138113" y="1016780"/>
            <a:ext cx="11915774" cy="5442516"/>
            <a:chOff x="438149" y="1121555"/>
            <a:chExt cx="11915774" cy="54425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08EC778-47EF-0FED-3E9D-0A613FC85869}"/>
                    </a:ext>
                  </a:extLst>
                </p:cNvPr>
                <p:cNvSpPr/>
                <p:nvPr/>
              </p:nvSpPr>
              <p:spPr>
                <a:xfrm>
                  <a:off x="3767137" y="1121556"/>
                  <a:ext cx="4614861" cy="5021759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txBody>
                <a:bodyPr wrap="square" lIns="91440" tIns="45720" rIns="91440" bIns="45720" anchor="t">
                  <a:spAutoFit/>
                </a:bodyPr>
                <a:lstStyle/>
                <a:p>
                  <a:pPr>
                    <a:lnSpc>
                      <a:spcPct val="150000"/>
                    </a:lnSpc>
                    <a:defRPr/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The Scheme:</a:t>
                  </a:r>
                </a:p>
                <a:p>
                  <a:pPr>
                    <a:lnSpc>
                      <a:spcPct val="150000"/>
                    </a:lnSpc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For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𝜕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𝑞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</m:t>
                      </m:r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𝜕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𝑞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)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, each time step performs three sub-steps:</a:t>
                  </a: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eriod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Source half-step (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∈[0,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/2]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)</a:t>
                  </a:r>
                </a:p>
                <a:p>
                  <a:pPr>
                    <a:lnSpc>
                      <a:spcPct val="150000"/>
                    </a:lnSpc>
                    <a:defRPr/>
                  </a:pPr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</m:t>
                            </m:r>
                          </m:num>
                          <m:den>
                            <m:r>
                              <a:rPr lang="en-US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𝒔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𝒒</m:t>
                                </m:r>
                              </m:e>
                              <m:sup>
                                <m:r>
                                  <a:rPr lang="en-US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,  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(0)=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𝒏</m:t>
                            </m:r>
                          </m:sup>
                        </m:sSup>
                      </m:oMath>
                    </m:oMathPara>
                  </a14:m>
                  <a:endPara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eriod" startAt="2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Flux full-step (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∈[0,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]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)</a:t>
                  </a:r>
                </a:p>
                <a:p>
                  <a:pPr>
                    <a:lnSpc>
                      <a:spcPct val="150000"/>
                    </a:lnSpc>
                    <a:defRPr/>
                  </a:pPr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′′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𝑡</m:t>
                            </m:r>
                          </m:den>
                        </m:f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∇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∙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𝑭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′′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)</m:t>
                        </m:r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,  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′′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(0)</m:t>
                        </m:r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=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Δ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/2)</m:t>
                        </m:r>
                      </m:oMath>
                    </m:oMathPara>
                  </a14:m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eriod" startAt="3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Source half-step (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∈[0,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/2]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)</a:t>
                  </a:r>
                </a:p>
                <a:p>
                  <a:pPr>
                    <a:lnSpc>
                      <a:spcPct val="150000"/>
                    </a:lnSpc>
                    <a:defRPr/>
                  </a:pPr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′′′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𝑡</m:t>
                            </m:r>
                          </m:den>
                        </m:f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=</m:t>
                        </m:r>
                        <m:r>
                          <a:rPr lang="en-US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𝒔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𝒒</m:t>
                                </m:r>
                              </m:e>
                              <m:sup>
                                <m:r>
                                  <a:rPr lang="en-US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′′</m:t>
                                </m:r>
                                <m:r>
                                  <a:rPr lang="en-US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,  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𝒏</m:t>
                            </m:r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+</m:t>
                            </m:r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𝟏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(0)=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′′′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Δt</m:t>
                        </m:r>
                        <m: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/2)</m:t>
                        </m:r>
                      </m:oMath>
                    </m:oMathPara>
                  </a14:m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08EC778-47EF-0FED-3E9D-0A613FC858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7137" y="1121556"/>
                  <a:ext cx="4614861" cy="5021759"/>
                </a:xfrm>
                <a:prstGeom prst="rect">
                  <a:avLst/>
                </a:prstGeom>
                <a:blipFill>
                  <a:blip r:embed="rId3"/>
                  <a:stretch>
                    <a:fillRect l="-10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45E84D7A-263F-2971-AC19-FAFC1D68B65C}"/>
                    </a:ext>
                  </a:extLst>
                </p:cNvPr>
                <p:cNvSpPr/>
                <p:nvPr/>
              </p:nvSpPr>
              <p:spPr>
                <a:xfrm>
                  <a:off x="438149" y="1121555"/>
                  <a:ext cx="3328988" cy="5442516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txBody>
                <a:bodyPr wrap="square" lIns="91440" tIns="45720" rIns="91440" bIns="45720" anchor="t">
                  <a:spAutoFit/>
                </a:bodyPr>
                <a:lstStyle/>
                <a:p>
                  <a:pPr>
                    <a:lnSpc>
                      <a:spcPct val="150000"/>
                    </a:lnSpc>
                    <a:defRPr/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Motivation: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Two physics with very different timescales:</a:t>
                  </a: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Fluid: pressure waves, advection, governed by CFL timestep</a:t>
                  </a: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Bubbles: Oscillate much faster (stiff)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Integrating both together forces a tiny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 everywhere </a:t>
                  </a: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  <a:sym typeface="Wingdings" panose="05000000000000000000" pitchFamily="2" charset="2"/>
                    </a:rPr>
                    <a:t> expensive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  <a:sym typeface="Wingdings" panose="05000000000000000000" pitchFamily="2" charset="2"/>
                    </a:rPr>
                    <a:t>Solution: Treat as separate operators</a:t>
                  </a:r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45E84D7A-263F-2971-AC19-FAFC1D68B6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149" y="1121555"/>
                  <a:ext cx="3328988" cy="5442516"/>
                </a:xfrm>
                <a:prstGeom prst="rect">
                  <a:avLst/>
                </a:prstGeom>
                <a:blipFill>
                  <a:blip r:embed="rId4"/>
                  <a:stretch>
                    <a:fillRect l="-1460" r="-2007" b="-78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0265C4C-61B6-E7DE-1E9B-A0C5EA52BF6D}"/>
                    </a:ext>
                  </a:extLst>
                </p:cNvPr>
                <p:cNvSpPr/>
                <p:nvPr/>
              </p:nvSpPr>
              <p:spPr>
                <a:xfrm>
                  <a:off x="8381998" y="1121555"/>
                  <a:ext cx="3971925" cy="4611519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txBody>
                <a:bodyPr wrap="square" lIns="91440" tIns="45720" rIns="91440" bIns="45720" anchor="t">
                  <a:spAutoFit/>
                </a:bodyPr>
                <a:lstStyle/>
                <a:p>
                  <a:pPr>
                    <a:lnSpc>
                      <a:spcPct val="150000"/>
                    </a:lnSpc>
                    <a:defRPr/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Key Points: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Half + full + half achieves 2nd-order splitting accuracy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Full + full achieves 1st-order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Steps 1 &amp; 3 </a:t>
                  </a:r>
                  <a:r>
                    <a:rPr lang="en-US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subcycle</a:t>
                  </a: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 internally with an adaptive embedded RK scheme</a:t>
                  </a: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Takes as many steps as needed to reach exactly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/2</m:t>
                      </m:r>
                    </m:oMath>
                  </a14:m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Step 2 uses the standard TVD-RK fluid update at the CFL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</m:oMath>
                  </a14:m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0265C4C-61B6-E7DE-1E9B-A0C5EA52BF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998" y="1121555"/>
                  <a:ext cx="3971925" cy="4611519"/>
                </a:xfrm>
                <a:prstGeom prst="rect">
                  <a:avLst/>
                </a:prstGeom>
                <a:blipFill>
                  <a:blip r:embed="rId5"/>
                  <a:stretch>
                    <a:fillRect l="-1225" r="-1378" b="-118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90268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4CB0-073B-1D1B-A7C0-C46C69BE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01F3CB-D49C-DBDE-58DC-A564164ED2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Code Extensions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E11EDDA-0A57-4755-AED2-79599143743D}"/>
                  </a:ext>
                </a:extLst>
              </p:cNvPr>
              <p:cNvSpPr/>
              <p:nvPr/>
            </p:nvSpPr>
            <p:spPr>
              <a:xfrm>
                <a:off x="783845" y="1961032"/>
                <a:ext cx="6931406" cy="4272388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Azimuthal mapping operator to each 3D bubble: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∙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𝜋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𝑟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𝜋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∙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Preserves equivalent axisymmetric bubble volume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Deposits bubble source terms consistently in cylindrical coordinates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Resulting axisymmetric void fraction field: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𝑎𝑥𝑖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≡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𝛽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𝑏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𝑎𝑥𝑖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E11EDDA-0A57-4755-AED2-7959914374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961032"/>
                <a:ext cx="6931406" cy="4272388"/>
              </a:xfrm>
              <a:prstGeom prst="rect">
                <a:avLst/>
              </a:prstGeom>
              <a:blipFill>
                <a:blip r:embed="rId3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772F327-94F7-22E4-2655-14375007A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7599A0-682C-E927-220E-D7A72708E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675" y="1780048"/>
            <a:ext cx="3876675" cy="32979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B6AAA2-F29F-0F86-D35D-5FDB55F20BD1}"/>
              </a:ext>
            </a:extLst>
          </p:cNvPr>
          <p:cNvSpPr txBox="1"/>
          <p:nvPr/>
        </p:nvSpPr>
        <p:spPr>
          <a:xfrm>
            <a:off x="6700837" y="5077951"/>
            <a:ext cx="5086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Axisymmetric mapping of a 3D Lagrangian bubble kernel onto neighboring FVM cells (Maeda-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Colonius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2018).</a:t>
            </a:r>
            <a:endParaRPr lang="en-US" sz="16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4A1174-49B3-604F-821F-8E72681BDDBA}"/>
              </a:ext>
            </a:extLst>
          </p:cNvPr>
          <p:cNvSpPr txBox="1"/>
          <p:nvPr/>
        </p:nvSpPr>
        <p:spPr>
          <a:xfrm>
            <a:off x="783844" y="1088998"/>
            <a:ext cx="9884155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Cylindrical Euler-Lagrange Bubble Model: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allows Lagrangian gas nuclei to be used in the axisymmetric formulation used for the simulations</a:t>
            </a:r>
          </a:p>
        </p:txBody>
      </p:sp>
    </p:spTree>
    <p:extLst>
      <p:ext uri="{BB962C8B-B14F-4D97-AF65-F5344CB8AC3E}">
        <p14:creationId xmlns:p14="http://schemas.microsoft.com/office/powerpoint/2010/main" val="186041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2180-BBA7-FBE1-94D5-A8746F1F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AFEA96-3773-12C8-BDEF-55BCD0FEF7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Code Extensions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ED7197-5D8F-CD60-243D-43EA78716468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442516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Sub-Grid Stochastic Closure: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in a reduced simulation, the Eulerian field carries only the dimension-averaged pressure, but the true pressure fluctuates.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True local pressure: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𝑝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Problem: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MFC identified simulations as “2D” when there are no z-direction grid points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This condition is true for both 2D Cartesian and axisymmetric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As a result, the 2D Cartesian stochastic correction was also applied to axisymmetric cases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Fix implemented: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Added a cylindrical-coordinate branch check: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Apply correction only if 2D and not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cyl_coord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Ensures the axisymmetric bubble simulations use the intended source-mapping without an inconsistent Cartesian stochastic correction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ED7197-5D8F-CD60-243D-43EA78716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442516"/>
              </a:xfrm>
              <a:prstGeom prst="rect">
                <a:avLst/>
              </a:prstGeom>
              <a:blipFill>
                <a:blip r:embed="rId3"/>
                <a:stretch>
                  <a:fillRect l="-519" b="-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ED4F68A-B549-8952-D39E-E28A2898D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36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611CC-3389-3540-E42A-F0CBAF5F7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842EA3-31BE-FFCC-9792-B7F59809EA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Code Extensions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0D4179F-B8BC-C72A-55C7-2C12903DB8AD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2123145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Cylindrical Bubble Verification: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verified</a:t>
                </a: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implementation with a bubble-screen configuration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Single-cycle sinusoidal acoustic pulse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(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𝑓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=300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𝑘𝐻𝑧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𝑎𝑚𝑝𝑙𝑖𝑡𝑢𝑑𝑒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𝑃𝑎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) 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Propagates through water onto a population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𝑁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=200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bubbles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Initial void fraction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≈9.3×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is randomly distributed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Run in full 3D and axisymmetric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0D4179F-B8BC-C72A-55C7-2C12903DB8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2123145"/>
              </a:xfrm>
              <a:prstGeom prst="rect">
                <a:avLst/>
              </a:prstGeom>
              <a:blipFill>
                <a:blip r:embed="rId3"/>
                <a:stretch>
                  <a:fillRect l="-519" b="-3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38BCA59-DC97-C832-EDE5-6115DD2F3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892268-C8AD-BD1D-2D66-06EE0BCC2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3532963"/>
            <a:ext cx="6057137" cy="20419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DF71A1-C662-4761-06AD-8DADA8A36B8D}"/>
              </a:ext>
            </a:extLst>
          </p:cNvPr>
          <p:cNvSpPr txBox="1"/>
          <p:nvPr/>
        </p:nvSpPr>
        <p:spPr>
          <a:xfrm>
            <a:off x="209550" y="5574878"/>
            <a:ext cx="60571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Computational domain for the cylindrical bubble screen test. Acoustic source upstream pulses for a single cycle toward a bubble screen.</a:t>
            </a:r>
            <a:endParaRPr lang="en-US" sz="1600" i="1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79B6DF-D129-668C-FDDE-1474DEA8F631}"/>
              </a:ext>
            </a:extLst>
          </p:cNvPr>
          <p:cNvGrpSpPr/>
          <p:nvPr/>
        </p:nvGrpSpPr>
        <p:grpSpPr>
          <a:xfrm>
            <a:off x="6962774" y="3527334"/>
            <a:ext cx="4798441" cy="3124761"/>
            <a:chOff x="6962774" y="3527334"/>
            <a:chExt cx="4798441" cy="312476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306A466-B8E3-9046-0DF7-9D5D814F7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62774" y="3527334"/>
              <a:ext cx="4798441" cy="20475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0F55161-3EB3-92A1-340F-7F9821BB59CB}"/>
                    </a:ext>
                  </a:extLst>
                </p:cNvPr>
                <p:cNvSpPr txBox="1"/>
                <p:nvPr/>
              </p:nvSpPr>
              <p:spPr>
                <a:xfrm>
                  <a:off x="6962774" y="5574877"/>
                  <a:ext cx="4798441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i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Figure:</a:t>
                  </a: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 Bubble screen at three time instants. Circle areas scale with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  <m:r>
                                <a:rPr lang="en-US" sz="16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1600" i="1" dirty="0"/>
                    <a:t>. </a:t>
                  </a: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Red indicates and expanded bubble, white indicates equilibrium, and blue indicates compressed.</a:t>
                  </a:r>
                  <a:endParaRPr lang="en-US" sz="1600" i="1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0F55161-3EB3-92A1-340F-7F9821BB59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2774" y="5574877"/>
                  <a:ext cx="4798441" cy="1077218"/>
                </a:xfrm>
                <a:prstGeom prst="rect">
                  <a:avLst/>
                </a:prstGeom>
                <a:blipFill>
                  <a:blip r:embed="rId6"/>
                  <a:stretch>
                    <a:fillRect l="-635" t="-1705" r="-889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512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93FE3-3237-9600-33DA-3A84D400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AF203D-1354-CF92-C363-663034869F1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Code Extensions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0BC774-0F8E-DC68-1113-7304C621F298}"/>
              </a:ext>
            </a:extLst>
          </p:cNvPr>
          <p:cNvSpPr/>
          <p:nvPr/>
        </p:nvSpPr>
        <p:spPr>
          <a:xfrm>
            <a:off x="783845" y="1088998"/>
            <a:ext cx="10569955" cy="17030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Cylindrical Bubble Verification: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verified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implementation with a bubble-screen configuration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Compared between the full 3D and the axisymmetric implementations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Ensemble averaged over 10 realizations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Comparisons show good agreement over the duration of the first pulse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DB70219-AC8B-49E4-CBFD-5FC18EA42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182576-3A94-8E14-858A-8A1056D51704}"/>
              </a:ext>
            </a:extLst>
          </p:cNvPr>
          <p:cNvGrpSpPr/>
          <p:nvPr/>
        </p:nvGrpSpPr>
        <p:grpSpPr>
          <a:xfrm>
            <a:off x="371372" y="2954341"/>
            <a:ext cx="10982428" cy="3636314"/>
            <a:chOff x="371372" y="2954341"/>
            <a:chExt cx="10982428" cy="363631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2ED8748-BE5B-0105-F9DF-B7B0B4E92A73}"/>
                </a:ext>
              </a:extLst>
            </p:cNvPr>
            <p:cNvGrpSpPr/>
            <p:nvPr/>
          </p:nvGrpSpPr>
          <p:grpSpPr>
            <a:xfrm>
              <a:off x="515982" y="2954341"/>
              <a:ext cx="10157620" cy="3054260"/>
              <a:chOff x="1265992" y="3627642"/>
              <a:chExt cx="8450354" cy="254090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463BC30-03D8-2C3A-E022-12B2541DC4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5992" y="3629906"/>
                <a:ext cx="3707782" cy="2538644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A2E8276-FB46-F5A7-EB26-1ACE67FC09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2454" y="3627642"/>
                <a:ext cx="3703892" cy="2540590"/>
              </a:xfrm>
              <a:prstGeom prst="rect">
                <a:avLst/>
              </a:prstGeom>
            </p:spPr>
          </p:pic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23AE31B-65BD-2E92-9546-05E921AA084B}"/>
                </a:ext>
              </a:extLst>
            </p:cNvPr>
            <p:cNvSpPr txBox="1"/>
            <p:nvPr/>
          </p:nvSpPr>
          <p:spPr>
            <a:xfrm>
              <a:off x="371372" y="6005880"/>
              <a:ext cx="531215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Ensemble averaged void fraction of the 2D axisymmetric and full 3D Cartesian bubble screen tests.</a:t>
              </a:r>
              <a:endParaRPr lang="en-US" sz="1600" i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A76725-6A03-A47B-7DF8-757FE54C191B}"/>
                </a:ext>
              </a:extLst>
            </p:cNvPr>
            <p:cNvSpPr txBox="1"/>
            <p:nvPr/>
          </p:nvSpPr>
          <p:spPr>
            <a:xfrm>
              <a:off x="6506972" y="6005880"/>
              <a:ext cx="484682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Ratio of ensemble averaged void fractions.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085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DA4FC-ACCE-61AA-D952-E29F87C8B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F00B6D-57DD-EBC1-75DF-A7CE8C7D291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Code Extensions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D391CF-29E6-A40E-B21F-7A46BD3CD977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4663200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Multi-Fluid THINC Extension: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implementation in MFC originally contained a two-fluid assumption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Old method assumed that after THINC interface reconstruction,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New version: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Computes the ratio of the new “remaining volume” to the old one</a:t>
                </a:r>
              </a:p>
              <a:p>
                <a:pPr lvl="1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𝑜𝑡ℎ𝑒𝑟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𝑇𝐻𝐼𝑁𝐶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𝑇𝐻𝐼𝑁𝐶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𝑜𝑙𝑑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Rescales all non-tracked fluids proportionally (conserving sum of volume fractions)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Recall: THINC is sharpening </a:t>
                </a: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one interface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(water-air)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Since nothing physically mixed / separated air from bubble-gas, the relative proportions need to be maintained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 different approach would need to be taken if the bubbles were resolved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D391CF-29E6-A40E-B21F-7A46BD3CD9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4663200"/>
              </a:xfrm>
              <a:prstGeom prst="rect">
                <a:avLst/>
              </a:prstGeom>
              <a:blipFill>
                <a:blip r:embed="rId3"/>
                <a:stretch>
                  <a:fillRect l="-519" b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F2C047F-144E-41D6-1A5E-5CC8360D4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6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2AC7-A43F-31DF-4DFE-DD02E942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3C2A3D-624B-1C48-31BD-53823CCC86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Benchmarking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3DAB6D3-38C6-FAFF-0D99-7517B51DD7D1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3365024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Benchmarking Against Shock-Water Column Experiments: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Sembian 2016 studies the interaction of a planar shock (Mach = 1.75 and 2.4) onto a droplet column of diameter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=22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𝑚𝑚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Large droplet allows for the observation of key internal acoustics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Numerical schlieren is compared directly to the experimental shadowgraph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Comparison of transmitted shocks, reflected waves, expansion regions, slip surfaces, and triple-point/Mach-stem structures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Excellent agreement is observed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3DAB6D3-38C6-FAFF-0D99-7517B51DD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3365024"/>
              </a:xfrm>
              <a:prstGeom prst="rect">
                <a:avLst/>
              </a:prstGeom>
              <a:blipFill>
                <a:blip r:embed="rId3"/>
                <a:stretch>
                  <a:fillRect l="-519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B4FA39C-A778-C755-44D5-DD1413965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35B2E41-C82D-FB9A-FF00-90BCCBCA9612}"/>
              </a:ext>
            </a:extLst>
          </p:cNvPr>
          <p:cNvGrpSpPr/>
          <p:nvPr/>
        </p:nvGrpSpPr>
        <p:grpSpPr>
          <a:xfrm>
            <a:off x="5612780" y="3681761"/>
            <a:ext cx="5244244" cy="2634399"/>
            <a:chOff x="5612780" y="3681761"/>
            <a:chExt cx="5244244" cy="26343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EC28ACC-85C2-BBE4-5D7D-9B8FED1A5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12780" y="3681761"/>
              <a:ext cx="5244244" cy="22958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BAC631D-5676-CB02-A4B7-FF32D52E10C0}"/>
                </a:ext>
              </a:extLst>
            </p:cNvPr>
            <p:cNvSpPr txBox="1"/>
            <p:nvPr/>
          </p:nvSpPr>
          <p:spPr>
            <a:xfrm>
              <a:off x="5612780" y="5977606"/>
              <a:ext cx="524424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22mm water column of Sembian 2016.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3079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31408-696A-7903-796E-DC587D72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197747-AC98-0248-0C76-AAA5203A99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Validation / Benchmarking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9A3956-E082-4F6A-6F5D-68E49E85CFDF}"/>
              </a:ext>
            </a:extLst>
          </p:cNvPr>
          <p:cNvSpPr/>
          <p:nvPr/>
        </p:nvSpPr>
        <p:spPr>
          <a:xfrm>
            <a:off x="783845" y="938931"/>
            <a:ext cx="10569955" cy="4565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Benchmarking Against Shock-Water Column Experiments: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AA23279-0384-BA96-7646-D9E69D40E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A36154-92B9-23B2-D092-A4C134F43FFD}"/>
              </a:ext>
            </a:extLst>
          </p:cNvPr>
          <p:cNvGrpSpPr/>
          <p:nvPr/>
        </p:nvGrpSpPr>
        <p:grpSpPr>
          <a:xfrm>
            <a:off x="545826" y="1423038"/>
            <a:ext cx="11100348" cy="4496031"/>
            <a:chOff x="545827" y="1702926"/>
            <a:chExt cx="11100348" cy="44960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C5DE11-2229-247B-2789-F912F6381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827" y="1702926"/>
              <a:ext cx="5321573" cy="449603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79234B-7843-47CA-2766-3B6BD9AF4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759" b="840"/>
            <a:stretch>
              <a:fillRect/>
            </a:stretch>
          </p:blipFill>
          <p:spPr>
            <a:xfrm>
              <a:off x="6324602" y="1702926"/>
              <a:ext cx="5321573" cy="449603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EFA281-133B-E97F-62B7-73578CED8FDE}"/>
              </a:ext>
            </a:extLst>
          </p:cNvPr>
          <p:cNvSpPr txBox="1"/>
          <p:nvPr/>
        </p:nvSpPr>
        <p:spPr>
          <a:xfrm>
            <a:off x="545826" y="6017796"/>
            <a:ext cx="102374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Comparison between experimental shadowgraph images from the Mach 2.4 shock-water-column experiment of Sembian et al. and numerical schlieren fields from the MFC simulation.</a:t>
            </a:r>
            <a:endParaRPr lang="en-US" sz="1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747BCF-6FAB-EA0E-C3D3-9CF24FC8A5D0}"/>
              </a:ext>
            </a:extLst>
          </p:cNvPr>
          <p:cNvGrpSpPr/>
          <p:nvPr/>
        </p:nvGrpSpPr>
        <p:grpSpPr>
          <a:xfrm>
            <a:off x="2390775" y="1967984"/>
            <a:ext cx="2600325" cy="369332"/>
            <a:chOff x="2390775" y="1967984"/>
            <a:chExt cx="2600325" cy="3693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A35B549-FC15-886C-2ACB-4FCF644586E4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DECC9C-822B-8F57-0175-ADA7C765BB64}"/>
                </a:ext>
              </a:extLst>
            </p:cNvPr>
            <p:cNvSpPr txBox="1"/>
            <p:nvPr/>
          </p:nvSpPr>
          <p:spPr>
            <a:xfrm>
              <a:off x="2390775" y="1967984"/>
              <a:ext cx="211455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Transmitted shock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11781B-7CD4-D6FA-9492-41379593CB2C}"/>
              </a:ext>
            </a:extLst>
          </p:cNvPr>
          <p:cNvGrpSpPr/>
          <p:nvPr/>
        </p:nvGrpSpPr>
        <p:grpSpPr>
          <a:xfrm>
            <a:off x="2673677" y="5191929"/>
            <a:ext cx="2222173" cy="369332"/>
            <a:chOff x="1828800" y="1967984"/>
            <a:chExt cx="2222173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35CBA4B-65B3-2C16-A1E5-5C2AF65887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36EE11-E7AB-F637-744A-CDF0067D5C5D}"/>
                </a:ext>
              </a:extLst>
            </p:cNvPr>
            <p:cNvSpPr txBox="1"/>
            <p:nvPr/>
          </p:nvSpPr>
          <p:spPr>
            <a:xfrm>
              <a:off x="2390775" y="1967984"/>
              <a:ext cx="1660198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REx</a:t>
              </a:r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Focusing</a:t>
              </a:r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EA195C-8AB9-D9B8-E299-CC32970181DE}"/>
              </a:ext>
            </a:extLst>
          </p:cNvPr>
          <p:cNvGrpSpPr/>
          <p:nvPr/>
        </p:nvGrpSpPr>
        <p:grpSpPr>
          <a:xfrm>
            <a:off x="7905749" y="1918662"/>
            <a:ext cx="2885581" cy="369332"/>
            <a:chOff x="2105519" y="1967984"/>
            <a:chExt cx="2885581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908B95A-F709-C752-5BD8-302B2B8132CE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BF0E56-2B40-C9BD-F799-126C82493FBA}"/>
                </a:ext>
              </a:extLst>
            </p:cNvPr>
            <p:cNvSpPr txBox="1"/>
            <p:nvPr/>
          </p:nvSpPr>
          <p:spPr>
            <a:xfrm>
              <a:off x="2105519" y="1967984"/>
              <a:ext cx="2399806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Secondary Reflection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FA3CD5-3260-3C99-4B4E-FD6585EB38E0}"/>
              </a:ext>
            </a:extLst>
          </p:cNvPr>
          <p:cNvGrpSpPr/>
          <p:nvPr/>
        </p:nvGrpSpPr>
        <p:grpSpPr>
          <a:xfrm>
            <a:off x="8569157" y="4106079"/>
            <a:ext cx="2961781" cy="369332"/>
            <a:chOff x="1828800" y="1967984"/>
            <a:chExt cx="2961781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7BB067F-4BEC-03F4-8CA6-003946AC8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111AD7-4C87-ECE3-ECDE-40308A77BDEE}"/>
                </a:ext>
              </a:extLst>
            </p:cNvPr>
            <p:cNvSpPr txBox="1"/>
            <p:nvPr/>
          </p:nvSpPr>
          <p:spPr>
            <a:xfrm>
              <a:off x="2390775" y="1967984"/>
              <a:ext cx="2399806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Mach-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</a:t>
              </a:r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ach collision</a:t>
              </a:r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8EAF78-0729-5FE6-802D-25787593F8E3}"/>
              </a:ext>
            </a:extLst>
          </p:cNvPr>
          <p:cNvGrpSpPr/>
          <p:nvPr/>
        </p:nvGrpSpPr>
        <p:grpSpPr>
          <a:xfrm>
            <a:off x="8610600" y="5102659"/>
            <a:ext cx="2743200" cy="369332"/>
            <a:chOff x="1828800" y="1967984"/>
            <a:chExt cx="2743200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6AF428F-4959-7C39-A1D9-83E00BC9F9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376390-B941-35AA-AFF9-F20F250F5C0A}"/>
                </a:ext>
              </a:extLst>
            </p:cNvPr>
            <p:cNvSpPr txBox="1"/>
            <p:nvPr/>
          </p:nvSpPr>
          <p:spPr>
            <a:xfrm>
              <a:off x="2390775" y="1967984"/>
              <a:ext cx="2181225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Re-circulation zone</a:t>
              </a:r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4DAF1D-F108-2363-DA0D-59C925A8D37E}"/>
              </a:ext>
            </a:extLst>
          </p:cNvPr>
          <p:cNvGrpSpPr/>
          <p:nvPr/>
        </p:nvGrpSpPr>
        <p:grpSpPr>
          <a:xfrm>
            <a:off x="2390775" y="4106079"/>
            <a:ext cx="2811548" cy="646331"/>
            <a:chOff x="2179552" y="1967984"/>
            <a:chExt cx="2811548" cy="646331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D52E509-24DC-C789-91A5-0B8FD46E05F7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4103EE-F010-1ED8-C3E8-4D5D4747C2C3}"/>
                </a:ext>
              </a:extLst>
            </p:cNvPr>
            <p:cNvSpPr txBox="1"/>
            <p:nvPr/>
          </p:nvSpPr>
          <p:spPr>
            <a:xfrm>
              <a:off x="2179552" y="1967984"/>
              <a:ext cx="2325773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Reflected expansion waves (</a:t>
              </a:r>
              <a:r>
                <a:rPr lang="en-US" sz="1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REx</a:t>
              </a:r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401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3CDD2-AF03-A84F-F77D-83EC638A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2C0450-0060-4490-2E72-4D93C1FFBE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Mesh Independence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F724C21-12B2-54A8-8895-898305FD3A9C}"/>
                  </a:ext>
                </a:extLst>
              </p:cNvPr>
              <p:cNvSpPr/>
              <p:nvPr/>
            </p:nvSpPr>
            <p:spPr>
              <a:xfrm>
                <a:off x="783846" y="1088998"/>
                <a:ext cx="10569954" cy="5067541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Performed on a clean droplet in our case of interest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7 is chosen for the study as it produces the largest pressure gradients within the droplet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 refinement factor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~</m:t>
                    </m:r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is used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Shock-arrival time, peak pressure, pressure decay, and area-averaged pressure response across mesh levels was compared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meshes show close agreement, hence the medium mesh was chosen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F724C21-12B2-54A8-8895-898305FD3A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6" y="1088998"/>
                <a:ext cx="10569954" cy="5067541"/>
              </a:xfrm>
              <a:prstGeom prst="rect">
                <a:avLst/>
              </a:prstGeom>
              <a:blipFill>
                <a:blip r:embed="rId3"/>
                <a:stretch>
                  <a:fillRect l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11FC903-57BF-1C1F-8D9D-E1D48085F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24B53BE-0D03-3EE4-5BE4-8F42A5A2C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278327"/>
                  </p:ext>
                </p:extLst>
              </p:nvPr>
            </p:nvGraphicFramePr>
            <p:xfrm>
              <a:off x="3426237" y="2562956"/>
              <a:ext cx="5339525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1080">
                      <a:extLst>
                        <a:ext uri="{9D8B030D-6E8A-4147-A177-3AD203B41FA5}">
                          <a16:colId xmlns:a16="http://schemas.microsoft.com/office/drawing/2014/main" val="1961112945"/>
                        </a:ext>
                      </a:extLst>
                    </a:gridCol>
                    <a:gridCol w="1155954">
                      <a:extLst>
                        <a:ext uri="{9D8B030D-6E8A-4147-A177-3AD203B41FA5}">
                          <a16:colId xmlns:a16="http://schemas.microsoft.com/office/drawing/2014/main" val="3825452903"/>
                        </a:ext>
                      </a:extLst>
                    </a:gridCol>
                    <a:gridCol w="2148586">
                      <a:extLst>
                        <a:ext uri="{9D8B030D-6E8A-4147-A177-3AD203B41FA5}">
                          <a16:colId xmlns:a16="http://schemas.microsoft.com/office/drawing/2014/main" val="3728204819"/>
                        </a:ext>
                      </a:extLst>
                    </a:gridCol>
                    <a:gridCol w="1013905">
                      <a:extLst>
                        <a:ext uri="{9D8B030D-6E8A-4147-A177-3AD203B41FA5}">
                          <a16:colId xmlns:a16="http://schemas.microsoft.com/office/drawing/2014/main" val="24361729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Mesh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Cells /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Grid size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0846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6000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×1200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3.33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59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8000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×1600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2.50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5540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12000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×2400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1.67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499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24B53BE-0D03-3EE4-5BE4-8F42A5A2C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278327"/>
                  </p:ext>
                </p:extLst>
              </p:nvPr>
            </p:nvGraphicFramePr>
            <p:xfrm>
              <a:off x="3426237" y="2562956"/>
              <a:ext cx="5339525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1080">
                      <a:extLst>
                        <a:ext uri="{9D8B030D-6E8A-4147-A177-3AD203B41FA5}">
                          <a16:colId xmlns:a16="http://schemas.microsoft.com/office/drawing/2014/main" val="1961112945"/>
                        </a:ext>
                      </a:extLst>
                    </a:gridCol>
                    <a:gridCol w="1155954">
                      <a:extLst>
                        <a:ext uri="{9D8B030D-6E8A-4147-A177-3AD203B41FA5}">
                          <a16:colId xmlns:a16="http://schemas.microsoft.com/office/drawing/2014/main" val="3825452903"/>
                        </a:ext>
                      </a:extLst>
                    </a:gridCol>
                    <a:gridCol w="2148586">
                      <a:extLst>
                        <a:ext uri="{9D8B030D-6E8A-4147-A177-3AD203B41FA5}">
                          <a16:colId xmlns:a16="http://schemas.microsoft.com/office/drawing/2014/main" val="3728204819"/>
                        </a:ext>
                      </a:extLst>
                    </a:gridCol>
                    <a:gridCol w="1013905">
                      <a:extLst>
                        <a:ext uri="{9D8B030D-6E8A-4147-A177-3AD203B41FA5}">
                          <a16:colId xmlns:a16="http://schemas.microsoft.com/office/drawing/2014/main" val="24361729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Mesh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9418" t="-8197" r="-27724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8197" r="-4844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8197" r="-3012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0846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108197" r="-4844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108197" r="-301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759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208197" r="-4844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208197" r="-301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540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308197" r="-4844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308197" r="-301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4994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DDFABA4-E7ED-9EE3-AAA6-27018AD46DA4}"/>
              </a:ext>
            </a:extLst>
          </p:cNvPr>
          <p:cNvSpPr txBox="1"/>
          <p:nvPr/>
        </p:nvSpPr>
        <p:spPr>
          <a:xfrm>
            <a:off x="2618057" y="4046316"/>
            <a:ext cx="6955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 3.5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Mesh levels used in the shock-droplet mesh-independence study.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7456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3BB7-98D4-BAA8-EB1D-F24FE0D9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CC9D18-D2E4-E82E-260F-7C265289C1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272564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Mesh Independence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CC864CA-0DE2-6298-C902-97FD94352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63537" y="6402873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E1BB18-EB64-23C2-29C3-3A45B5F7A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50" y="795760"/>
            <a:ext cx="4274127" cy="303112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AB2D42-DF7F-48CF-7017-006EA1B3E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50" y="3826880"/>
            <a:ext cx="4274127" cy="30311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4662772-EFE3-C78F-097E-A3CBCBE7C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605" y="795760"/>
            <a:ext cx="4274127" cy="30311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1DD94CB-C923-E182-8956-F3A983D36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605" y="3826880"/>
            <a:ext cx="4274127" cy="3031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9487B6D-1B3F-FB6D-258F-258186C904BB}"/>
                  </a:ext>
                </a:extLst>
              </p:cNvPr>
              <p:cNvSpPr txBox="1"/>
              <p:nvPr/>
            </p:nvSpPr>
            <p:spPr>
              <a:xfrm rot="16200000">
                <a:off x="4771198" y="2126653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9487B6D-1B3F-FB6D-258F-258186C90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771198" y="2126653"/>
                <a:ext cx="1168090" cy="369332"/>
              </a:xfrm>
              <a:prstGeom prst="rect">
                <a:avLst/>
              </a:prstGeom>
              <a:blipFill>
                <a:blip r:embed="rId7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4F6FD3-5AE8-A958-FA22-3CDB0F7CBEA0}"/>
                  </a:ext>
                </a:extLst>
              </p:cNvPr>
              <p:cNvSpPr txBox="1"/>
              <p:nvPr/>
            </p:nvSpPr>
            <p:spPr>
              <a:xfrm rot="16200000">
                <a:off x="65857" y="5157773"/>
                <a:ext cx="1291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−(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4F6FD3-5AE8-A958-FA22-3CDB0F7CB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857" y="5157773"/>
                <a:ext cx="1291855" cy="369332"/>
              </a:xfrm>
              <a:prstGeom prst="rect">
                <a:avLst/>
              </a:prstGeom>
              <a:blipFill>
                <a:blip r:embed="rId8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04F54A-B21A-1DFB-6373-622868FD2D5B}"/>
                  </a:ext>
                </a:extLst>
              </p:cNvPr>
              <p:cNvSpPr txBox="1"/>
              <p:nvPr/>
            </p:nvSpPr>
            <p:spPr>
              <a:xfrm rot="16200000">
                <a:off x="4772894" y="5157774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(0,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04F54A-B21A-1DFB-6373-622868FD2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772894" y="5157774"/>
                <a:ext cx="1168090" cy="369332"/>
              </a:xfrm>
              <a:prstGeom prst="rect">
                <a:avLst/>
              </a:prstGeom>
              <a:blipFill>
                <a:blip r:embed="rId9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E00E94-3F52-CC97-3818-69963AF2C112}"/>
                  </a:ext>
                </a:extLst>
              </p:cNvPr>
              <p:cNvSpPr txBox="1"/>
              <p:nvPr/>
            </p:nvSpPr>
            <p:spPr>
              <a:xfrm rot="16200000">
                <a:off x="127739" y="2064770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E00E94-3F52-CC97-3818-69963AF2C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7739" y="2064770"/>
                <a:ext cx="1168090" cy="369332"/>
              </a:xfrm>
              <a:prstGeom prst="rect">
                <a:avLst/>
              </a:prstGeom>
              <a:blipFill>
                <a:blip r:embed="rId10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23CEC98-C755-ACDF-FDC0-5B795680EC80}"/>
              </a:ext>
            </a:extLst>
          </p:cNvPr>
          <p:cNvSpPr txBox="1"/>
          <p:nvPr/>
        </p:nvSpPr>
        <p:spPr>
          <a:xfrm rot="16200000">
            <a:off x="-1072398" y="3244333"/>
            <a:ext cx="2684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Nearest-cell pressures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11A35-150C-3A90-0D46-87AF66A3286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7520" r="10798" b="46886"/>
          <a:stretch>
            <a:fillRect/>
          </a:stretch>
        </p:blipFill>
        <p:spPr>
          <a:xfrm>
            <a:off x="9930275" y="2895364"/>
            <a:ext cx="2176462" cy="12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2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5D3C7-92A0-D56F-9DB3-7849BB4E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43D8DF4-1F36-24DB-B907-D7222E336BC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272564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Mesh Independence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5A4BE2C-002B-3182-F713-6C318EF9F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0824" y="6402873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0F96A86-4595-6BC5-248E-E474B2F3B976}"/>
                  </a:ext>
                </a:extLst>
              </p:cNvPr>
              <p:cNvSpPr txBox="1"/>
              <p:nvPr/>
            </p:nvSpPr>
            <p:spPr>
              <a:xfrm rot="16200000">
                <a:off x="4918989" y="2126653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0F96A86-4595-6BC5-248E-E474B2F3B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918989" y="2126653"/>
                <a:ext cx="1168090" cy="369332"/>
              </a:xfrm>
              <a:prstGeom prst="rect">
                <a:avLst/>
              </a:prstGeom>
              <a:blipFill>
                <a:blip r:embed="rId3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AC8D87-C031-2280-D09A-54B21060A3A7}"/>
                  </a:ext>
                </a:extLst>
              </p:cNvPr>
              <p:cNvSpPr txBox="1"/>
              <p:nvPr/>
            </p:nvSpPr>
            <p:spPr>
              <a:xfrm rot="16200000">
                <a:off x="138570" y="5157773"/>
                <a:ext cx="1291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−(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AC8D87-C031-2280-D09A-54B21060A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8570" y="5157773"/>
                <a:ext cx="1291855" cy="369332"/>
              </a:xfrm>
              <a:prstGeom prst="rect">
                <a:avLst/>
              </a:prstGeom>
              <a:blipFill>
                <a:blip r:embed="rId4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CF4E23-52C1-93B8-D44A-15431E4592B5}"/>
                  </a:ext>
                </a:extLst>
              </p:cNvPr>
              <p:cNvSpPr txBox="1"/>
              <p:nvPr/>
            </p:nvSpPr>
            <p:spPr>
              <a:xfrm rot="16200000">
                <a:off x="4920685" y="5157774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(0,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CF4E23-52C1-93B8-D44A-15431E459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920685" y="5157774"/>
                <a:ext cx="1168090" cy="369332"/>
              </a:xfrm>
              <a:prstGeom prst="rect">
                <a:avLst/>
              </a:prstGeom>
              <a:blipFill>
                <a:blip r:embed="rId5"/>
                <a:stretch>
                  <a:fillRect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9B8F715-993A-AFF5-A16B-B9D1E9EC9382}"/>
                  </a:ext>
                </a:extLst>
              </p:cNvPr>
              <p:cNvSpPr txBox="1"/>
              <p:nvPr/>
            </p:nvSpPr>
            <p:spPr>
              <a:xfrm rot="16200000">
                <a:off x="200452" y="2064770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9B8F715-993A-AFF5-A16B-B9D1E9EC9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00452" y="2064770"/>
                <a:ext cx="1168090" cy="369332"/>
              </a:xfrm>
              <a:prstGeom prst="rect">
                <a:avLst/>
              </a:prstGeom>
              <a:blipFill>
                <a:blip r:embed="rId6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7D7DF9A-34FC-55AE-4777-06322C22856D}"/>
                  </a:ext>
                </a:extLst>
              </p:cNvPr>
              <p:cNvSpPr txBox="1"/>
              <p:nvPr/>
            </p:nvSpPr>
            <p:spPr>
              <a:xfrm rot="16200000">
                <a:off x="-2038451" y="3619193"/>
                <a:ext cx="4755485" cy="415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Area-averaged pressures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𝒂𝒗𝒈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=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/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𝟒𝟎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7D7DF9A-34FC-55AE-4777-06322C228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038451" y="3619193"/>
                <a:ext cx="4755485" cy="415370"/>
              </a:xfrm>
              <a:prstGeom prst="rect">
                <a:avLst/>
              </a:prstGeom>
              <a:blipFill>
                <a:blip r:embed="rId7"/>
                <a:stretch>
                  <a:fillRect l="-4412" r="-16176" b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4FCDC61-59FC-3BBC-F7F7-ECB1071976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016" y="795757"/>
            <a:ext cx="4274128" cy="3031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3E958C-D802-00A9-A27C-F3335006B7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7701" y="795757"/>
            <a:ext cx="4274128" cy="30311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C62102-3817-4C8B-7FA0-F858F4E5EA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016" y="3826878"/>
            <a:ext cx="4274128" cy="30311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D63045-705F-B13D-F77F-55D0FC7554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7701" y="3826878"/>
            <a:ext cx="4274129" cy="3031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CF13F9-9C42-C1F0-13A2-4F42AB60F1E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7520" r="10798" b="46886"/>
          <a:stretch>
            <a:fillRect/>
          </a:stretch>
        </p:blipFill>
        <p:spPr>
          <a:xfrm>
            <a:off x="9930275" y="2895364"/>
            <a:ext cx="2176462" cy="12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0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C98D-18EC-BFE4-27E3-DAFDA194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8276B1-73CD-9D5B-307F-1340DE81A3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Summary of Assumptions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5BE4B7-48B2-44D0-CFA7-DAD27F59959E}"/>
              </a:ext>
            </a:extLst>
          </p:cNvPr>
          <p:cNvSpPr/>
          <p:nvPr/>
        </p:nvSpPr>
        <p:spPr>
          <a:xfrm>
            <a:off x="783846" y="999986"/>
            <a:ext cx="10569954" cy="58580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Geometry / interface: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Axisymmetric geometry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Diffuse-interface formulation with interface sharpening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Droplet-scale surface tension neglected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Sub-grid nuclei model: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Bubbles are modeled as spherical sub-grid nuclei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Bubbles remain fixed in space; no stochastic correction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 asymmetrical collapse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Bubble-bubble interaction only through the resolved pressure field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Thermodynamic / transport simplifications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Non-condensable gas nuclei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 vapor production, mass transfer, and phase change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Polytropic bubble gas response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Neglecting viscosity in Eulerian phase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5D0598F-7B7F-0E84-F72B-E786E02A8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9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29AAE-DF78-3616-EA39-F2983B24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45EB6E-42A0-B25D-24FB-C0E1B1614D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Non-</a:t>
            </a:r>
            <a:r>
              <a:rPr lang="en-US" sz="2800" b="1" dirty="0" err="1">
                <a:solidFill>
                  <a:srgbClr val="00509A"/>
                </a:solidFill>
                <a:latin typeface="Arial"/>
                <a:ea typeface="Roboto"/>
                <a:cs typeface="Arial"/>
              </a:rPr>
              <a:t>dimensionalization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7E6D86-7DF4-BB46-E214-BC967FEC04F2}"/>
                  </a:ext>
                </a:extLst>
              </p:cNvPr>
              <p:cNvSpPr/>
              <p:nvPr/>
            </p:nvSpPr>
            <p:spPr>
              <a:xfrm>
                <a:off x="783845" y="1088998"/>
                <a:ext cx="6759955" cy="4633641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Shock-droplet interaction in the absence of dissolved gas nuclei.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quantities are presented in the dimensionless time: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𝜏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𝑎𝑟𝑟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is the Ranger-Nichols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aerobreakup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timescale: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𝑈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𝑔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Define acoustic crossing time: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𝐷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7E6D86-7DF4-BB46-E214-BC967FEC04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6759955" cy="4633641"/>
              </a:xfrm>
              <a:prstGeom prst="rect">
                <a:avLst/>
              </a:prstGeo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74F043C-073E-AAF6-9324-0E571241B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FA9B519-C7F3-0725-79B3-B68892AC6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6460632"/>
                  </p:ext>
                </p:extLst>
              </p:nvPr>
            </p:nvGraphicFramePr>
            <p:xfrm>
              <a:off x="7543800" y="2419379"/>
              <a:ext cx="4308856" cy="2262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3291">
                      <a:extLst>
                        <a:ext uri="{9D8B030D-6E8A-4147-A177-3AD203B41FA5}">
                          <a16:colId xmlns:a16="http://schemas.microsoft.com/office/drawing/2014/main" val="1149116295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4262753197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2676493960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17219536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50462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𝑝𝑜𝑠𝑡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𝑀𝑃𝑎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2.929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5.757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6233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𝑝𝑜𝑠𝑡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772.5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1390.6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1986.5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114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19.27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6.31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7628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83341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0.0319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0.0653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0.0971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58574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FA9B519-C7F3-0725-79B3-B68892AC6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6460632"/>
                  </p:ext>
                </p:extLst>
              </p:nvPr>
            </p:nvGraphicFramePr>
            <p:xfrm>
              <a:off x="7543800" y="2419379"/>
              <a:ext cx="4308856" cy="2262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3291">
                      <a:extLst>
                        <a:ext uri="{9D8B030D-6E8A-4147-A177-3AD203B41FA5}">
                          <a16:colId xmlns:a16="http://schemas.microsoft.com/office/drawing/2014/main" val="1149116295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4262753197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2676493960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17219536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5046295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0" t="-103125" r="-156115" b="-4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2.929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5.757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6233540"/>
                      </a:ext>
                    </a:extLst>
                  </a:tr>
                  <a:tr h="3918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0" t="-203125" r="-156115" b="-3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772.5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1390.6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1986.5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114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0" t="-318033" r="-156115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19.27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6.31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7628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0" t="-418033" r="-15611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83341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0" t="-518033" r="-156115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0.0319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0.0653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0.0971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58574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686B7AB-AB37-A398-E785-E9C8416F20EA}"/>
              </a:ext>
            </a:extLst>
          </p:cNvPr>
          <p:cNvSpPr txBox="1"/>
          <p:nvPr/>
        </p:nvSpPr>
        <p:spPr>
          <a:xfrm>
            <a:off x="8413460" y="4681567"/>
            <a:ext cx="3137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Key acoustic timescales.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513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6976D-DEB6-E92D-475F-785466665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B31934-14AB-E89A-ADA8-BD8357BA15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Internal Wave Structure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6728DC7-6B59-5D6C-E8D7-68188BE2B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918E05-4880-7E84-DB85-5545934137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188"/>
          <a:stretch>
            <a:fillRect/>
          </a:stretch>
        </p:blipFill>
        <p:spPr>
          <a:xfrm>
            <a:off x="64976" y="875741"/>
            <a:ext cx="4078399" cy="5106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DE111A-4671-ABD4-BA07-80BFD93C970F}"/>
              </a:ext>
            </a:extLst>
          </p:cNvPr>
          <p:cNvSpPr txBox="1"/>
          <p:nvPr/>
        </p:nvSpPr>
        <p:spPr>
          <a:xfrm>
            <a:off x="1853516" y="5982259"/>
            <a:ext cx="8490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Space-time diagram of axial centerline pressure for the three clean-baseline cases.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Left: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Mach 3;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center:</a:t>
            </a:r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Mach 5;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right: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Mach 7.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441BE1-C730-A39A-AEDF-CF816DB1C8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11" r="33765"/>
          <a:stretch>
            <a:fillRect/>
          </a:stretch>
        </p:blipFill>
        <p:spPr>
          <a:xfrm>
            <a:off x="4143375" y="875741"/>
            <a:ext cx="3910966" cy="51065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80C062-47C7-D82F-CF23-2E7F7E3F89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36"/>
          <a:stretch>
            <a:fillRect/>
          </a:stretch>
        </p:blipFill>
        <p:spPr>
          <a:xfrm>
            <a:off x="8054341" y="875741"/>
            <a:ext cx="4072682" cy="510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6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AE20-6CD2-0C73-6CCC-60FC8C323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466BE9-0C4A-7B86-6AB8-D37DBCB60E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Peak Pressure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9A8D6CF-0BEC-9AAA-1E19-F54723DA2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ADD1E-E702-EC72-C0A1-D8D9C6D02A41}"/>
              </a:ext>
            </a:extLst>
          </p:cNvPr>
          <p:cNvSpPr txBox="1"/>
          <p:nvPr/>
        </p:nvSpPr>
        <p:spPr>
          <a:xfrm>
            <a:off x="783845" y="5114896"/>
            <a:ext cx="11071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Center-probe pressure history plotted against time normalized by the acoustic crossing time.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Left: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absolute pressure.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Right: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pressure normalized by case-specific post-shock pressure.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96CB9-19A1-80C5-57DE-BE5CE9803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2" y="1248428"/>
            <a:ext cx="6024608" cy="3715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B93BBE-B04B-8750-8BCA-A4B6CA836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1238975"/>
            <a:ext cx="6024608" cy="372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3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2A45B-1DBB-C304-5BDF-8994C8C5A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D627BA-274D-5F0E-E9FC-1E42B41CEE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Rarefaction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080B21-AD43-5A6A-6906-3098686CCF8C}"/>
              </a:ext>
            </a:extLst>
          </p:cNvPr>
          <p:cNvSpPr/>
          <p:nvPr/>
        </p:nvSpPr>
        <p:spPr>
          <a:xfrm>
            <a:off x="783845" y="1088998"/>
            <a:ext cx="10569955" cy="502701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Each acoustic reflection generates a rarefaction wave that propagates back into the droplet and produces tensile pressures.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Non-dimensional acoustic crossing times reveal the minimum rarefaction on the centerline occur shortly after the first expansion wave reflection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90D22FE-1D53-1DAD-0055-8C44BAA15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17BA8B8-F6C9-59EB-0AD3-8FFC27BEED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912855"/>
                  </p:ext>
                </p:extLst>
              </p:nvPr>
            </p:nvGraphicFramePr>
            <p:xfrm>
              <a:off x="2032000" y="2216181"/>
              <a:ext cx="8128000" cy="22621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14911629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26275319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6764939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7219536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50462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𝑀𝑃𝑎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-4.53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-63.7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114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𝑝𝑜𝑠𝑡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-4.3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-9.4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-11.1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4848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0.38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7628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0.106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83341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58574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17BA8B8-F6C9-59EB-0AD3-8FFC27BEED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912855"/>
                  </p:ext>
                </p:extLst>
              </p:nvPr>
            </p:nvGraphicFramePr>
            <p:xfrm>
              <a:off x="2032000" y="2216181"/>
              <a:ext cx="8128000" cy="22621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14911629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26275319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6764939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7219536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504629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" t="-106452" r="-300599" b="-425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-4.53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-63.7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114673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" t="-200000" r="-300599" b="-3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-4.3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-9.4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-11.1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484830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" t="-309677" r="-300599" b="-2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0.38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762898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" t="-409677" r="-300599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0.106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83341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" t="-518033" r="-30059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58574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713337-5199-93B3-0593-8F70C82BF2E4}"/>
                  </a:ext>
                </a:extLst>
              </p:cNvPr>
              <p:cNvSpPr txBox="1"/>
              <p:nvPr/>
            </p:nvSpPr>
            <p:spPr>
              <a:xfrm>
                <a:off x="2005165" y="4478305"/>
                <a:ext cx="8181669" cy="349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Table: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Minimum centerline pressure.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𝑐𝑙</m:t>
                        </m:r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is the global minimum over the centerline.</a:t>
                </a:r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713337-5199-93B3-0593-8F70C82BF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165" y="4478305"/>
                <a:ext cx="8181669" cy="349326"/>
              </a:xfrm>
              <a:prstGeom prst="rect">
                <a:avLst/>
              </a:prstGeom>
              <a:blipFill>
                <a:blip r:embed="rId4"/>
                <a:stretch>
                  <a:fillRect l="-447" t="-5263"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78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A40E-9F5F-7AB3-EA4E-9362930B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907C0D8-9F15-EA03-4FA5-5D679E29C2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Rarefaction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49BA7CB-DE65-6030-2809-DD3915F80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8EACD-441E-2F47-0121-429A4A7FA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65" y="1095048"/>
            <a:ext cx="10868269" cy="44558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74B6-7A20-7BF8-B29C-ECE6A956E3B8}"/>
                  </a:ext>
                </a:extLst>
              </p:cNvPr>
              <p:cNvSpPr txBox="1"/>
              <p:nvPr/>
            </p:nvSpPr>
            <p:spPr>
              <a:xfrm>
                <a:off x="661865" y="5550855"/>
                <a:ext cx="10868269" cy="603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Minimum centerline pressure along the droplet axis, minimized over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𝜏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0,0.45</m:t>
                        </m:r>
                      </m:e>
                    </m:d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.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absolute minimum pressure.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normalized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𝑝𝑜𝑠𝑡</m:t>
                        </m:r>
                      </m:sub>
                    </m:sSub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74B6-7A20-7BF8-B29C-ECE6A956E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65" y="5550855"/>
                <a:ext cx="10868269" cy="603755"/>
              </a:xfrm>
              <a:prstGeom prst="rect">
                <a:avLst/>
              </a:prstGeom>
              <a:blipFill>
                <a:blip r:embed="rId4"/>
                <a:stretch>
                  <a:fillRect l="-337" t="-4040"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78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E00821-90AC-4D5A-4E96-9B75E7FBE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B11BE9-D984-35FA-A33B-92EBDBC2AE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Blake Threshold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FA57EA-8475-A1EA-5DC4-612AB29E94ED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2566408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Blake threshold serves as the quasi-static stability limit for nuclei.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If pressure falls well below the threshold, explosive growth is expected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For a spherical gas nucleus in mechanical equilibrium: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𝐵𝐿𝐴𝐾𝐸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𝑣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4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𝜎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3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𝜎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𝑔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FA57EA-8475-A1EA-5DC4-612AB29E94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2566408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03C70BA-55E8-FB7B-CCEB-D4E67B872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5E2FCAF-9C08-F631-F703-C8C3B2D36A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0638294"/>
                  </p:ext>
                </p:extLst>
              </p:nvPr>
            </p:nvGraphicFramePr>
            <p:xfrm>
              <a:off x="3080385" y="3914802"/>
              <a:ext cx="603123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1816">
                      <a:extLst>
                        <a:ext uri="{9D8B030D-6E8A-4147-A177-3AD203B41FA5}">
                          <a16:colId xmlns:a16="http://schemas.microsoft.com/office/drawing/2014/main" val="1149116295"/>
                        </a:ext>
                      </a:extLst>
                    </a:gridCol>
                    <a:gridCol w="1665542">
                      <a:extLst>
                        <a:ext uri="{9D8B030D-6E8A-4147-A177-3AD203B41FA5}">
                          <a16:colId xmlns:a16="http://schemas.microsoft.com/office/drawing/2014/main" val="4262753197"/>
                        </a:ext>
                      </a:extLst>
                    </a:gridCol>
                    <a:gridCol w="3293872">
                      <a:extLst>
                        <a:ext uri="{9D8B030D-6E8A-4147-A177-3AD203B41FA5}">
                          <a16:colId xmlns:a16="http://schemas.microsoft.com/office/drawing/2014/main" val="2676493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𝑩𝑳𝑨𝑲𝑬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𝑴𝑷𝒂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Threshold exceed for </a:t>
                          </a:r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3, 5, 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50462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-0.534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6233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-0.257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114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7628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83341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5E2FCAF-9C08-F631-F703-C8C3B2D36A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0638294"/>
                  </p:ext>
                </p:extLst>
              </p:nvPr>
            </p:nvGraphicFramePr>
            <p:xfrm>
              <a:off x="3080385" y="3914802"/>
              <a:ext cx="603123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1816">
                      <a:extLst>
                        <a:ext uri="{9D8B030D-6E8A-4147-A177-3AD203B41FA5}">
                          <a16:colId xmlns:a16="http://schemas.microsoft.com/office/drawing/2014/main" val="1149116295"/>
                        </a:ext>
                      </a:extLst>
                    </a:gridCol>
                    <a:gridCol w="1665542">
                      <a:extLst>
                        <a:ext uri="{9D8B030D-6E8A-4147-A177-3AD203B41FA5}">
                          <a16:colId xmlns:a16="http://schemas.microsoft.com/office/drawing/2014/main" val="4262753197"/>
                        </a:ext>
                      </a:extLst>
                    </a:gridCol>
                    <a:gridCol w="3293872">
                      <a:extLst>
                        <a:ext uri="{9D8B030D-6E8A-4147-A177-3AD203B41FA5}">
                          <a16:colId xmlns:a16="http://schemas.microsoft.com/office/drawing/2014/main" val="2676493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68" t="-8197" r="-464773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4835" t="-8197" r="-199634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Threshold exceed for </a:t>
                          </a:r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3, 5, 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50462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68" t="-108197" r="-46477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-0.534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6233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-0.257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114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7628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83341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902D6DA-C3FE-0E34-BAF6-1C1814B74929}"/>
              </a:ext>
            </a:extLst>
          </p:cNvPr>
          <p:cNvSpPr txBox="1"/>
          <p:nvPr/>
        </p:nvSpPr>
        <p:spPr>
          <a:xfrm>
            <a:off x="2983736" y="5853640"/>
            <a:ext cx="61701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 4.4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Blake threshold pressure for each bubble radius studied.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3701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C5B3-0BD8-445E-C380-1668164A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C54A275-0CAB-9001-44ED-99A7A5E0780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</a:t>
            </a:r>
            <a:r>
              <a:rPr lang="en-US" sz="2800" b="1" dirty="0" err="1">
                <a:solidFill>
                  <a:srgbClr val="00509A"/>
                </a:solidFill>
                <a:latin typeface="Arial"/>
                <a:ea typeface="Roboto"/>
                <a:cs typeface="Arial"/>
              </a:rPr>
              <a:t>Underpressure</a:t>
            </a: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 Integral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0CF5B5E-3849-0DC7-3A75-2BF0E11F3777}"/>
                  </a:ext>
                </a:extLst>
              </p:cNvPr>
              <p:cNvSpPr/>
              <p:nvPr/>
            </p:nvSpPr>
            <p:spPr>
              <a:xfrm>
                <a:off x="245327" y="1313195"/>
                <a:ext cx="5229923" cy="3036216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To quantify the tensile loading experienced by a nucleus, we define the normalized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underpressure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integral: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𝐼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𝑐𝑎𝑣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𝑝𝑜𝑠𝑡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𝑒𝑛𝑑</m:t>
                              </m:r>
                            </m:sub>
                          </m:sSub>
                        </m:sup>
                        <m:e>
                          <m:func>
                            <m:funcPr>
                              <m:ctrlPr>
                                <a:rPr lang="en-US" b="0" i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0,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𝑐𝑎𝑣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Concentrated in downstream half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Increases with Mach at every position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0CF5B5E-3849-0DC7-3A75-2BF0E11F37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27" y="1313195"/>
                <a:ext cx="5229923" cy="3036216"/>
              </a:xfrm>
              <a:prstGeom prst="rect">
                <a:avLst/>
              </a:prstGeom>
              <a:blipFill>
                <a:blip r:embed="rId3"/>
                <a:stretch>
                  <a:fillRect l="-932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00973D8-3C10-058F-9F80-292F0A802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39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960A2E-A542-7DD3-6C5D-7D922F350070}"/>
              </a:ext>
            </a:extLst>
          </p:cNvPr>
          <p:cNvGrpSpPr/>
          <p:nvPr/>
        </p:nvGrpSpPr>
        <p:grpSpPr>
          <a:xfrm>
            <a:off x="5853906" y="1313195"/>
            <a:ext cx="6216175" cy="4794361"/>
            <a:chOff x="5853906" y="1313195"/>
            <a:chExt cx="6216175" cy="479436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FEEAA6-4255-782F-83BB-129FACB5B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3906" y="1313195"/>
              <a:ext cx="5376227" cy="4455807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F49EEED-9760-7CD0-8117-6BEDDCFF918A}"/>
                </a:ext>
              </a:extLst>
            </p:cNvPr>
            <p:cNvSpPr txBox="1"/>
            <p:nvPr/>
          </p:nvSpPr>
          <p:spPr>
            <a:xfrm>
              <a:off x="6096001" y="5769002"/>
              <a:ext cx="59740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</a:t>
              </a:r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Underpressure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integral at centerline over Mach = 3, 5, 7.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8677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3D0E-4E7F-CBAE-7E13-D7C6644C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E87D35-9801-E8E7-CEED-8891A7464F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Early Droplet Deformation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627AF54-6BB0-A43D-2809-8F9BFDE4B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6581" y="6442265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C194C2-3D1E-C334-CAEC-A27C00470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604" y="914095"/>
            <a:ext cx="3854648" cy="5924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C09B70-9430-68FC-A933-3E41CC207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252" y="914095"/>
            <a:ext cx="3810196" cy="59439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F9846D4-DD6D-9A69-18CE-838FD506B1F8}"/>
              </a:ext>
            </a:extLst>
          </p:cNvPr>
          <p:cNvSpPr/>
          <p:nvPr/>
        </p:nvSpPr>
        <p:spPr>
          <a:xfrm>
            <a:off x="108120" y="5337295"/>
            <a:ext cx="4043604" cy="12875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Numerical schlieren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left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and numerical shadowgraph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right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of the early-time droplet deformation.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88605B-304A-996A-A09F-BB19431D61A3}"/>
              </a:ext>
            </a:extLst>
          </p:cNvPr>
          <p:cNvSpPr/>
          <p:nvPr/>
        </p:nvSpPr>
        <p:spPr>
          <a:xfrm>
            <a:off x="0" y="1352979"/>
            <a:ext cx="4043604" cy="33650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Early-time droplet deformation: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Noticeable flattening on the windward 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Rim roll-up and lip 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RTP mode 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Dimple forming at the aft interface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Numerical artifact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*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Upstream-face dimple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2A9B76-FF8B-1B3D-71C7-E35470AC80B6}"/>
              </a:ext>
            </a:extLst>
          </p:cNvPr>
          <p:cNvGrpSpPr/>
          <p:nvPr/>
        </p:nvGrpSpPr>
        <p:grpSpPr>
          <a:xfrm>
            <a:off x="7787639" y="2666159"/>
            <a:ext cx="1843695" cy="369332"/>
            <a:chOff x="3147405" y="1967984"/>
            <a:chExt cx="1843695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9395088-FAD3-964B-E97B-D6B0A60E218D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D89AD9-B554-D666-D292-935C79B381D5}"/>
                </a:ext>
              </a:extLst>
            </p:cNvPr>
            <p:cNvSpPr txBox="1"/>
            <p:nvPr/>
          </p:nvSpPr>
          <p:spPr>
            <a:xfrm>
              <a:off x="3147405" y="1967984"/>
              <a:ext cx="1357919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Rim roll-up</a:t>
              </a:r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476135-D332-4DFD-BED5-5236102C0959}"/>
              </a:ext>
            </a:extLst>
          </p:cNvPr>
          <p:cNvGrpSpPr/>
          <p:nvPr/>
        </p:nvGrpSpPr>
        <p:grpSpPr>
          <a:xfrm>
            <a:off x="5025997" y="6218339"/>
            <a:ext cx="3305175" cy="369332"/>
            <a:chOff x="1828800" y="1967984"/>
            <a:chExt cx="3305175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0131B5A-BC08-2592-F56C-CC5DB14C58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1608EB-402C-2723-A748-96432155D729}"/>
                </a:ext>
              </a:extLst>
            </p:cNvPr>
            <p:cNvSpPr txBox="1"/>
            <p:nvPr/>
          </p:nvSpPr>
          <p:spPr>
            <a:xfrm>
              <a:off x="2390775" y="1967984"/>
              <a:ext cx="274320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Windward face flattening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FF6CBA-72A7-D5D7-1440-B4125D77F3B0}"/>
              </a:ext>
            </a:extLst>
          </p:cNvPr>
          <p:cNvGrpSpPr/>
          <p:nvPr/>
        </p:nvGrpSpPr>
        <p:grpSpPr>
          <a:xfrm>
            <a:off x="7581900" y="3822510"/>
            <a:ext cx="2013436" cy="369332"/>
            <a:chOff x="2977664" y="1967984"/>
            <a:chExt cx="2013436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C68C03B-11D7-FCB4-0A4C-E384F5D1F72C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80F774-D260-4DBF-4B23-AE33AF5D71BD}"/>
                </a:ext>
              </a:extLst>
            </p:cNvPr>
            <p:cNvSpPr txBox="1"/>
            <p:nvPr/>
          </p:nvSpPr>
          <p:spPr>
            <a:xfrm>
              <a:off x="2977664" y="1967984"/>
              <a:ext cx="1527661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Lip formation</a:t>
              </a:r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827BC47-8A68-C120-9325-63989CE928CB}"/>
              </a:ext>
            </a:extLst>
          </p:cNvPr>
          <p:cNvGrpSpPr/>
          <p:nvPr/>
        </p:nvGrpSpPr>
        <p:grpSpPr>
          <a:xfrm>
            <a:off x="9145557" y="2758492"/>
            <a:ext cx="1746840" cy="369332"/>
            <a:chOff x="3244260" y="1967984"/>
            <a:chExt cx="1746840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D1732C2-FA25-BC19-699E-93B11C03CD5E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C2DFB1-DF83-7280-A9B0-F1BEF79CCB6A}"/>
                </a:ext>
              </a:extLst>
            </p:cNvPr>
            <p:cNvSpPr txBox="1"/>
            <p:nvPr/>
          </p:nvSpPr>
          <p:spPr>
            <a:xfrm>
              <a:off x="3244260" y="1967984"/>
              <a:ext cx="1261065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RT modes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F0D6FA-A38C-DBF0-598A-6722295A13F8}"/>
              </a:ext>
            </a:extLst>
          </p:cNvPr>
          <p:cNvGrpSpPr/>
          <p:nvPr/>
        </p:nvGrpSpPr>
        <p:grpSpPr>
          <a:xfrm>
            <a:off x="7306234" y="4692657"/>
            <a:ext cx="2753993" cy="369332"/>
            <a:chOff x="1828800" y="1967984"/>
            <a:chExt cx="2753993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6697C4D-16F4-3007-7155-1C4A961D3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F520A0-1FE8-2F32-D26E-AD83B3D82AFA}"/>
                </a:ext>
              </a:extLst>
            </p:cNvPr>
            <p:cNvSpPr txBox="1"/>
            <p:nvPr/>
          </p:nvSpPr>
          <p:spPr>
            <a:xfrm>
              <a:off x="2390775" y="1967984"/>
              <a:ext cx="2192018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Aft-interface dimple</a:t>
              </a:r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09F5F87-D65B-B1A2-E1DC-8D9F3B336BD9}"/>
              </a:ext>
            </a:extLst>
          </p:cNvPr>
          <p:cNvGrpSpPr/>
          <p:nvPr/>
        </p:nvGrpSpPr>
        <p:grpSpPr>
          <a:xfrm>
            <a:off x="6797041" y="1672485"/>
            <a:ext cx="3055618" cy="369332"/>
            <a:chOff x="1935482" y="1967984"/>
            <a:chExt cx="3055618" cy="3693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7104312-8B1E-2606-841E-FB7973E491E6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553935-1D3F-7208-39EB-8B0C53DB7477}"/>
                </a:ext>
              </a:extLst>
            </p:cNvPr>
            <p:cNvSpPr txBox="1"/>
            <p:nvPr/>
          </p:nvSpPr>
          <p:spPr>
            <a:xfrm>
              <a:off x="1935482" y="1967984"/>
              <a:ext cx="2569844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Upstream-face dimple</a:t>
              </a: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*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1556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6DDFE-4335-99D1-D98A-1633BE6F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5364B5-B0F4-DA98-AF34-732AF98822C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Spatial Selectivity of Activation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99C32BB-1E4F-4BA7-7D5E-00C0ADD2F1CD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2118529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normalized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underpressure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integral predicted that bubble activation should be concentrated in the downstream half of the droplet.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simulations confirm this prediction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Consider the Mach 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=0.2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=100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case: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Bin the 100 bubbles by initial position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99C32BB-1E4F-4BA7-7D5E-00C0ADD2F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2118529"/>
              </a:xfrm>
              <a:prstGeom prst="rect">
                <a:avLst/>
              </a:prstGeom>
              <a:blipFill>
                <a:blip r:embed="rId3"/>
                <a:stretch>
                  <a:fillRect l="-519" b="-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9D90183-5D92-1338-B2AD-C717BA5DD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59537-C73E-856E-0F7A-890BA96771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358"/>
          <a:stretch>
            <a:fillRect/>
          </a:stretch>
        </p:blipFill>
        <p:spPr>
          <a:xfrm>
            <a:off x="2500533" y="2921577"/>
            <a:ext cx="7971983" cy="277846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98F4A6-B942-D4C6-0C5D-6F3C530E1BF3}"/>
              </a:ext>
            </a:extLst>
          </p:cNvPr>
          <p:cNvSpPr/>
          <p:nvPr/>
        </p:nvSpPr>
        <p:spPr>
          <a:xfrm>
            <a:off x="2500533" y="5666878"/>
            <a:ext cx="7971983" cy="87203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Spatial bins based on initial streamwise nucleus location, showing median and maximum bubble growth.</a:t>
            </a:r>
          </a:p>
        </p:txBody>
      </p:sp>
    </p:spTree>
    <p:extLst>
      <p:ext uri="{BB962C8B-B14F-4D97-AF65-F5344CB8AC3E}">
        <p14:creationId xmlns:p14="http://schemas.microsoft.com/office/powerpoint/2010/main" val="178272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F6C4A-3692-F0CF-919D-0A1CDA9D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69D0B7-FB1F-476D-2D2D-F582FB4387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Spatial Selectivity of Activation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58EE3D3-C5D4-6E34-1403-3B46CF8FB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8C82F-DD15-0F4C-1FA0-814A162CD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22" y="1699470"/>
            <a:ext cx="5637778" cy="3986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32D56B-1CFC-A9AD-61B5-D5FC89851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95600"/>
            <a:ext cx="5637778" cy="3990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871304D-05A8-60B1-764F-0DFB59BCBF99}"/>
                  </a:ext>
                </a:extLst>
              </p:cNvPr>
              <p:cNvSpPr/>
              <p:nvPr/>
            </p:nvSpPr>
            <p:spPr>
              <a:xfrm>
                <a:off x="857250" y="5465636"/>
                <a:ext cx="10083800" cy="456535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Scatter plots of normalized bubble growth at Mach 5. </a:t>
                </a:r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=0.1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 </a:t>
                </a:r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1.0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871304D-05A8-60B1-764F-0DFB59BCB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5465636"/>
                <a:ext cx="10083800" cy="456535"/>
              </a:xfrm>
              <a:prstGeom prst="rect">
                <a:avLst/>
              </a:prstGeom>
              <a:blipFill>
                <a:blip r:embed="rId5"/>
                <a:stretch>
                  <a:fillRect l="-544" r="-242" b="-22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CCFEDCE2-0636-E31B-C7E7-0BFDAC3A6AB9}"/>
              </a:ext>
            </a:extLst>
          </p:cNvPr>
          <p:cNvSpPr/>
          <p:nvPr/>
        </p:nvSpPr>
        <p:spPr>
          <a:xfrm>
            <a:off x="783845" y="1088998"/>
            <a:ext cx="10569955" cy="4565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Downstream half of the droplet shows most bubble activation</a:t>
            </a:r>
          </a:p>
        </p:txBody>
      </p:sp>
    </p:spTree>
    <p:extLst>
      <p:ext uri="{BB962C8B-B14F-4D97-AF65-F5344CB8AC3E}">
        <p14:creationId xmlns:p14="http://schemas.microsoft.com/office/powerpoint/2010/main" val="326634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B1E7-B08E-07F7-4585-E553E201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9FEDEE-3758-7662-1269-4294880EE50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Absolute Bubble Growth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A36CA30-BABC-7FBD-CA8D-5B5EAD76C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43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02C40B-19A4-A4B8-6EA2-D6376D74CF3D}"/>
                  </a:ext>
                </a:extLst>
              </p:cNvPr>
              <p:cNvSpPr txBox="1"/>
              <p:nvPr/>
            </p:nvSpPr>
            <p:spPr>
              <a:xfrm>
                <a:off x="405003" y="5716784"/>
                <a:ext cx="698779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Absolute maximum bubble radius 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for all doped cases.</a:t>
                </a:r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02C40B-19A4-A4B8-6EA2-D6376D74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03" y="5716784"/>
                <a:ext cx="6987794" cy="338554"/>
              </a:xfrm>
              <a:prstGeom prst="rect">
                <a:avLst/>
              </a:prstGeom>
              <a:blipFill>
                <a:blip r:embed="rId3"/>
                <a:stretch>
                  <a:fillRect l="-436"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CEE934A-A8C9-527D-EF49-9FF2137A5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03" y="1078631"/>
            <a:ext cx="6987794" cy="46381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7FF8CE0-D048-A508-9351-44EE02F18DC7}"/>
                  </a:ext>
                </a:extLst>
              </p:cNvPr>
              <p:cNvSpPr/>
              <p:nvPr/>
            </p:nvSpPr>
            <p:spPr>
              <a:xfrm>
                <a:off x="7573534" y="1078631"/>
                <a:ext cx="4574016" cy="4611519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number: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Strongest influence on peak bubble growth (Mach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↑,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 ↑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Initial bubble radius: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Significant effect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~constant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𝑎𝑏𝑠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for a given Mach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Bubble population: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Least effect on peak bubble growth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=1000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seems to limit peak bubble growth when compared to other population sizes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7FF8CE0-D048-A508-9351-44EE02F18D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534" y="1078631"/>
                <a:ext cx="4574016" cy="4611519"/>
              </a:xfrm>
              <a:prstGeom prst="rect">
                <a:avLst/>
              </a:prstGeom>
              <a:blipFill>
                <a:blip r:embed="rId5"/>
                <a:stretch>
                  <a:fillRect l="-1065" b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54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8504-B995-9828-E397-9ABD038B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33AD12C-A83D-CB9B-0D58-5F76B2CBDA6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Pressure Perturbations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3289BF-F316-132B-89BF-1A178E2503DF}"/>
                  </a:ext>
                </a:extLst>
              </p:cNvPr>
              <p:cNvSpPr/>
              <p:nvPr/>
            </p:nvSpPr>
            <p:spPr>
              <a:xfrm>
                <a:off x="476251" y="1088998"/>
                <a:ext cx="10877550" cy="1319657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volumetric growth and collapse of the Lagrangian bubbles feeds back onto the Eulerian carrier field 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𝑑𝑜𝑝𝑒𝑑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𝑐𝑙𝑒𝑎𝑛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bubble population attenuates the clean acoustic reverberations</a:t>
                </a:r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3289BF-F316-132B-89BF-1A178E2503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1" y="1088998"/>
                <a:ext cx="10877550" cy="1319657"/>
              </a:xfrm>
              <a:prstGeom prst="rect">
                <a:avLst/>
              </a:prstGeom>
              <a:blipFill>
                <a:blip r:embed="rId3"/>
                <a:stretch>
                  <a:fillRect l="-448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A98A7C0-5F7C-764A-7228-D4C224F9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453" y="6408272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44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B7B9A4-D109-08CA-4B0A-A6BAFF379132}"/>
                  </a:ext>
                </a:extLst>
              </p:cNvPr>
              <p:cNvSpPr txBox="1"/>
              <p:nvPr/>
            </p:nvSpPr>
            <p:spPr>
              <a:xfrm>
                <a:off x="1157986" y="6298446"/>
                <a:ext cx="982167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Space-time diagram of axial centerline pressures at Mach 5.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Doped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=0.1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 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=1000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Center: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Clean;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pressure difference.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B7B9A4-D109-08CA-4B0A-A6BAFF379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986" y="6298446"/>
                <a:ext cx="9821672" cy="584775"/>
              </a:xfrm>
              <a:prstGeom prst="rect">
                <a:avLst/>
              </a:prstGeom>
              <a:blipFill>
                <a:blip r:embed="rId4"/>
                <a:stretch>
                  <a:fillRect l="-372" t="-3125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F7EFFD8-1E81-9B3B-487B-C00A04058A24}"/>
              </a:ext>
            </a:extLst>
          </p:cNvPr>
          <p:cNvGrpSpPr/>
          <p:nvPr/>
        </p:nvGrpSpPr>
        <p:grpSpPr>
          <a:xfrm>
            <a:off x="191458" y="2579681"/>
            <a:ext cx="11809084" cy="3739330"/>
            <a:chOff x="191458" y="2596850"/>
            <a:chExt cx="11809084" cy="373933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504EF9D-E88E-B769-6C58-EAF7F6343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33596" y="2596850"/>
              <a:ext cx="3724808" cy="373933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06AD034-59D0-40A9-0F51-45DD65E63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1458" y="2596850"/>
              <a:ext cx="3724808" cy="373933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3AB33C8-0DCE-85D8-AC59-AD3FF361D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75734" y="2596850"/>
              <a:ext cx="3724808" cy="3739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131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726D3-13C3-F998-0F3B-573BAE01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7807F9-F4EC-0A19-D606-72D4EECD0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870" y="2600490"/>
            <a:ext cx="3706674" cy="37356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05BEF2-130F-D754-AA09-8EA429ED9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598" y="2600492"/>
            <a:ext cx="3724808" cy="373568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D9A814E-F8C6-DE86-7123-179807A399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Pressure Perturbations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F7613-31B0-B4C5-F00B-71B56BA0C0F4}"/>
              </a:ext>
            </a:extLst>
          </p:cNvPr>
          <p:cNvSpPr/>
          <p:nvPr/>
        </p:nvSpPr>
        <p:spPr>
          <a:xfrm>
            <a:off x="783845" y="1088998"/>
            <a:ext cx="10569955" cy="12875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perturbation signal is negligible during the initial shock transmission phase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pressure perturbation fills the entire droplet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Forms characteristic V-shaped or X-shaped diagonal bands</a:t>
            </a:r>
            <a:endParaRPr lang="en-US" b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9AF7066-0F8E-C97D-E73F-602B48425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453" y="6408272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FAE753-0895-14A1-29A0-8755000FD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71" y="2600492"/>
            <a:ext cx="3732061" cy="37356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502C51-ED3C-CB9C-A7BF-3E6A460F8870}"/>
                  </a:ext>
                </a:extLst>
              </p:cNvPr>
              <p:cNvSpPr txBox="1"/>
              <p:nvPr/>
            </p:nvSpPr>
            <p:spPr>
              <a:xfrm>
                <a:off x="1734947" y="6260715"/>
                <a:ext cx="866775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Space-time diagram of axial centerline pressure differences at Mach 3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1.0 </m:t>
                    </m:r>
                    <m:r>
                      <a:rPr lang="en-US" sz="16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sz="16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center: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sz="16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0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sz="16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00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502C51-ED3C-CB9C-A7BF-3E6A460F8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947" y="6260715"/>
                <a:ext cx="8667750" cy="584775"/>
              </a:xfrm>
              <a:prstGeom prst="rect">
                <a:avLst/>
              </a:prstGeom>
              <a:blipFill>
                <a:blip r:embed="rId6"/>
                <a:stretch>
                  <a:fillRect l="-422" t="-3125" r="-211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7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7922-E670-B8A3-71F6-63084E89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9EE143-31C9-7347-3CBA-569FBB09C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81900"/>
            <a:ext cx="5563701" cy="3764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A2880A-7916-80EB-746A-6F479253D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58" y="1081900"/>
            <a:ext cx="5555842" cy="376414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D3EB63D-1001-213F-629E-0C77B8C0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Pressure Perturbations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CF4F319-3D7A-EF66-5A1C-58FB3B8C9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453" y="6408272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46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7BE46C-3A7C-ABE2-500D-CB54BDD67987}"/>
                  </a:ext>
                </a:extLst>
              </p:cNvPr>
              <p:cNvSpPr txBox="1"/>
              <p:nvPr/>
            </p:nvSpPr>
            <p:spPr>
              <a:xfrm>
                <a:off x="540158" y="4846042"/>
                <a:ext cx="1111954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Heat maps of peak positive and negative pressure differences.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Δ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|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Δ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𝑚𝑖𝑛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|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7BE46C-3A7C-ABE2-500D-CB54BDD6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58" y="4846042"/>
                <a:ext cx="11119542" cy="338554"/>
              </a:xfrm>
              <a:prstGeom prst="rect">
                <a:avLst/>
              </a:prstGeom>
              <a:blipFill>
                <a:blip r:embed="rId5"/>
                <a:stretch>
                  <a:fillRect l="-329"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A6D9C42-71F6-8739-A939-44F12EEDE953}"/>
                  </a:ext>
                </a:extLst>
              </p:cNvPr>
              <p:cNvSpPr/>
              <p:nvPr/>
            </p:nvSpPr>
            <p:spPr>
              <a:xfrm>
                <a:off x="540158" y="5318098"/>
                <a:ext cx="10877550" cy="960263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Peaks are highly dependent on Mach number (Mach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↑,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|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Δ</m:t>
                    </m:r>
                    <m:sSub>
                      <m:sSubPr>
                        <m:ctrl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max</m:t>
                        </m:r>
                        <m: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min</m:t>
                        </m:r>
                      </m:sub>
                    </m:sSub>
                    <m:r>
                      <a:rPr lang="en-US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 ↑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Peaks are highly dependent on bubble population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↑,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|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Δ</m:t>
                    </m:r>
                    <m:sSub>
                      <m:sSubPr>
                        <m:ctrlP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max</m:t>
                        </m:r>
                        <m: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min</m:t>
                        </m:r>
                      </m:sub>
                    </m:sSub>
                    <m: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 ↑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A6D9C42-71F6-8739-A939-44F12EEDE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58" y="5318098"/>
                <a:ext cx="10877550" cy="960263"/>
              </a:xfrm>
              <a:prstGeom prst="rect">
                <a:avLst/>
              </a:prstGeom>
              <a:blipFill>
                <a:blip r:embed="rId6"/>
                <a:stretch>
                  <a:fillRect l="-392" b="-6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48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2B30-4BEA-A48A-1805-CA40EF4F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752892-070D-7727-4F87-4EEBFD1C8D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Early Droplet Deformation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C608179-0AF2-69AF-56AD-6EE84DFD9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47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76CD01-EC79-0EE8-BE08-897216D155BE}"/>
                  </a:ext>
                </a:extLst>
              </p:cNvPr>
              <p:cNvSpPr txBox="1"/>
              <p:nvPr/>
            </p:nvSpPr>
            <p:spPr>
              <a:xfrm>
                <a:off x="283782" y="5004801"/>
                <a:ext cx="1162443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Numerical schlieren taken at doped cases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=1.0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 Each frame shows comparison of respective clean half (left) and the doped half (right).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3;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center: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5;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7.</a:t>
                </a:r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76CD01-EC79-0EE8-BE08-897216D1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82" y="5004801"/>
                <a:ext cx="11624436" cy="584775"/>
              </a:xfrm>
              <a:prstGeom prst="rect">
                <a:avLst/>
              </a:prstGeom>
              <a:blipFill>
                <a:blip r:embed="rId3"/>
                <a:stretch>
                  <a:fillRect t="-3125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5D2652-862F-1FB5-24D0-1A4E8667B207}"/>
                  </a:ext>
                </a:extLst>
              </p:cNvPr>
              <p:cNvSpPr txBox="1"/>
              <p:nvPr/>
            </p:nvSpPr>
            <p:spPr>
              <a:xfrm>
                <a:off x="263926" y="5516677"/>
                <a:ext cx="11624436" cy="1287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There is nearly no observable difference* in surface deformation at any Mach or bubble density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*Mach 7,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=1000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𝜏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=0.40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Noticeable damping of internal acoustics in doped cases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=1000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5D2652-862F-1FB5-24D0-1A4E8667B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26" y="5516677"/>
                <a:ext cx="11624436" cy="1287532"/>
              </a:xfrm>
              <a:prstGeom prst="rect">
                <a:avLst/>
              </a:prstGeom>
              <a:blipFill>
                <a:blip r:embed="rId4"/>
                <a:stretch>
                  <a:fillRect l="-315" b="-7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76B1A51E-CC98-21F5-97B2-613860A2A8BC}"/>
              </a:ext>
            </a:extLst>
          </p:cNvPr>
          <p:cNvGrpSpPr/>
          <p:nvPr/>
        </p:nvGrpSpPr>
        <p:grpSpPr>
          <a:xfrm>
            <a:off x="283782" y="899162"/>
            <a:ext cx="3812325" cy="4094319"/>
            <a:chOff x="283782" y="899162"/>
            <a:chExt cx="3812325" cy="409431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5DEE663-15E0-5D73-3C8A-6B2B0BC8E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3782" y="1228725"/>
              <a:ext cx="3812325" cy="3764756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4A182C0-130D-9713-D96B-D2B38B962CAC}"/>
                </a:ext>
              </a:extLst>
            </p:cNvPr>
            <p:cNvSpPr/>
            <p:nvPr/>
          </p:nvSpPr>
          <p:spPr>
            <a:xfrm>
              <a:off x="283782" y="938931"/>
              <a:ext cx="3812324" cy="4054550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191580-8E9B-CE0A-DEF7-D372C0470050}"/>
                </a:ext>
              </a:extLst>
            </p:cNvPr>
            <p:cNvSpPr txBox="1"/>
            <p:nvPr/>
          </p:nvSpPr>
          <p:spPr>
            <a:xfrm>
              <a:off x="1706847" y="899162"/>
              <a:ext cx="9661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Mach 3</a:t>
              </a:r>
              <a:endParaRPr lang="en-US" u="sng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9203A9-8E10-4FCD-85FF-EE962D1300DB}"/>
              </a:ext>
            </a:extLst>
          </p:cNvPr>
          <p:cNvGrpSpPr/>
          <p:nvPr/>
        </p:nvGrpSpPr>
        <p:grpSpPr>
          <a:xfrm>
            <a:off x="4189836" y="899162"/>
            <a:ext cx="3812326" cy="4094319"/>
            <a:chOff x="4189836" y="899162"/>
            <a:chExt cx="3812326" cy="4094319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6DAA619-DB29-BA65-23FC-A93E05F22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89837" y="1228725"/>
              <a:ext cx="3812325" cy="3764756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5DF399D-DF77-474D-7D33-C0D9EE9E2379}"/>
                </a:ext>
              </a:extLst>
            </p:cNvPr>
            <p:cNvSpPr/>
            <p:nvPr/>
          </p:nvSpPr>
          <p:spPr>
            <a:xfrm>
              <a:off x="4189836" y="938931"/>
              <a:ext cx="3812324" cy="4054550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6F7E18-A88C-1F24-80B8-8913517681DC}"/>
                </a:ext>
              </a:extLst>
            </p:cNvPr>
            <p:cNvSpPr txBox="1"/>
            <p:nvPr/>
          </p:nvSpPr>
          <p:spPr>
            <a:xfrm>
              <a:off x="5651091" y="899162"/>
              <a:ext cx="9661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Mach 5</a:t>
              </a:r>
              <a:endParaRPr lang="en-US" u="sng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B1E5F86-5160-FE7D-37C1-086346DB4E42}"/>
              </a:ext>
            </a:extLst>
          </p:cNvPr>
          <p:cNvGrpSpPr/>
          <p:nvPr/>
        </p:nvGrpSpPr>
        <p:grpSpPr>
          <a:xfrm>
            <a:off x="8076038" y="899162"/>
            <a:ext cx="3832180" cy="4094319"/>
            <a:chOff x="8076038" y="899162"/>
            <a:chExt cx="3832180" cy="409431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BC7FEE4-18A3-328E-B487-A4FCB146F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95893" y="1228725"/>
              <a:ext cx="3812325" cy="3764756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EC6F1BC-3420-A6F2-59FC-130A693FDBCA}"/>
                </a:ext>
              </a:extLst>
            </p:cNvPr>
            <p:cNvSpPr/>
            <p:nvPr/>
          </p:nvSpPr>
          <p:spPr>
            <a:xfrm>
              <a:off x="8076038" y="938931"/>
              <a:ext cx="3812324" cy="4054550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8F66358-D7DF-ECB9-5ABA-493A783D9D3E}"/>
                </a:ext>
              </a:extLst>
            </p:cNvPr>
            <p:cNvSpPr txBox="1"/>
            <p:nvPr/>
          </p:nvSpPr>
          <p:spPr>
            <a:xfrm>
              <a:off x="9518958" y="899162"/>
              <a:ext cx="9661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Mach 7</a:t>
              </a:r>
              <a:endParaRPr lang="en-US" u="sng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C5FA0-7035-F5BE-25F7-6ED958C656F9}"/>
              </a:ext>
            </a:extLst>
          </p:cNvPr>
          <p:cNvGrpSpPr/>
          <p:nvPr/>
        </p:nvGrpSpPr>
        <p:grpSpPr>
          <a:xfrm>
            <a:off x="7893050" y="4170792"/>
            <a:ext cx="3018378" cy="646331"/>
            <a:chOff x="1972722" y="1967984"/>
            <a:chExt cx="3018378" cy="646331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1F9D7FF-DCB1-661E-11CE-BFE589C8AE32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0F2FCC6-575C-D118-E70C-D448ECE4A821}"/>
                </a:ext>
              </a:extLst>
            </p:cNvPr>
            <p:cNvSpPr txBox="1"/>
            <p:nvPr/>
          </p:nvSpPr>
          <p:spPr>
            <a:xfrm>
              <a:off x="1972722" y="1967984"/>
              <a:ext cx="2532603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Attenuation of acoustic reverberations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5347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0F0C5B-0B8E-A5C1-CA32-479DAA70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3D59C2-B2DF-F2D6-5C39-ABBF717429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Early Droplet Deformation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922C7D7-9147-0FCB-E599-39AA80AC3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12482-D7A1-CD6F-1E63-87D987B87D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102"/>
          <a:stretch>
            <a:fillRect/>
          </a:stretch>
        </p:blipFill>
        <p:spPr>
          <a:xfrm>
            <a:off x="607996" y="1185863"/>
            <a:ext cx="2574957" cy="4694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9FAEF9-41DF-18B7-1E9E-FBB87AA582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674" b="22429"/>
          <a:stretch>
            <a:fillRect/>
          </a:stretch>
        </p:blipFill>
        <p:spPr>
          <a:xfrm>
            <a:off x="3321819" y="1185863"/>
            <a:ext cx="2574957" cy="4694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D64378-F9C7-5074-F0D1-8F74575ED2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269"/>
          <a:stretch>
            <a:fillRect/>
          </a:stretch>
        </p:blipFill>
        <p:spPr>
          <a:xfrm>
            <a:off x="6096000" y="1185863"/>
            <a:ext cx="2574957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548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9BF7F-C412-2332-4A2F-CEE207C0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CD97EA-1165-608E-7B92-47AEA21B1EF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Principal Findings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130EA1-F6A7-5317-2036-5C37F5319492}"/>
              </a:ext>
            </a:extLst>
          </p:cNvPr>
          <p:cNvSpPr/>
          <p:nvPr/>
        </p:nvSpPr>
        <p:spPr>
          <a:xfrm>
            <a:off x="783845" y="1088998"/>
            <a:ext cx="10569955" cy="502701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Main Conclusion:</a:t>
            </a:r>
            <a:b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Pre-existing gas nuclei undergo strong internal activation, but this activation does not measurably alter early droplet-scale deformation over the tested parameter range, given the modeling assumptions.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This result is consistent with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Cavainolo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2026 and Briggs 2025 and inconsistent with Shannon 2024.</a:t>
            </a:r>
          </a:p>
          <a:p>
            <a:pPr>
              <a:lnSpc>
                <a:spcPct val="150000"/>
              </a:lnSpc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Clean-droplet cases establish strong internal acoustic focusing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Gas nuclei are activated primarily by reflected tensile waves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Bubble growth is spatially selective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Dense populations produce acoustic attenuation and self-suppression of individual bubble growth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Despite strong local bubble dynamics and pressure perturbations, early interface deformation remains nearly unchanged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E1EB79-4AA7-10F3-AEFE-4739D20DB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6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BB10-4F68-06D6-8D06-4DC9CF3BA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73658B-A9B2-ABCC-952C-24E7FFA47CA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Contributions and Limitations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3F4BC63-8793-549E-6DA2-92F79433CAEC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4611519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Contributions: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Isolated the purely mechanical response of pre-existing non-condensable gas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Implemented and verified coupled Eulerian–Lagrangian bubbler dynamics for shock-loaded, bubble-laden droplets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Benchmarked the Eulerian shock–water framework against shock–water-column experiments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Mapped bubble activation, pressure feedback, and deformation response across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Limitations: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Vapor production, condensation, and mass transfer were excluded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Bubble nuclei were fixed in space and did not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advect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with the liquid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Axisymmetric assumption limits 3D instability development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Conclusions are computational and require targeted experimental validation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3F4BC63-8793-549E-6DA2-92F79433CA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4611519"/>
              </a:xfrm>
              <a:prstGeom prst="rect">
                <a:avLst/>
              </a:prstGeom>
              <a:blipFill>
                <a:blip r:embed="rId3"/>
                <a:stretch>
                  <a:fillRect l="-519" r="-461" b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609008-F39D-76AB-C886-E7885B891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07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74D86-50DC-0A76-6377-D8D9692C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20C9D3-9E79-99CB-21D6-EAA72CF86F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Conference Paper Submissions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CF7DB4-EBDA-5F3E-EFF2-24BE46EBC7C3}"/>
              </a:ext>
            </a:extLst>
          </p:cNvPr>
          <p:cNvSpPr/>
          <p:nvPr/>
        </p:nvSpPr>
        <p:spPr>
          <a:xfrm>
            <a:off x="783845" y="1088998"/>
            <a:ext cx="10569955" cy="55866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Abstract Submitted: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rial"/>
                <a:ea typeface="Open Sans"/>
                <a:cs typeface="Arial"/>
              </a:rPr>
              <a:t>Juan P. Roldan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, Brendon A.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Cavainolo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, Sheryl M. Grace, Michael P. Kinzel, Guillermo A. Jaramillo, “Initial Perturbation Effects on Surface Instability Wavelength Selection in High-Mach Drop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Aerobreakup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”, AIAA: SciTech, Jan 2027.</a:t>
            </a:r>
          </a:p>
          <a:p>
            <a:pPr>
              <a:lnSpc>
                <a:spcPct val="150000"/>
              </a:lnSpc>
              <a:defRPr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Abstract Submitted: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rial"/>
                <a:ea typeface="Open Sans"/>
                <a:cs typeface="Arial"/>
              </a:rPr>
              <a:t>Juan P. Roldan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, Sutharsan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Satcunanathan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, Georgios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Goinis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“POD Airfoil Dimensionality Reduction for Compressor Cascade Optimization”, AIAA: SciTech, Jan 2027.</a:t>
            </a:r>
          </a:p>
          <a:p>
            <a:pPr>
              <a:lnSpc>
                <a:spcPct val="150000"/>
              </a:lnSpc>
              <a:defRPr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Manuscript Submitted: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rial"/>
                <a:ea typeface="Open Sans"/>
                <a:cs typeface="Arial"/>
              </a:rPr>
              <a:t>Juan P. Roldan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, Brendon A.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Cavainolo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, Rebecca C. Shannon, Sheryl M. Grace, Michael P. Kinzel, “Effect of Entrapped Non-Condensable Gas on Shock-Driven Droplet Deformation: Implications for Hypersonic Rain Environments”, AIAA: International Space Planes and Hypersonic Systems and Technologies Conference, July 2026.</a:t>
            </a:r>
          </a:p>
          <a:p>
            <a:pPr>
              <a:lnSpc>
                <a:spcPct val="150000"/>
              </a:lnSpc>
              <a:defRPr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Eric M. Yoerg,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rial"/>
                <a:ea typeface="Open Sans"/>
                <a:cs typeface="Arial"/>
              </a:rPr>
              <a:t>Juan P. Roldan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, Donald Tuten, Michael Potash, Rui Harrison, Kassandra J. Durst, Michael P. Kinzel, Surabhi Singh “Development of an Exploding Wire Facility to Study Shock Propagation at Embry-Riddle Aeronautical University”, AIAA: SciTech, Jan 2025.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B6CDDE-5D18-8053-1717-7AF827C89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5642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6711-29F9-8BE2-8922-984F4C4A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04FE89F-EF3E-5A52-1343-A919612C7B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Future Work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591270-F15F-63CA-2C6B-18DD0F5E4336}"/>
              </a:ext>
            </a:extLst>
          </p:cNvPr>
          <p:cNvSpPr/>
          <p:nvPr/>
        </p:nvSpPr>
        <p:spPr>
          <a:xfrm>
            <a:off x="783845" y="1088998"/>
            <a:ext cx="10569955" cy="46115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Model extensions: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Add rate-limited phase-change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Implement the missing θ-direction stochastic correction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Allow nuclei to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advect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with the liquid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Extend simulations beyond early-time axisymmetric regime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Extend nuclei modeling to solid/particulate inclusions and heterogeneous cavitation sites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Experimental direction: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Perform companion experiments with controlled nuclei populations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Broader research path: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Couple shock-droplet breakup predictions to rain-erosion / surface-damage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Extend the framework to propulsion-relevant droplets breakup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77C8E7-7AD8-2269-1354-4FBD69290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28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EB737A-40F8-C64B-A2DD-3DEEDBC17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43461" y="1635922"/>
            <a:ext cx="2419350" cy="0"/>
          </a:xfrm>
          <a:prstGeom prst="line">
            <a:avLst/>
          </a:prstGeom>
          <a:ln w="69850">
            <a:solidFill>
              <a:srgbClr val="FCC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9B35FF4F-EE20-8B43-87A7-A7F65C82E1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76299" y="1862616"/>
            <a:ext cx="10439400" cy="317007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Brendon A. Cavainolo¹, Rebecca Shannon²,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Sheryl M. Grace², and Michael P. Kinzel¹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¹Department of Aerospace Engineering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Embry-Riddle Aeronautical University, Daytona Beach, FL, USA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²Department of Mechanical Engineering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Boston University, Boston, MA, USA</a:t>
            </a:r>
            <a:br>
              <a:rPr lang="en-US" sz="2000" b="1" dirty="0">
                <a:solidFill>
                  <a:schemeClr val="bg1"/>
                </a:solidFill>
                <a:ea typeface="+mn-ea"/>
              </a:rPr>
            </a:br>
            <a:br>
              <a:rPr lang="en-US" sz="2000" b="1" dirty="0">
                <a:solidFill>
                  <a:schemeClr val="bg1"/>
                </a:solidFill>
                <a:ea typeface="+mn-ea"/>
              </a:rPr>
            </a:br>
            <a:r>
              <a:rPr lang="en-US" sz="2000" b="1" dirty="0">
                <a:solidFill>
                  <a:schemeClr val="bg1"/>
                </a:solidFill>
                <a:ea typeface="+mn-ea"/>
              </a:rPr>
              <a:t>This work was partially supported by the Air Force Office of Scientific Research under award number FA9550-22-1-0021.</a:t>
            </a:r>
            <a:br>
              <a:rPr lang="en-US" sz="2000" b="1" dirty="0">
                <a:solidFill>
                  <a:schemeClr val="bg1"/>
                </a:solidFill>
                <a:ea typeface="+mn-ea"/>
              </a:rPr>
            </a:br>
            <a:r>
              <a:rPr lang="en-US" sz="2000" b="1" dirty="0">
                <a:solidFill>
                  <a:schemeClr val="bg1"/>
                </a:solidFill>
                <a:ea typeface="+mn-ea"/>
              </a:rPr>
              <a:t>DoD HPCMP and ERAU VEGA HPC use.</a:t>
            </a:r>
            <a:endParaRPr kumimoji="0" lang="en-US" sz="2000" b="1" i="0" u="none" strike="noStrike" kern="1200" cap="none" spc="6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A20F54-59C4-8245-B7C8-F228B9C8B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43461" y="5222078"/>
            <a:ext cx="2419350" cy="0"/>
          </a:xfrm>
          <a:prstGeom prst="line">
            <a:avLst/>
          </a:prstGeom>
          <a:ln w="69850">
            <a:solidFill>
              <a:srgbClr val="FCC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4FCADE-044F-9629-38E9-14DD169D30D9}"/>
              </a:ext>
            </a:extLst>
          </p:cNvPr>
          <p:cNvSpPr txBox="1"/>
          <p:nvPr/>
        </p:nvSpPr>
        <p:spPr>
          <a:xfrm>
            <a:off x="3353125" y="1007894"/>
            <a:ext cx="5485749" cy="769417"/>
          </a:xfrm>
          <a:prstGeom prst="rect">
            <a:avLst/>
          </a:prstGeom>
        </p:spPr>
        <p:txBody>
          <a:bodyPr wrap="none" lIns="91416" tIns="45708" rIns="91416" bIns="45708" rtlCol="0" anchor="t">
            <a:spAutoFit/>
          </a:bodyPr>
          <a:lstStyle/>
          <a:p>
            <a:pPr algn="ctr" fontAlgn="auto">
              <a:spcAft>
                <a:spcPts val="0"/>
              </a:spcAft>
              <a:tabLst>
                <a:tab pos="3590925" algn="l"/>
              </a:tabLst>
            </a:pPr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1990568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lnSpc>
            <a:spcPct val="150000"/>
          </a:lnSpc>
          <a:defRPr sz="1600" b="1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ea typeface="Open Sans" panose="020B0606030504020204" pitchFamily="34" charset="0"/>
            <a:cs typeface="Arial" panose="020B0604020202020204" pitchFamily="34" charset="0"/>
          </a:defRPr>
        </a:defPPr>
      </a:lstStyle>
    </a:spDef>
    <a:txDef>
      <a:spPr/>
      <a:bodyPr lIns="91416" tIns="45708" rIns="91416" bIns="45708" anchor="t"/>
      <a:lstStyle>
        <a:defPPr algn="l" fontAlgn="auto">
          <a:spcAft>
            <a:spcPts val="0"/>
          </a:spcAft>
          <a:tabLst>
            <a:tab pos="3590925" algn="l"/>
          </a:tabLst>
          <a:defRPr sz="900" b="1" spc="600" dirty="0" smtClean="0">
            <a:solidFill>
              <a:schemeClr val="bg1">
                <a:lumMod val="65000"/>
              </a:schemeClr>
            </a:solidFill>
            <a:latin typeface="Arial" panose="020B0604020202020204" pitchFamily="34" charset="0"/>
            <a:ea typeface="Roboto" panose="02000000000000000000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lnSpc>
            <a:spcPct val="150000"/>
          </a:lnSpc>
          <a:defRPr sz="1600" b="1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ea typeface="Open Sans" panose="020B0606030504020204" pitchFamily="34" charset="0"/>
            <a:cs typeface="Arial" panose="020B0604020202020204" pitchFamily="34" charset="0"/>
          </a:defRPr>
        </a:defPPr>
      </a:lstStyle>
    </a:spDef>
    <a:txDef>
      <a:spPr/>
      <a:bodyPr lIns="91416" tIns="45708" rIns="91416" bIns="45708" anchor="t"/>
      <a:lstStyle>
        <a:defPPr algn="l" fontAlgn="auto">
          <a:spcAft>
            <a:spcPts val="0"/>
          </a:spcAft>
          <a:tabLst>
            <a:tab pos="3590925" algn="l"/>
          </a:tabLst>
          <a:defRPr sz="900" b="1" spc="600" dirty="0" smtClean="0">
            <a:solidFill>
              <a:schemeClr val="bg1">
                <a:lumMod val="65000"/>
              </a:schemeClr>
            </a:solidFill>
            <a:latin typeface="Arial" panose="020B0604020202020204" pitchFamily="34" charset="0"/>
            <a:ea typeface="Roboto" panose="02000000000000000000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c556dd3-f7e7-46bd-97c1-82821899741b" xsi:nil="true"/>
    <lcf76f155ced4ddcb4097134ff3c332f xmlns="eeab21f8-b200-4f2d-840e-2d2e7bdc5e9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887839EBA1FC42855A778CF7DEA682" ma:contentTypeVersion="13" ma:contentTypeDescription="Create a new document." ma:contentTypeScope="" ma:versionID="e680db73553fbdafc71e2a99a23abb12">
  <xsd:schema xmlns:xsd="http://www.w3.org/2001/XMLSchema" xmlns:xs="http://www.w3.org/2001/XMLSchema" xmlns:p="http://schemas.microsoft.com/office/2006/metadata/properties" xmlns:ns2="eeab21f8-b200-4f2d-840e-2d2e7bdc5e9e" xmlns:ns3="3c556dd3-f7e7-46bd-97c1-82821899741b" targetNamespace="http://schemas.microsoft.com/office/2006/metadata/properties" ma:root="true" ma:fieldsID="5232225848e24f14a33cd370927f618f" ns2:_="" ns3:_="">
    <xsd:import namespace="eeab21f8-b200-4f2d-840e-2d2e7bdc5e9e"/>
    <xsd:import namespace="3c556dd3-f7e7-46bd-97c1-8282189974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ab21f8-b200-4f2d-840e-2d2e7bdc5e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4ee6b6e-1dad-49a7-85d1-bf6bd71129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556dd3-f7e7-46bd-97c1-82821899741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fb860da-0ed8-4079-bdc0-e4d3e732567f}" ma:internalName="TaxCatchAll" ma:showField="CatchAllData" ma:web="3c556dd3-f7e7-46bd-97c1-8282189974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319263-1834-4DB9-88BE-B649B972CB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0A8C37-5927-46AA-9C81-6FE423D3814D}">
  <ds:schemaRefs>
    <ds:schemaRef ds:uri="http://purl.org/dc/elements/1.1/"/>
    <ds:schemaRef ds:uri="http://purl.org/dc/dcmitype/"/>
    <ds:schemaRef ds:uri="3c556dd3-f7e7-46bd-97c1-82821899741b"/>
    <ds:schemaRef ds:uri="http://schemas.microsoft.com/office/infopath/2007/PartnerControls"/>
    <ds:schemaRef ds:uri="eeab21f8-b200-4f2d-840e-2d2e7bdc5e9e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119367D-542C-4ED2-B1D3-DF37452252F2}">
  <ds:schemaRefs>
    <ds:schemaRef ds:uri="3c556dd3-f7e7-46bd-97c1-82821899741b"/>
    <ds:schemaRef ds:uri="eeab21f8-b200-4f2d-840e-2d2e7bdc5e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6241</TotalTime>
  <Words>4388</Words>
  <Application>Microsoft Office PowerPoint</Application>
  <PresentationFormat>Widescreen</PresentationFormat>
  <Paragraphs>747</Paragraphs>
  <Slides>53</Slides>
  <Notes>53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Aptos</vt:lpstr>
      <vt:lpstr>Arial</vt:lpstr>
      <vt:lpstr>Calibri</vt:lpstr>
      <vt:lpstr>Cambria</vt:lpstr>
      <vt:lpstr>Cambria Math</vt:lpstr>
      <vt:lpstr>Open Sans</vt:lpstr>
      <vt:lpstr>Office Theme</vt:lpstr>
      <vt:lpstr>1_Office Theme</vt:lpstr>
      <vt:lpstr>PowerPoint Presentation</vt:lpstr>
      <vt:lpstr>Presentation Outline</vt:lpstr>
      <vt:lpstr>Motivation – Rain Erosion</vt:lpstr>
      <vt:lpstr>Motivation – Rain Erosion</vt:lpstr>
      <vt:lpstr>Motivation – Drop Acoustics and Rain Formation</vt:lpstr>
      <vt:lpstr>Scope and Objectives</vt:lpstr>
      <vt:lpstr>Literature: Classical Shock-Droplet Breakup</vt:lpstr>
      <vt:lpstr>Literature: Classical Shock-Droplet Breakup</vt:lpstr>
      <vt:lpstr>Literature: Breakup Mechanisms</vt:lpstr>
      <vt:lpstr>Literature: Cavitation and Entrained Nuclei</vt:lpstr>
      <vt:lpstr>Literature: Knowledge Gaps</vt:lpstr>
      <vt:lpstr>Methodology: Computational Setup</vt:lpstr>
      <vt:lpstr>Methodology: Simulation Matrix</vt:lpstr>
      <vt:lpstr>Methodology: Number Density and Void Fraction</vt:lpstr>
      <vt:lpstr>Methodology: The Numerical Model</vt:lpstr>
      <vt:lpstr>Methodology: Interface Formulation</vt:lpstr>
      <vt:lpstr>Methodology: The Numerical Model</vt:lpstr>
      <vt:lpstr>Methodology: Euler-Lagrange Bubble Model</vt:lpstr>
      <vt:lpstr>Methodology: Keller-Miksis-Type Model</vt:lpstr>
      <vt:lpstr>Methodology: Numerical Methods</vt:lpstr>
      <vt:lpstr>Methodology: Strang Splitting</vt:lpstr>
      <vt:lpstr>Methodology: Code Extensions</vt:lpstr>
      <vt:lpstr>Methodology: Code Extensions</vt:lpstr>
      <vt:lpstr>Methodology: Code Extensions</vt:lpstr>
      <vt:lpstr>Methodology: Code Extensions</vt:lpstr>
      <vt:lpstr>Methodology: Code Extensions</vt:lpstr>
      <vt:lpstr>Methodology: Benchmarking</vt:lpstr>
      <vt:lpstr>Methodology: Validation / Benchmarking</vt:lpstr>
      <vt:lpstr>Methodology: Mesh Independence</vt:lpstr>
      <vt:lpstr>Methodology: Mesh Independence</vt:lpstr>
      <vt:lpstr>Methodology: Mesh Independence</vt:lpstr>
      <vt:lpstr>Methodology: Summary of Assumptions</vt:lpstr>
      <vt:lpstr>Clean Results: Non-dimensionalization</vt:lpstr>
      <vt:lpstr>Clean Results: Internal Wave Structure</vt:lpstr>
      <vt:lpstr>Clean Results: Peak Pressure</vt:lpstr>
      <vt:lpstr>Clean Results: Rarefaction</vt:lpstr>
      <vt:lpstr>Clean Results: Rarefaction</vt:lpstr>
      <vt:lpstr>Clean Results: Blake Threshold</vt:lpstr>
      <vt:lpstr>Clean Results: Underpressure Integral</vt:lpstr>
      <vt:lpstr>Clean Results: Early Droplet Deformation</vt:lpstr>
      <vt:lpstr>Doped Results: Spatial Selectivity of Activation</vt:lpstr>
      <vt:lpstr>Doped Results: Spatial Selectivity of Activation</vt:lpstr>
      <vt:lpstr>Doped Results: Absolute Bubble Growth</vt:lpstr>
      <vt:lpstr>Doped Results: Pressure Perturbations</vt:lpstr>
      <vt:lpstr>Doped Results: Pressure Perturbations</vt:lpstr>
      <vt:lpstr>Doped Results: Pressure Perturbations</vt:lpstr>
      <vt:lpstr>Doped Results: Early Droplet Deformation</vt:lpstr>
      <vt:lpstr>Doped Results: Early Droplet Deformation</vt:lpstr>
      <vt:lpstr>Principal Findings</vt:lpstr>
      <vt:lpstr>Contributions and Limitations</vt:lpstr>
      <vt:lpstr>Conference Paper Submissions</vt:lpstr>
      <vt:lpstr>Future Work</vt:lpstr>
      <vt:lpstr>Brendon A. Cavainolo¹, Rebecca Shannon², Sheryl M. Grace², and Michael P. Kinzel¹   ¹Department of Aerospace Engineering, Embry-Riddle Aeronautical University, Daytona Beach, FL, USA ²Department of Mechanical Engineering, Boston University, Boston, MA, USA  This work was partially supported by the Air Force Office of Scientific Research under award number FA9550-22-1-0021. DoD HPCMP and ERAU VEGA HPC use.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Crystal S.</dc:creator>
  <cp:lastModifiedBy>Roldan, Juan P.</cp:lastModifiedBy>
  <cp:revision>5</cp:revision>
  <cp:lastPrinted>2026-08-24T04:02:55Z</cp:lastPrinted>
  <dcterms:created xsi:type="dcterms:W3CDTF">2021-04-05T14:03:31Z</dcterms:created>
  <dcterms:modified xsi:type="dcterms:W3CDTF">2026-08-24T04:05:45Z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0x01010013887839EBA1FC42855A778CF7DEA682</vt:lpwstr>
  </property>
  <property fmtid="{D5CDD505-2E9C-101B-9397-08002B2CF9AE}" pid="3" name="MediaServiceImageTags">
    <vt:lpwstr/>
  </property>
</Properties>
</file>