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73" r:id="rId5"/>
  </p:sldMasterIdLst>
  <p:notesMasterIdLst>
    <p:notesMasterId r:id="rId27"/>
  </p:notesMasterIdLst>
  <p:handoutMasterIdLst>
    <p:handoutMasterId r:id="rId28"/>
  </p:handoutMasterIdLst>
  <p:sldIdLst>
    <p:sldId id="385" r:id="rId6"/>
    <p:sldId id="614" r:id="rId7"/>
    <p:sldId id="670" r:id="rId8"/>
    <p:sldId id="615" r:id="rId9"/>
    <p:sldId id="626" r:id="rId10"/>
    <p:sldId id="632" r:id="rId11"/>
    <p:sldId id="631" r:id="rId12"/>
    <p:sldId id="627" r:id="rId13"/>
    <p:sldId id="628" r:id="rId14"/>
    <p:sldId id="630" r:id="rId15"/>
    <p:sldId id="640" r:id="rId16"/>
    <p:sldId id="641" r:id="rId17"/>
    <p:sldId id="642" r:id="rId18"/>
    <p:sldId id="643" r:id="rId19"/>
    <p:sldId id="671" r:id="rId20"/>
    <p:sldId id="645" r:id="rId21"/>
    <p:sldId id="672" r:id="rId22"/>
    <p:sldId id="673" r:id="rId23"/>
    <p:sldId id="675" r:id="rId24"/>
    <p:sldId id="616" r:id="rId25"/>
    <p:sldId id="61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D5EA"/>
    <a:srgbClr val="4472C4"/>
    <a:srgbClr val="03539E"/>
    <a:srgbClr val="00509A"/>
    <a:srgbClr val="FCC100"/>
    <a:srgbClr val="FF0000"/>
    <a:srgbClr val="7F7F7F"/>
    <a:srgbClr val="404040"/>
    <a:srgbClr val="262626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6DBB70-F774-474C-BFEF-7DC072BDE39E}" v="4012" dt="2026-07-02T22:19:08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990" autoAdjust="0"/>
  </p:normalViewPr>
  <p:slideViewPr>
    <p:cSldViewPr snapToGrid="0">
      <p:cViewPr varScale="1">
        <p:scale>
          <a:sx n="102" d="100"/>
          <a:sy n="102" d="100"/>
        </p:scale>
        <p:origin x="918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FF963ED-470C-374F-FA93-EE896CE061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D19329-D566-1216-82DE-860B88CE3D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D79AE8-2921-4206-A740-E37681DC48F8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8B6BF8-864A-022A-BB70-8D50B83272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D5431A-1147-CD71-83A0-ACAA92549C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666624-23B6-42C7-9F96-EAA4AD450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9511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63382E-39D2-214A-BD32-6A88F16428C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B40E1-6B58-6542-B459-683BEC69D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117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425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9FFE6-400D-5F4F-E0BA-3707EB4B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89381E-C016-975E-4BA3-C0E74E6D5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5EFFB2-AFA9-1892-8926-7347984E7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B3B17-1D22-2259-6512-8430CAC2C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49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6BD2E-5496-6969-B22F-A4B9A0165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487E52-2E18-5BBF-1584-A9938C916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D41690-5E6B-4945-83C5-769BD4319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27DD0-C896-9D09-8C31-0032ADB637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50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83B7E-C41D-FB0D-37EA-C9C5842E1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C9BB1-F16A-524B-DEFA-6BA38DCD93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1CA5F0-7B5D-7A19-BD1D-D9B32CF73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F0A21-F81E-AA20-8F2B-3C5032EC51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67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A4E54-5604-D107-FEDB-1BF7AE05F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E1D591-0DA7-378D-5E63-8438F037D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B8A216-B358-D042-1B56-3337190AF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CC99C-2A49-22FE-751D-FD87029D4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058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6DE7F-8CDD-E41E-4AF4-4F6B4C80E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4C2E6-910E-D0C6-54E1-3BC0B6C7A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C96CD-91D7-B5BF-8EAF-283F86A1B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226E7-EA83-99FE-B3E3-DC6B453CF8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317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CCDEB-C67D-DDF3-E1FC-D5493B930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03D469-FDF1-8A45-9D1F-01FAABA47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5B803A-59AD-52C0-F349-486AE33A5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6ED9D-3AF4-4887-D7C3-0232DF532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474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3FB28-9E94-F0BC-D805-ED5588C0E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034E2-8998-B80F-B023-CBF04AC7F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2D383-7BFA-97AC-35B2-AC364C21A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A1A17-B6DA-2DCF-BE73-AEFDA9530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89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46376-4A23-9BBB-A3F3-812DC55B1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750CE3-518E-4937-AAB5-E65001B3A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DC181C-BAA1-DCFD-D487-2F7DADA84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4FC64-EED4-CE66-77C6-6DDE8AF1C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249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A5E3B-FEC7-208B-1B66-4235D4404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C93AB-D004-FD69-086E-D715BEA97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48F37-0F97-A2A4-D263-6366B5802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82D7C-18B5-19EA-232B-BE8CD7222F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0040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44AF6-EE47-00D9-0423-02D836FB8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69D44A-A186-078E-0DD6-C741490145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1A1A4E-AECF-2226-1618-7387EA28D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C570A-CC66-F0A7-4DE5-9811FF7FC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4278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B1945-BB7A-F679-41C7-8E7525E08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4B1C03-AD64-4E8E-F3F6-01A26E988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6DF58-4D43-7E84-C0E4-99D9012FE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988D0-8346-52BF-A232-E135AEDE74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6189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F0F57-402D-1A17-8012-B7285E1F3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50A13-F03E-C4EE-9001-A3D93130A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729821-2D62-129A-5580-6BE3E8FA0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6DFD9-D178-588F-491E-19D500817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0268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05BE0-808E-EC7A-8659-2FEB1D551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615572-003A-EE9F-9FE9-03A2B8C5F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91F14-F27E-A425-5457-798088419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A0F5E-1579-7467-3C35-9BB254A21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8209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D8E76-83B7-26D6-1E09-3DEEEA26C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39D404-7D18-7A3B-F936-F837850AE7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5D2D8-0CC0-73FC-4A70-C358D193C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393E5-F5C3-413C-5D9E-A2B3EF7BB6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197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703A1-3CDE-9D07-6D3C-5EA9BEA37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208FE8-13D2-46A8-9CCC-43729FA32A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74603D-C3F7-194F-A504-BEEE2787D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AE441-5842-A8FA-5948-51A1F05729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9803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B8EA2-04D7-27D7-1295-2E287A6CB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88DBE-E475-0BB7-7E15-27C2CC8AB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3435CC-14AA-DB17-5654-BA284454AD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04009-24DA-FFD6-A96A-FCB856AE2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011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1B1AC-5344-43A3-7C84-85DC03346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7322D9-B59C-E6EB-83CB-B4041FCEE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AA7DD0-77CF-9AC4-0204-B290808A4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E2EB3-D902-D020-D604-EE81997A81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547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27C17-A280-E78B-8D4F-1466D698C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705195-5FE8-F9BA-0C93-05B56EB5F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38C7BF-6125-A2A0-D967-E464F0F9F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2A0A6-311E-8E31-ECFE-9B6861AAC7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9073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0EBE0-67C9-E7E0-285D-67B8A885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5BB594-44B0-9452-AADE-7E00E4B1B8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9A303E-37A7-D212-FFDC-B395AE2FC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CA091-2B04-D589-D4D9-7319FB71CC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2082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D344F-CD04-F5C5-31AA-0C2C3F14F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FC70ED-8907-7168-04EA-29B85ACA9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B71069-6DC0-5205-D4DC-021E1404E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2B171-DF40-6848-012C-F9BD7B808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B40E1-6B58-6542-B459-683BEC69D23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23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lide">
    <p:bg>
      <p:bgPr>
        <a:solidFill>
          <a:srgbClr val="0050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667602-36C6-AD4B-A000-91432EB80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667001" y="-2666997"/>
            <a:ext cx="6858000" cy="12191998"/>
          </a:xfrm>
          <a:prstGeom prst="rect">
            <a:avLst/>
          </a:prstGeom>
          <a:solidFill>
            <a:srgbClr val="0050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16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667602-36C6-AD4B-A000-91432EB80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667001" y="-2666997"/>
            <a:ext cx="6858000" cy="1219199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36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30631"/>
            <a:ext cx="12191999" cy="6727368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99BA26-EDCB-AC4B-9868-011587754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8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 and Eag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720433-1BF1-DD46-86BC-2B9E6B0DF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52FCD5-ABEC-C91D-A839-77B4DC394E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1732"/>
          <a:stretch>
            <a:fillRect/>
          </a:stretch>
        </p:blipFill>
        <p:spPr>
          <a:xfrm>
            <a:off x="9256236" y="169652"/>
            <a:ext cx="1197821" cy="5155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D78B6B-0FEF-AFAC-C257-25C45D13A28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54057" y="170035"/>
            <a:ext cx="1503926" cy="515506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78B25B1-1F96-6266-AA1E-AC6E29A1C726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BE4FE07-E262-8340-BC14-9BBFD105B2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77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30632"/>
            <a:ext cx="6096000" cy="6727368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ED6C0D-EBDB-8048-8A42-C8B750D3A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mbry-Riddle wordmark.">
            <a:extLst>
              <a:ext uri="{FF2B5EF4-FFF2-40B4-BE49-F238E27FC236}">
                <a16:creationId xmlns:a16="http://schemas.microsoft.com/office/drawing/2014/main" id="{41909F1C-71CB-D24C-AAC9-99E098F8C4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D7C7A9D-667E-6590-3483-F426C7036F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55284" y="170035"/>
            <a:ext cx="4237350" cy="51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960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096000" y="130632"/>
            <a:ext cx="6096000" cy="6727368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DD172-42CC-124A-9EAD-DBF3A73E0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Embry-Riddle wordmark">
            <a:extLst>
              <a:ext uri="{FF2B5EF4-FFF2-40B4-BE49-F238E27FC236}">
                <a16:creationId xmlns:a16="http://schemas.microsoft.com/office/drawing/2014/main" id="{1E80EC0A-110A-E24C-8252-9E6BDE8B2B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2763" y="332678"/>
            <a:ext cx="1828800" cy="304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23AEF34-2AD0-BCD3-F0B7-850FE52B2D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947" y="227325"/>
            <a:ext cx="4237350" cy="51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100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07C24F-5714-9146-B66B-2C051B258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55" y="2416629"/>
            <a:ext cx="12187845" cy="44413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3695F-4D59-104F-9559-894258EB7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Embry-Riddle wordmark">
            <a:extLst>
              <a:ext uri="{FF2B5EF4-FFF2-40B4-BE49-F238E27FC236}">
                <a16:creationId xmlns:a16="http://schemas.microsoft.com/office/drawing/2014/main" id="{59E19346-CE04-0C4F-9903-979A2D6E78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8DFD92C-423C-C17B-E7EB-6462413FF5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55284" y="170035"/>
            <a:ext cx="4237350" cy="51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296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ri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211979" y="1096831"/>
            <a:ext cx="5267740" cy="5286273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48CE8E-5B1A-3440-BE06-3A2B68613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BFE76E5C-EF04-924F-B550-7B13EDC8D90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32454" y="1096831"/>
            <a:ext cx="5267740" cy="5286273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pic>
        <p:nvPicPr>
          <p:cNvPr id="6" name="Picture 5" descr="Embry-Riddle wordmark.">
            <a:extLst>
              <a:ext uri="{FF2B5EF4-FFF2-40B4-BE49-F238E27FC236}">
                <a16:creationId xmlns:a16="http://schemas.microsoft.com/office/drawing/2014/main" id="{8FF38597-57EC-F849-BDEE-27EE30A0BD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1E19472-BAAE-ADBD-DCFA-C55EF39FA3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55284" y="170035"/>
            <a:ext cx="4237350" cy="51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646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ri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C48CE8E-5B1A-3440-BE06-3A2B68613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Embry-Riddle wordmark">
            <a:extLst>
              <a:ext uri="{FF2B5EF4-FFF2-40B4-BE49-F238E27FC236}">
                <a16:creationId xmlns:a16="http://schemas.microsoft.com/office/drawing/2014/main" id="{DC902EFC-D42D-5D4C-8A23-40A659BF49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F0FC16EF-E998-554F-A565-990A0930E11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2454" y="1096831"/>
            <a:ext cx="526774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4D8B2EE7-F678-644E-9B74-ED8D8C4BC12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2454" y="3848825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E6119E26-FE16-CF4A-AF8C-EB4189FF67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67924" y="3848825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0FD87CB3-7E5E-DF4B-BF7D-C87531280D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11979" y="1096831"/>
            <a:ext cx="5267740" cy="5286273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484D61-08B3-2848-58E0-A5C30740AB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55284" y="170035"/>
            <a:ext cx="4237350" cy="51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476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rid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C48CE8E-5B1A-3440-BE06-3A2B68613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Embry-Riddle wordmark">
            <a:extLst>
              <a:ext uri="{FF2B5EF4-FFF2-40B4-BE49-F238E27FC236}">
                <a16:creationId xmlns:a16="http://schemas.microsoft.com/office/drawing/2014/main" id="{093343DA-253A-5240-AC7D-1B8C7493CD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C6F01912-8A2F-3D4C-B185-CB877EFEA24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32454" y="1096832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9DF6E0-B234-7F41-BF47-8693198B5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67924" y="1096831"/>
            <a:ext cx="2532270" cy="2534279"/>
          </a:xfrm>
          <a:prstGeom prst="rect">
            <a:avLst/>
          </a:prstGeom>
          <a:solidFill>
            <a:srgbClr val="FCC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highlight>
                <a:srgbClr val="FCC100"/>
              </a:highlight>
            </a:endParaRP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DEB0ADEB-C167-3146-9A39-32EA9FBC322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11979" y="1096832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9D8CFFDA-3410-724F-904A-AE70C9D0DAC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947449" y="1096832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E6D4BC0-1008-3D42-8901-29757DC16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2454" y="3847867"/>
            <a:ext cx="2532270" cy="2534279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highlight>
                <a:srgbClr val="FCC100"/>
              </a:highlight>
            </a:endParaRPr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E6119E26-FE16-CF4A-AF8C-EB4189FF67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67924" y="3848826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8572892F-1839-064E-A139-0CEA16D8D66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1979" y="3848826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90F46A-CA4A-9645-92EF-4A3C9518F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47450" y="3847867"/>
            <a:ext cx="2553612" cy="2535238"/>
          </a:xfrm>
          <a:prstGeom prst="rect">
            <a:avLst/>
          </a:prstGeom>
          <a:solidFill>
            <a:srgbClr val="0050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D6CEE8-B837-743C-BEA2-7A278E02DE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55284" y="170035"/>
            <a:ext cx="4237350" cy="51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232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ide Photo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30631"/>
            <a:ext cx="12192000" cy="329836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B4E21C-D8F7-1744-86C3-3A232A5D7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4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 Blue Overl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30631"/>
            <a:ext cx="12191999" cy="6727368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99BA26-EDCB-AC4B-9868-011587754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EFEF6E-DFBA-9E4C-94AE-F73781D3D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30632"/>
            <a:ext cx="12191999" cy="6727368"/>
          </a:xfrm>
          <a:prstGeom prst="rect">
            <a:avLst/>
          </a:prstGeom>
          <a:solidFill>
            <a:srgbClr val="00509A">
              <a:alpha val="88000"/>
            </a:srgb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301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5795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lide">
    <p:bg>
      <p:bgPr>
        <a:solidFill>
          <a:srgbClr val="0050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667602-36C6-AD4B-A000-91432EB80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667001" y="-2666997"/>
            <a:ext cx="6858000" cy="12191998"/>
          </a:xfrm>
          <a:prstGeom prst="rect">
            <a:avLst/>
          </a:prstGeom>
          <a:solidFill>
            <a:srgbClr val="0050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7CF025-116F-D636-3DCE-2D221EAA8AE3}"/>
              </a:ext>
            </a:extLst>
          </p:cNvPr>
          <p:cNvGrpSpPr/>
          <p:nvPr userDrawn="1"/>
        </p:nvGrpSpPr>
        <p:grpSpPr>
          <a:xfrm>
            <a:off x="93133" y="6036866"/>
            <a:ext cx="5943600" cy="707801"/>
            <a:chOff x="598711" y="5926786"/>
            <a:chExt cx="6823026" cy="81252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220581F-C80B-97F0-2724-0BF9CC217E0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598711" y="5926786"/>
              <a:ext cx="4822125" cy="81252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F1746F1-78C8-5B61-C422-11178513F5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b="4764"/>
            <a:stretch>
              <a:fillRect/>
            </a:stretch>
          </p:blipFill>
          <p:spPr>
            <a:xfrm>
              <a:off x="5420836" y="5926786"/>
              <a:ext cx="2000901" cy="812528"/>
            </a:xfrm>
            <a:prstGeom prst="rect">
              <a:avLst/>
            </a:prstGeom>
          </p:spPr>
        </p:pic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142A04C9-DE55-4E77-5D56-B88F6C0940E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40516" y="6035754"/>
            <a:ext cx="2058351" cy="7089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351B22-EA52-8D85-D050-8BBE2C52FD8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045782" y="6034640"/>
            <a:ext cx="1994734" cy="70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3600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667602-36C6-AD4B-A000-91432EB80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667001" y="-2666997"/>
            <a:ext cx="6858000" cy="1219199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476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30631"/>
            <a:ext cx="12191999" cy="6727368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99BA26-EDCB-AC4B-9868-011587754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4561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 and Eag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720433-1BF1-DD46-86BC-2B9E6B0DF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Embry-Riddle wordmark.">
            <a:extLst>
              <a:ext uri="{FF2B5EF4-FFF2-40B4-BE49-F238E27FC236}">
                <a16:creationId xmlns:a16="http://schemas.microsoft.com/office/drawing/2014/main" id="{D5C2ECB1-A06C-5C4F-BDAC-D3DA513A00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2926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30632"/>
            <a:ext cx="6096000" cy="6727368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ED6C0D-EBDB-8048-8A42-C8B750D3A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mbry-Riddle wordmark.">
            <a:extLst>
              <a:ext uri="{FF2B5EF4-FFF2-40B4-BE49-F238E27FC236}">
                <a16:creationId xmlns:a16="http://schemas.microsoft.com/office/drawing/2014/main" id="{41909F1C-71CB-D24C-AAC9-99E098F8C4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9095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096000" y="130632"/>
            <a:ext cx="6096000" cy="6727368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DD172-42CC-124A-9EAD-DBF3A73E0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Embry-Riddle wordmark">
            <a:extLst>
              <a:ext uri="{FF2B5EF4-FFF2-40B4-BE49-F238E27FC236}">
                <a16:creationId xmlns:a16="http://schemas.microsoft.com/office/drawing/2014/main" id="{1E80EC0A-110A-E24C-8252-9E6BDE8B2B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2763" y="332678"/>
            <a:ext cx="1828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960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07C24F-5714-9146-B66B-2C051B258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55" y="2416629"/>
            <a:ext cx="12187845" cy="44413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3695F-4D59-104F-9559-894258EB7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Embry-Riddle wordmark">
            <a:extLst>
              <a:ext uri="{FF2B5EF4-FFF2-40B4-BE49-F238E27FC236}">
                <a16:creationId xmlns:a16="http://schemas.microsoft.com/office/drawing/2014/main" id="{59E19346-CE04-0C4F-9903-979A2D6E78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595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ri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211979" y="1096831"/>
            <a:ext cx="5267740" cy="5286273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48CE8E-5B1A-3440-BE06-3A2B68613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BFE76E5C-EF04-924F-B550-7B13EDC8D90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32454" y="1096831"/>
            <a:ext cx="5267740" cy="5286273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pic>
        <p:nvPicPr>
          <p:cNvPr id="6" name="Picture 5" descr="Embry-Riddle wordmark.">
            <a:extLst>
              <a:ext uri="{FF2B5EF4-FFF2-40B4-BE49-F238E27FC236}">
                <a16:creationId xmlns:a16="http://schemas.microsoft.com/office/drawing/2014/main" id="{8FF38597-57EC-F849-BDEE-27EE30A0BD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0137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ri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C48CE8E-5B1A-3440-BE06-3A2B68613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Embry-Riddle wordmark">
            <a:extLst>
              <a:ext uri="{FF2B5EF4-FFF2-40B4-BE49-F238E27FC236}">
                <a16:creationId xmlns:a16="http://schemas.microsoft.com/office/drawing/2014/main" id="{DC902EFC-D42D-5D4C-8A23-40A659BF49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F0FC16EF-E998-554F-A565-990A0930E11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2454" y="1096831"/>
            <a:ext cx="526774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4D8B2EE7-F678-644E-9B74-ED8D8C4BC12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2454" y="3848825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E6119E26-FE16-CF4A-AF8C-EB4189FF67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67924" y="3848825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0FD87CB3-7E5E-DF4B-BF7D-C87531280D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11979" y="1096831"/>
            <a:ext cx="5267740" cy="5286273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</p:spTree>
    <p:extLst>
      <p:ext uri="{BB962C8B-B14F-4D97-AF65-F5344CB8AC3E}">
        <p14:creationId xmlns:p14="http://schemas.microsoft.com/office/powerpoint/2010/main" val="12533050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rid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C48CE8E-5B1A-3440-BE06-3A2B68613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Embry-Riddle wordmark">
            <a:extLst>
              <a:ext uri="{FF2B5EF4-FFF2-40B4-BE49-F238E27FC236}">
                <a16:creationId xmlns:a16="http://schemas.microsoft.com/office/drawing/2014/main" id="{093343DA-253A-5240-AC7D-1B8C7493CD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7874" y="332678"/>
            <a:ext cx="1828800" cy="304800"/>
          </a:xfrm>
          <a:prstGeom prst="rect">
            <a:avLst/>
          </a:prstGeom>
        </p:spPr>
      </p:pic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C6F01912-8A2F-3D4C-B185-CB877EFEA24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32454" y="1096832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9DF6E0-B234-7F41-BF47-8693198B5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67924" y="1096831"/>
            <a:ext cx="2532270" cy="2534279"/>
          </a:xfrm>
          <a:prstGeom prst="rect">
            <a:avLst/>
          </a:prstGeom>
          <a:solidFill>
            <a:srgbClr val="FCC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highlight>
                <a:srgbClr val="FCC100"/>
              </a:highlight>
            </a:endParaRP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DEB0ADEB-C167-3146-9A39-32EA9FBC322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11979" y="1096832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9D8CFFDA-3410-724F-904A-AE70C9D0DAC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947449" y="1096832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E6D4BC0-1008-3D42-8901-29757DC16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2454" y="3847867"/>
            <a:ext cx="2532270" cy="2534279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highlight>
                <a:srgbClr val="FCC100"/>
              </a:highlight>
            </a:endParaRPr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E6119E26-FE16-CF4A-AF8C-EB4189FF67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67924" y="3848826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8572892F-1839-064E-A139-0CEA16D8D66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1979" y="3848826"/>
            <a:ext cx="2532270" cy="253427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90F46A-CA4A-9645-92EF-4A3C9518F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47450" y="3847867"/>
            <a:ext cx="2553612" cy="2535238"/>
          </a:xfrm>
          <a:prstGeom prst="rect">
            <a:avLst/>
          </a:prstGeom>
          <a:solidFill>
            <a:srgbClr val="0050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211080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ide Photo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30631"/>
            <a:ext cx="12192000" cy="3298369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B4E21C-D8F7-1744-86C3-3A232A5D7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507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 Blue Overl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30631"/>
            <a:ext cx="12191999" cy="6727368"/>
          </a:xfrm>
        </p:spPr>
        <p:txBody>
          <a:bodyPr rtlCol="0">
            <a:normAutofit/>
          </a:bodyPr>
          <a:lstStyle/>
          <a:p>
            <a:pPr lvl="0"/>
            <a:endParaRPr lang="id-ID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99BA26-EDCB-AC4B-9868-011587754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30687" y="-6030684"/>
            <a:ext cx="130629" cy="1219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EFEF6E-DFBA-9E4C-94AE-F73781D3D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30632"/>
            <a:ext cx="12191999" cy="6727368"/>
          </a:xfrm>
          <a:prstGeom prst="rect">
            <a:avLst/>
          </a:prstGeom>
          <a:solidFill>
            <a:srgbClr val="00509A">
              <a:alpha val="88000"/>
            </a:srgb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8527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144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0FD283-F7F1-EA40-B1FF-779E5473A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8E710-1888-764D-8865-43CB26551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68175-0C34-424F-AC9D-533EC2981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0FBAB-E6EE-3847-8E5C-70BB30378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CAD7B-BBB4-074D-8042-366791D905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BE4FE07-E262-8340-BC14-9BBFD105B2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904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8" r:id="rId2"/>
    <p:sldLayoutId id="2147483670" r:id="rId3"/>
    <p:sldLayoutId id="2147483649" r:id="rId4"/>
    <p:sldLayoutId id="2147483661" r:id="rId5"/>
    <p:sldLayoutId id="2147483662" r:id="rId6"/>
    <p:sldLayoutId id="2147483667" r:id="rId7"/>
    <p:sldLayoutId id="2147483671" r:id="rId8"/>
    <p:sldLayoutId id="2147483669" r:id="rId9"/>
    <p:sldLayoutId id="2147483672" r:id="rId10"/>
    <p:sldLayoutId id="2147483664" r:id="rId11"/>
    <p:sldLayoutId id="2147483665" r:id="rId12"/>
    <p:sldLayoutId id="214748365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bg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0FD283-F7F1-EA40-B1FF-779E5473A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8E710-1888-764D-8865-43CB26551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68175-0C34-424F-AC9D-533EC2981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0FBAB-E6EE-3847-8E5C-70BB30378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CAD7B-BBB4-074D-8042-366791D905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BE4FE07-E262-8340-BC14-9BBFD105B2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940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bg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30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11" Type="http://schemas.openxmlformats.org/officeDocument/2006/relationships/image" Target="../media/image34.png"/><Relationship Id="rId5" Type="http://schemas.openxmlformats.org/officeDocument/2006/relationships/image" Target="../media/image32.png"/><Relationship Id="rId10" Type="http://schemas.openxmlformats.org/officeDocument/2006/relationships/image" Target="../media/image59.png"/><Relationship Id="rId4" Type="http://schemas.openxmlformats.org/officeDocument/2006/relationships/image" Target="../media/image31.png"/><Relationship Id="rId9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2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C353E3-4FBA-FFD8-9B37-63153166D2D6}"/>
              </a:ext>
            </a:extLst>
          </p:cNvPr>
          <p:cNvSpPr txBox="1"/>
          <p:nvPr/>
        </p:nvSpPr>
        <p:spPr>
          <a:xfrm>
            <a:off x="471236" y="565546"/>
            <a:ext cx="11249526" cy="2123634"/>
          </a:xfrm>
          <a:prstGeom prst="rect">
            <a:avLst/>
          </a:prstGeom>
        </p:spPr>
        <p:txBody>
          <a:bodyPr wrap="square" lIns="91416" tIns="45708" rIns="91416" bIns="45708" rtlCol="0" anchor="t">
            <a:spAutoFit/>
          </a:bodyPr>
          <a:lstStyle/>
          <a:p>
            <a:pPr algn="ctr" fontAlgn="auto">
              <a:spcAft>
                <a:spcPts val="0"/>
              </a:spcAft>
              <a:tabLst>
                <a:tab pos="3590925" algn="l"/>
              </a:tabLst>
            </a:pPr>
            <a:r>
              <a:rPr lang="en-US" sz="4400" b="1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CFD-Informed Linear-to-Nonlinear Instability Growth in High-Mach-Number Drop </a:t>
            </a:r>
            <a:r>
              <a:rPr lang="en-US" sz="4400" b="1" dirty="0" err="1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Aerobreakup</a:t>
            </a:r>
            <a:endParaRPr lang="en-US" sz="4400" b="1" dirty="0">
              <a:solidFill>
                <a:schemeClr val="bg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09F07608-81EE-13F6-4FAB-A83392F7F356}"/>
              </a:ext>
            </a:extLst>
          </p:cNvPr>
          <p:cNvSpPr txBox="1">
            <a:spLocks/>
          </p:cNvSpPr>
          <p:nvPr/>
        </p:nvSpPr>
        <p:spPr>
          <a:xfrm>
            <a:off x="2137017" y="3021960"/>
            <a:ext cx="7917964" cy="25545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000" dirty="0">
                <a:solidFill>
                  <a:schemeClr val="bg1"/>
                </a:solidFill>
                <a:latin typeface="Arial"/>
                <a:ea typeface="Roboto"/>
                <a:cs typeface="Arial"/>
              </a:rPr>
              <a:t>Juan P. Roldan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endParaRPr lang="en-US" sz="2000" dirty="0">
              <a:solidFill>
                <a:schemeClr val="bg1"/>
              </a:solidFill>
              <a:latin typeface="Arial"/>
              <a:ea typeface="Roboto" panose="02000000000000000000" pitchFamily="2" charset="0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000" dirty="0">
                <a:solidFill>
                  <a:schemeClr val="bg1"/>
                </a:solidFill>
                <a:latin typeface="Arial"/>
                <a:ea typeface="Roboto" panose="02000000000000000000" pitchFamily="2" charset="0"/>
                <a:cs typeface="Arial"/>
              </a:rPr>
              <a:t>Dr. Guillermo Jaramillo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000" dirty="0">
                <a:solidFill>
                  <a:schemeClr val="bg1"/>
                </a:solidFill>
                <a:latin typeface="Arial"/>
                <a:ea typeface="Roboto" panose="02000000000000000000" pitchFamily="2" charset="0"/>
                <a:cs typeface="Arial"/>
              </a:rPr>
              <a:t>IMPETUS INDOMITUS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endParaRPr lang="en-US" sz="2000" dirty="0">
              <a:solidFill>
                <a:schemeClr val="bg1"/>
              </a:solidFill>
              <a:latin typeface="Arial"/>
              <a:ea typeface="Roboto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000" i="1" dirty="0">
                <a:solidFill>
                  <a:schemeClr val="bg1"/>
                </a:solidFill>
                <a:latin typeface="Arial"/>
                <a:ea typeface="Roboto"/>
                <a:cs typeface="Arial"/>
              </a:rPr>
              <a:t>Final Project Presentation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000" i="1" dirty="0">
                <a:solidFill>
                  <a:schemeClr val="bg1"/>
                </a:solidFill>
                <a:latin typeface="Arial"/>
                <a:ea typeface="Roboto"/>
                <a:cs typeface="Arial"/>
              </a:rPr>
              <a:t>Hydrodynamic Instabilities – 780125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000" i="1" dirty="0">
                <a:solidFill>
                  <a:schemeClr val="bg1"/>
                </a:solidFill>
                <a:latin typeface="Arial"/>
                <a:ea typeface="Roboto"/>
                <a:cs typeface="Arial"/>
              </a:rPr>
              <a:t>July 2</a:t>
            </a:r>
            <a:r>
              <a:rPr lang="en-US" sz="2000" i="1" baseline="30000" dirty="0">
                <a:solidFill>
                  <a:schemeClr val="bg1"/>
                </a:solidFill>
                <a:latin typeface="Arial"/>
                <a:ea typeface="Roboto"/>
                <a:cs typeface="Arial"/>
              </a:rPr>
              <a:t>nd</a:t>
            </a:r>
            <a:r>
              <a:rPr lang="en-US" sz="2000" i="1" dirty="0">
                <a:solidFill>
                  <a:schemeClr val="bg1"/>
                </a:solidFill>
                <a:latin typeface="Arial"/>
                <a:ea typeface="Roboto"/>
                <a:cs typeface="Arial"/>
              </a:rPr>
              <a:t> 2026</a:t>
            </a:r>
            <a:endParaRPr lang="en-US" sz="2000" i="1" dirty="0">
              <a:solidFill>
                <a:schemeClr val="bg1"/>
              </a:solidFill>
              <a:latin typeface="Arial"/>
              <a:ea typeface="Roboto" panose="02000000000000000000" pitchFamily="2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4577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C3901-F546-2F8A-0D3D-F88DEC152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CACF27-85D5-300A-8719-59EB30A165E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Motivation – Rain Erosion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4B2C61-63E1-00F5-425F-EFB5C2EBC174}"/>
              </a:ext>
            </a:extLst>
          </p:cNvPr>
          <p:cNvSpPr/>
          <p:nvPr/>
        </p:nvSpPr>
        <p:spPr>
          <a:xfrm>
            <a:off x="783845" y="1088998"/>
            <a:ext cx="10569955" cy="211852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Hypersonic glide vehicles encounter atmospheric hydrometeors during terminal descent at 0–7 km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Micron cloud droplets to millimeter raindrops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Cumulative droplet impacts roughen the surface → early boundary-layer transition → heating/drag/control-authority penalties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These margins are already thin in air-breathing systems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37972B-24AB-9696-49FC-DDE80082EB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E4FE07-E262-8340-BC14-9BBFD105B2FB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C17CC1-F3A5-A190-3E73-911F0C3882BA}"/>
              </a:ext>
            </a:extLst>
          </p:cNvPr>
          <p:cNvGrpSpPr/>
          <p:nvPr/>
        </p:nvGrpSpPr>
        <p:grpSpPr>
          <a:xfrm>
            <a:off x="1927952" y="3207527"/>
            <a:ext cx="8336096" cy="3513948"/>
            <a:chOff x="1927952" y="3207527"/>
            <a:chExt cx="8336096" cy="351394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6EEC41E-C00B-0917-9D1F-B6EF3ED2B6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27952" y="3207527"/>
              <a:ext cx="8281739" cy="300025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A454044-BF3B-0F96-B476-987162112455}"/>
                </a:ext>
              </a:extLst>
            </p:cNvPr>
            <p:cNvSpPr txBox="1"/>
            <p:nvPr/>
          </p:nvSpPr>
          <p:spPr>
            <a:xfrm>
              <a:off x="1982309" y="6136700"/>
              <a:ext cx="828173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Figure: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 Schematic of atmospheric droplets interacting with the bow shock of a hypersonic vehicle before and after shock passage. Adapted from Aguilera 2023.</a:t>
              </a:r>
              <a:endParaRPr lang="en-US" sz="1600" i="1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C9D8F72-8114-509D-7058-553EDD26F9DB}"/>
              </a:ext>
            </a:extLst>
          </p:cNvPr>
          <p:cNvGrpSpPr/>
          <p:nvPr/>
        </p:nvGrpSpPr>
        <p:grpSpPr>
          <a:xfrm>
            <a:off x="4928612" y="3514311"/>
            <a:ext cx="3326128" cy="2158950"/>
            <a:chOff x="4928612" y="3514311"/>
            <a:chExt cx="3326128" cy="21589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DC2CC75-1ACD-BD99-01DA-60D930C905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176" t="19586" b="9328"/>
            <a:stretch>
              <a:fillRect/>
            </a:stretch>
          </p:blipFill>
          <p:spPr>
            <a:xfrm rot="10800000">
              <a:off x="4928613" y="3514311"/>
              <a:ext cx="1719001" cy="1762261"/>
            </a:xfrm>
            <a:prstGeom prst="rect">
              <a:avLst/>
            </a:prstGeom>
            <a:ln w="57150">
              <a:solidFill>
                <a:srgbClr val="03539E"/>
              </a:solidFill>
            </a:ln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E96DD2A-0870-BA1F-7177-AA4FF3F88032}"/>
                </a:ext>
              </a:extLst>
            </p:cNvPr>
            <p:cNvSpPr/>
            <p:nvPr/>
          </p:nvSpPr>
          <p:spPr>
            <a:xfrm>
              <a:off x="7865961" y="4707656"/>
              <a:ext cx="388779" cy="388779"/>
            </a:xfrm>
            <a:prstGeom prst="rect">
              <a:avLst/>
            </a:prstGeom>
            <a:ln w="28575">
              <a:solidFill>
                <a:srgbClr val="00509A"/>
              </a:solidFill>
            </a:ln>
          </p:spPr>
          <p:txBody>
            <a:bodyPr wrap="square" rtlCol="0" anchor="ctr">
              <a:spAutoFit/>
            </a:bodyPr>
            <a:lstStyle/>
            <a:p>
              <a:pPr algn="l">
                <a:lnSpc>
                  <a:spcPct val="150000"/>
                </a:lnSpc>
              </a:pP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93C3EDA-B33A-5187-43BE-B9D10C7F9CC8}"/>
                </a:ext>
              </a:extLst>
            </p:cNvPr>
            <p:cNvCxnSpPr>
              <a:cxnSpLocks/>
              <a:stCxn id="4" idx="1"/>
              <a:endCxn id="5" idx="1"/>
            </p:cNvCxnSpPr>
            <p:nvPr/>
          </p:nvCxnSpPr>
          <p:spPr>
            <a:xfrm>
              <a:off x="6647614" y="4395441"/>
              <a:ext cx="1218347" cy="506605"/>
            </a:xfrm>
            <a:prstGeom prst="line">
              <a:avLst/>
            </a:prstGeom>
            <a:ln w="38100">
              <a:solidFill>
                <a:srgbClr val="00509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DB02E5C-2604-30C0-C9EB-4C700FE5EC7A}"/>
                </a:ext>
              </a:extLst>
            </p:cNvPr>
            <p:cNvSpPr txBox="1"/>
            <p:nvPr/>
          </p:nvSpPr>
          <p:spPr>
            <a:xfrm>
              <a:off x="4928612" y="5365484"/>
              <a:ext cx="1719002" cy="3077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3539E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400" dirty="0" err="1">
                  <a:latin typeface="Arial"/>
                  <a:ea typeface="Open Sans"/>
                  <a:cs typeface="Arial"/>
                </a:rPr>
                <a:t>Dworzanczyk</a:t>
              </a:r>
              <a:r>
                <a:rPr lang="en-US" sz="1400" dirty="0">
                  <a:latin typeface="Arial"/>
                  <a:ea typeface="Open Sans"/>
                  <a:cs typeface="Arial"/>
                </a:rPr>
                <a:t> 2025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76458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503C-577C-4364-7A61-588571A65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9889205-5F85-D932-C05E-3FE49D5E59E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Introduction – Breakup Modes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23220D4-3F64-1F9F-AAEB-18EE7812F771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725583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Droplet breakup is commonly organized by the aerodynamic Weber number: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𝑊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𝑔</m:t>
                            </m:r>
                          </m:sub>
                        </m:sSub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𝐴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2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𝑑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𝜎</m:t>
                        </m:r>
                      </m:den>
                    </m:f>
                  </m:oMath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23220D4-3F64-1F9F-AAEB-18EE7812F7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725583"/>
              </a:xfrm>
              <a:prstGeom prst="rect">
                <a:avLst/>
              </a:prstGeom>
              <a:blipFill>
                <a:blip r:embed="rId3"/>
                <a:stretch>
                  <a:fillRect l="-404" b="-4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1202A7-15B5-9E3F-CF2C-1376732200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E4FE07-E262-8340-BC14-9BBFD105B2FB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3BB311-0A49-BE7E-DB65-AF09A2018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1" y="1749883"/>
            <a:ext cx="5588315" cy="41444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940100-2129-C46D-2B45-D05DFF016DA0}"/>
              </a:ext>
            </a:extLst>
          </p:cNvPr>
          <p:cNvSpPr txBox="1"/>
          <p:nvPr/>
        </p:nvSpPr>
        <p:spPr>
          <a:xfrm>
            <a:off x="838200" y="5911666"/>
            <a:ext cx="55883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Breakup modes of water droplets observed experimentally (Aguilera 2023).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C7D883-FA4F-55BB-ECE4-C13A108A9D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5249" y="4138806"/>
            <a:ext cx="2463927" cy="1638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12412D-3FB0-2F3A-2CDF-CD63D9C3D6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8535613" y="1269288"/>
            <a:ext cx="1511378" cy="29020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A3AF95-57C0-BF72-09F2-FA21F04D3583}"/>
              </a:ext>
            </a:extLst>
          </p:cNvPr>
          <p:cNvSpPr txBox="1"/>
          <p:nvPr/>
        </p:nvSpPr>
        <p:spPr>
          <a:xfrm>
            <a:off x="7929564" y="3476027"/>
            <a:ext cx="26952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Droplet, Mach 3 (Reinecke-McKay 1969)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7B1452-B7A6-4383-1B08-0578614B0C4D}"/>
              </a:ext>
            </a:extLst>
          </p:cNvPr>
          <p:cNvSpPr txBox="1"/>
          <p:nvPr/>
        </p:nvSpPr>
        <p:spPr>
          <a:xfrm>
            <a:off x="7881662" y="5777189"/>
            <a:ext cx="2743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Droplet, Mach 11 (Reinecke-McKay 1969)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061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7B36C-D031-7F54-466B-0686EEFF0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D113EF-A25C-55FB-714C-35923D1A1BB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Literature: Linear-to-Nonlinear Instability Growth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1F7A2A5-5F2D-4D4B-4818-7C8E5ED3FF9E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5515934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2025 - Dworzanczyk et al. studied high-Mach drop </a:t>
                </a:r>
                <a:r>
                  <a:rPr lang="en-US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aerobreakup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using railgun experiments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Applied early-time RT/KH linear stability analysis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Found linear theory was useful for locating instability mechanisms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Not useful for predicting breakup morphology</a:t>
                </a: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Linear growth rate: 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(based on </a:t>
                </a:r>
                <a:r>
                  <a:rPr lang="en-US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Funada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and Joseph 2001)</a:t>
                </a: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sz="1600" b="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/>
                  </a:rPr>
                  <a:t>s</a:t>
                </a:r>
                <a:r>
                  <a:rPr lang="en-US" sz="16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a typeface="Open Sans"/>
                    <a:cs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=−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𝑖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𝜅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𝑔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𝑔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+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𝑑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𝑑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𝑔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+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𝑑</m:t>
                            </m:r>
                          </m:sub>
                        </m:sSub>
                      </m:den>
                    </m:f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−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𝜅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/>
                                    <a:cs typeface="Arial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/>
                                    <a:cs typeface="Arial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/>
                                    <a:cs typeface="Arial"/>
                                  </a:rPr>
                                  <m:t>𝑔</m:t>
                                </m:r>
                              </m:sub>
                            </m:sSub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/>
                                    <a:cs typeface="Arial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/>
                                    <a:cs typeface="Arial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/>
                                    <a:cs typeface="Arial"/>
                                  </a:rPr>
                                  <m:t>𝑑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𝑔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+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Open Sans"/>
                                <a:cs typeface="Arial"/>
                              </a:rPr>
                              <m:t>𝑑</m:t>
                            </m:r>
                          </m:sub>
                        </m:sSub>
                      </m:den>
                    </m:f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±</m:t>
                    </m:r>
                    <m:sSup>
                      <m:sSupPr>
                        <m:ctrlP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600" i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1600" i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𝜅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𝑔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𝑑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1600" i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  <m:t>𝑢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  <m:t>𝑔</m:t>
                                            </m:r>
                                          </m:sub>
                                        </m:sSub>
                                        <m:r>
                                          <a:rPr lang="en-US" sz="1600" i="1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  <m:t>𝑢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  <m:t>𝑑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i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sz="1600" i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  <m:t>𝑔</m:t>
                                            </m:r>
                                          </m:sub>
                                        </m:sSub>
                                        <m:r>
                                          <a:rPr lang="en-US" sz="1600" i="1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  <m:t>𝑑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i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/>
                                  </a:rPr>
                                </m:ctrlPr>
                              </m:fPr>
                              <m:num>
                                <m:r>
                                  <a:rPr lang="en-US" sz="16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/>
                                  </a:rPr>
                                  <m:t>𝜅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⊥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  <m: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  <m:t>𝑔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𝑔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𝑑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𝜅</m:t>
                                    </m:r>
                                  </m:e>
                                  <m:sup>
                                    <m: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16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/>
                                  </a:rPr>
                                  <m:t>𝜎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𝑔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𝑑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6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𝜅</m:t>
                                    </m:r>
                                  </m:e>
                                  <m:sup>
                                    <m: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4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b="0" i="1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0" i="1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0" i="1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  <m:t>𝑔</m:t>
                                            </m:r>
                                          </m:sub>
                                        </m:sSub>
                                        <m: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b="0" i="1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0" i="1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0" i="1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  <m:t>𝑑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b="0" i="1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0" i="1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0" i="1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  <m:t>𝑔</m:t>
                                            </m:r>
                                          </m:sub>
                                        </m:sSub>
                                        <m: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b="0" i="1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0" i="1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0" i="1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  <m:t>𝑑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/>
                              </a:rPr>
                              <m:t>+2</m:t>
                            </m:r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/>
                              </a:rPr>
                              <m:t>𝑖</m:t>
                            </m:r>
                            <m:sSup>
                              <m:sSupPr>
                                <m:ctrlPr>
                                  <a:rPr lang="en-US" sz="16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/>
                                  </a:rPr>
                                </m:ctrlPr>
                              </m:sSupPr>
                              <m:e>
                                <m:r>
                                  <a:rPr lang="en-US" sz="16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/>
                                  </a:rPr>
                                  <m:t>𝜅</m:t>
                                </m:r>
                              </m:e>
                              <m:sup>
                                <m:r>
                                  <a:rPr lang="en-US" sz="16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/>
                                  </a:rPr>
                                  <m:t>3</m:t>
                                </m:r>
                              </m:sup>
                            </m:sSup>
                            <m:f>
                              <m:fPr>
                                <m:ctrlPr>
                                  <a:rPr lang="en-US" sz="16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  <m:t>𝑔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  <m: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  <m:t>𝑔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  <m:t>𝑔</m:t>
                                        </m:r>
                                      </m:sub>
                                    </m:sSub>
                                    <m: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p>
                                  <m:sSupPr>
                                    <m:ctrlP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b="0" i="1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0" i="1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0" i="1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  <m:t>𝑔</m:t>
                                            </m:r>
                                          </m:sub>
                                        </m:sSub>
                                        <m:r>
                                          <a:rPr lang="en-US" sz="1600" b="0" i="1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b="0" i="1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0" i="1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0" i="1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rial"/>
                                              </a:rPr>
                                              <m:t>𝑑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  <m:t>1/2</m:t>
                        </m:r>
                      </m:sup>
                    </m:sSup>
                  </m:oMath>
                </a14:m>
                <a:endPara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Nonlinear growth rate: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(based on Pilch et al. 1987 and Davies and Taylor 1950)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16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𝑑</m:t>
                                  </m:r>
                                  <m:r>
                                    <a:rPr lang="en-US" sz="1600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𝜁</m:t>
                                  </m:r>
                                </m:num>
                                <m:den>
                                  <m:r>
                                    <a:rPr lang="en-US" sz="1600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𝑛𝑙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r>
                        <a:rPr lang="en-US" sz="16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𝐹</m:t>
                      </m:r>
                      <m:rad>
                        <m:radPr>
                          <m:degHide m:val="on"/>
                          <m:ctrlP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US" sz="16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1−</m:t>
                              </m:r>
                              <m:r>
                                <a:rPr lang="en-US" sz="16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𝜖</m:t>
                              </m:r>
                            </m:e>
                          </m:d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𝑎</m:t>
                          </m:r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𝜆</m:t>
                          </m:r>
                        </m:e>
                      </m:rad>
                    </m:oMath>
                  </m:oMathPara>
                </a14:m>
                <a:endPara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Predicts finite-amplitude growth when wavelength is supplied</a:t>
                </a: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Unresolved issue: </a:t>
                </a: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wavelength is not predicted</a:t>
                </a: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Linear theory predicts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𝜆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~30 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𝜇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; experiments / simulations show structures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~ 100 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𝜇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𝑚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 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𝑡𝑜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 1 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𝑚𝑚</m:t>
                    </m:r>
                  </m:oMath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1F7A2A5-5F2D-4D4B-4818-7C8E5ED3FF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5515934"/>
              </a:xfrm>
              <a:prstGeom prst="rect">
                <a:avLst/>
              </a:prstGeom>
              <a:blipFill>
                <a:blip r:embed="rId3"/>
                <a:stretch>
                  <a:fillRect l="-519" b="-9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740006-13D7-49E8-E5C9-D905EC097B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E4FE07-E262-8340-BC14-9BBFD105B2F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92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406CA-2BAA-1ECF-F08F-7506744BC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6554C8B-55DE-8FEE-68A9-40527732500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Problem Statement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625431-982E-126D-7216-46C7BAD4373A}"/>
              </a:ext>
            </a:extLst>
          </p:cNvPr>
          <p:cNvSpPr/>
          <p:nvPr/>
        </p:nvSpPr>
        <p:spPr>
          <a:xfrm>
            <a:off x="783845" y="1088998"/>
            <a:ext cx="10569955" cy="46115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Can CFD-informed inputs improve the prediction of the linear-to-nonlinear framework proposed by Dworzanczyk et al.?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Use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extracted base states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from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computational simulations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to update growth-rate maps,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assess other linear mechanisms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, and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identify simulation requirements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needed for future work.</a:t>
            </a:r>
          </a:p>
          <a:p>
            <a:pPr>
              <a:lnSpc>
                <a:spcPct val="150000"/>
              </a:lnSpc>
              <a:defRPr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Objectives: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Summarize the linear-to-nonlinear framework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Construct CFD-informed growth-rate maps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Assess wavelength-selection candidates systematically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Diagnose the structural limitation of the simulations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4F5A101-3B6C-A535-DDBF-9B9C4E8BFD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396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62FC6-C64D-AB0A-2FE9-C29CA9E6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9EE354B-B925-AC26-57E3-F55D0441408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Simulation Matrix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A17A399-700F-D6F0-39A4-5BC6DFD6EF56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5476371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Parameter space: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1mm droplet,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𝑠</m:t>
                        </m:r>
                      </m:sub>
                    </m:sSub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3, 5, 7</m:t>
                        </m:r>
                      </m:e>
                    </m:d>
                  </m:oMath>
                </a14:m>
                <a:endPara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All We are well above those for the classical breakup mechanisms</a:t>
                </a: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Instability analysis:</a:t>
                </a: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At each stored time step: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Extract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𝑔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𝑔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,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⊥</m:t>
                        </m:r>
                      </m:sub>
                    </m:sSub>
                    <m:r>
                      <a:rPr lang="en-US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,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all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𝑓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𝑓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(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𝜙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,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𝑡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)</m:t>
                    </m:r>
                  </m:oMath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Evaluate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(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𝜅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;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𝜙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,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𝑡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and identify most-amplified wavenumber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𝜅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(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𝜙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,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𝑡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)</m:t>
                    </m:r>
                  </m:oMath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A17A399-700F-D6F0-39A4-5BC6DFD6EF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5476371"/>
              </a:xfrm>
              <a:prstGeom prst="rect">
                <a:avLst/>
              </a:prstGeom>
              <a:blipFill>
                <a:blip r:embed="rId3"/>
                <a:stretch>
                  <a:fillRect l="-519" b="-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7A3D46BB-4C96-E97E-CBA6-8D071A62E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C5CE43-6446-F8DF-EF7D-595D22BB02CC}"/>
                  </a:ext>
                </a:extLst>
              </p:cNvPr>
              <p:cNvSpPr txBox="1"/>
              <p:nvPr/>
            </p:nvSpPr>
            <p:spPr>
              <a:xfrm>
                <a:off x="2269527" y="3502979"/>
                <a:ext cx="765294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Table: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Shock-droplet simulation matrix. Post-shock values from Rankine-</a:t>
                </a:r>
                <a:r>
                  <a:rPr lang="en-US" sz="16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Hugoniot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relations;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𝑊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𝑒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1600" i="1" dirty="0"/>
                  <a:t>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based on post-shock gas conditions and initial drop diameter.</a:t>
                </a:r>
                <a:endParaRPr lang="en-US" sz="1600" i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C5CE43-6446-F8DF-EF7D-595D22BB0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527" y="3502979"/>
                <a:ext cx="7652946" cy="584775"/>
              </a:xfrm>
              <a:prstGeom prst="rect">
                <a:avLst/>
              </a:prstGeom>
              <a:blipFill>
                <a:blip r:embed="rId4"/>
                <a:stretch>
                  <a:fillRect l="-398" t="-3125" b="-1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84C2DCD7-BACB-6D9A-E31A-CC03B68E04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0112793"/>
                  </p:ext>
                </p:extLst>
              </p:nvPr>
            </p:nvGraphicFramePr>
            <p:xfrm>
              <a:off x="3622675" y="1891343"/>
              <a:ext cx="4892294" cy="15043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3418">
                      <a:extLst>
                        <a:ext uri="{9D8B030D-6E8A-4147-A177-3AD203B41FA5}">
                          <a16:colId xmlns:a16="http://schemas.microsoft.com/office/drawing/2014/main" val="4155891454"/>
                        </a:ext>
                      </a:extLst>
                    </a:gridCol>
                    <a:gridCol w="536829">
                      <a:extLst>
                        <a:ext uri="{9D8B030D-6E8A-4147-A177-3AD203B41FA5}">
                          <a16:colId xmlns:a16="http://schemas.microsoft.com/office/drawing/2014/main" val="4058542060"/>
                        </a:ext>
                      </a:extLst>
                    </a:gridCol>
                    <a:gridCol w="865378">
                      <a:extLst>
                        <a:ext uri="{9D8B030D-6E8A-4147-A177-3AD203B41FA5}">
                          <a16:colId xmlns:a16="http://schemas.microsoft.com/office/drawing/2014/main" val="1272393537"/>
                        </a:ext>
                      </a:extLst>
                    </a:gridCol>
                    <a:gridCol w="1371790">
                      <a:extLst>
                        <a:ext uri="{9D8B030D-6E8A-4147-A177-3AD203B41FA5}">
                          <a16:colId xmlns:a16="http://schemas.microsoft.com/office/drawing/2014/main" val="2847787052"/>
                        </a:ext>
                      </a:extLst>
                    </a:gridCol>
                    <a:gridCol w="1444879">
                      <a:extLst>
                        <a:ext uri="{9D8B030D-6E8A-4147-A177-3AD203B41FA5}">
                          <a16:colId xmlns:a16="http://schemas.microsoft.com/office/drawing/2014/main" val="16350796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Case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𝝆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𝝆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𝑼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76041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1,510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1.5 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277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2,895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7.0 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48660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5.44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4,310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1.7 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54186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84C2DCD7-BACB-6D9A-E31A-CC03B68E04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0112793"/>
                  </p:ext>
                </p:extLst>
              </p:nvPr>
            </p:nvGraphicFramePr>
            <p:xfrm>
              <a:off x="3622675" y="1891343"/>
              <a:ext cx="4892294" cy="15043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3418">
                      <a:extLst>
                        <a:ext uri="{9D8B030D-6E8A-4147-A177-3AD203B41FA5}">
                          <a16:colId xmlns:a16="http://schemas.microsoft.com/office/drawing/2014/main" val="4155891454"/>
                        </a:ext>
                      </a:extLst>
                    </a:gridCol>
                    <a:gridCol w="536829">
                      <a:extLst>
                        <a:ext uri="{9D8B030D-6E8A-4147-A177-3AD203B41FA5}">
                          <a16:colId xmlns:a16="http://schemas.microsoft.com/office/drawing/2014/main" val="4058542060"/>
                        </a:ext>
                      </a:extLst>
                    </a:gridCol>
                    <a:gridCol w="865378">
                      <a:extLst>
                        <a:ext uri="{9D8B030D-6E8A-4147-A177-3AD203B41FA5}">
                          <a16:colId xmlns:a16="http://schemas.microsoft.com/office/drawing/2014/main" val="1272393537"/>
                        </a:ext>
                      </a:extLst>
                    </a:gridCol>
                    <a:gridCol w="1371790">
                      <a:extLst>
                        <a:ext uri="{9D8B030D-6E8A-4147-A177-3AD203B41FA5}">
                          <a16:colId xmlns:a16="http://schemas.microsoft.com/office/drawing/2014/main" val="2847787052"/>
                        </a:ext>
                      </a:extLst>
                    </a:gridCol>
                    <a:gridCol w="1444879">
                      <a:extLst>
                        <a:ext uri="{9D8B030D-6E8A-4147-A177-3AD203B41FA5}">
                          <a16:colId xmlns:a16="http://schemas.microsoft.com/office/drawing/2014/main" val="1635079663"/>
                        </a:ext>
                      </a:extLst>
                    </a:gridCol>
                  </a:tblGrid>
                  <a:tr h="39179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Case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27273" t="-7692" r="-690909" b="-3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0845" t="-7692" r="-328169" b="-3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52000" t="-7692" r="-107111" b="-3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39241" t="-7692" r="-1688" b="-30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76041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1,510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39241" t="-114754" r="-1688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277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2,895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39241" t="-214754" r="-1688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8660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5.44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4,310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39241" t="-314754" r="-1688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541869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3547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7787-9B91-A957-1805-297041C19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D78255D-A0BF-F73D-1271-0612CA70821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Computational Setup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6E86D83-5974-E43F-9467-219C10299EE9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5442516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All simulations are performed in cylindrical coordinates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(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𝑥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,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𝑟</m:t>
                    </m:r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under an axisymmetric assumption.</a:t>
                </a: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Boundary conditions:</a:t>
                </a: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 bottom boundary is an axis of symmetry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All other boundaries are non-reflecting boundaries</a:t>
                </a: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Initial conditions: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Shocked air set by Rankine-</a:t>
                </a:r>
                <a:r>
                  <a:rPr lang="en-US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Hugoniot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jump conditions into quiescent, ambient air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6E86D83-5974-E43F-9467-219C10299E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5442516"/>
              </a:xfrm>
              <a:prstGeom prst="rect">
                <a:avLst/>
              </a:prstGeom>
              <a:blipFill>
                <a:blip r:embed="rId3"/>
                <a:stretch>
                  <a:fillRect l="-519" b="-1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C5882DF1-4381-CCDD-2C7D-38D04A2546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6726C12-F731-337B-081B-F33F29D04F67}"/>
              </a:ext>
            </a:extLst>
          </p:cNvPr>
          <p:cNvGrpSpPr/>
          <p:nvPr/>
        </p:nvGrpSpPr>
        <p:grpSpPr>
          <a:xfrm>
            <a:off x="1949259" y="1672665"/>
            <a:ext cx="8239125" cy="2824579"/>
            <a:chOff x="1949259" y="1672665"/>
            <a:chExt cx="8239125" cy="282457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DAB875E-022E-73E8-0447-7299122E4A32}"/>
                </a:ext>
              </a:extLst>
            </p:cNvPr>
            <p:cNvGrpSpPr/>
            <p:nvPr/>
          </p:nvGrpSpPr>
          <p:grpSpPr>
            <a:xfrm>
              <a:off x="1949259" y="1672665"/>
              <a:ext cx="8239125" cy="2824579"/>
              <a:chOff x="1949259" y="1672665"/>
              <a:chExt cx="8239125" cy="2824579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D03CFFA3-2765-70B3-D05C-F0374D6DF7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49259" y="1672665"/>
                <a:ext cx="8239125" cy="2486025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56118E-BDB4-3EEA-0EF9-38F007446D0F}"/>
                  </a:ext>
                </a:extLst>
              </p:cNvPr>
              <p:cNvSpPr txBox="1"/>
              <p:nvPr/>
            </p:nvSpPr>
            <p:spPr>
              <a:xfrm>
                <a:off x="1949259" y="4158690"/>
                <a:ext cx="823912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Figure: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Computational domain, normalized by droplet diameter, </a:t>
                </a:r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D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.</a:t>
                </a:r>
                <a:endParaRPr lang="en-US" sz="1600" i="1" dirty="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409384A-5C2E-E645-FF44-E4AB3230DFD6}"/>
                </a:ext>
              </a:extLst>
            </p:cNvPr>
            <p:cNvGrpSpPr/>
            <p:nvPr/>
          </p:nvGrpSpPr>
          <p:grpSpPr>
            <a:xfrm>
              <a:off x="2470209" y="3113999"/>
              <a:ext cx="434917" cy="614971"/>
              <a:chOff x="2470209" y="3113999"/>
              <a:chExt cx="434917" cy="614971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2EA1DEDC-49B4-BA96-4124-9FC2ECA12E52}"/>
                  </a:ext>
                </a:extLst>
              </p:cNvPr>
              <p:cNvGrpSpPr/>
              <p:nvPr/>
            </p:nvGrpSpPr>
            <p:grpSpPr>
              <a:xfrm>
                <a:off x="2479733" y="3299619"/>
                <a:ext cx="346017" cy="367795"/>
                <a:chOff x="282633" y="3233651"/>
                <a:chExt cx="474605" cy="465513"/>
              </a:xfrm>
            </p:grpSpPr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56AFD29E-9840-7763-D1A6-CB409589EA51}"/>
                    </a:ext>
                  </a:extLst>
                </p:cNvPr>
                <p:cNvCxnSpPr/>
                <p:nvPr/>
              </p:nvCxnSpPr>
              <p:spPr>
                <a:xfrm flipV="1">
                  <a:off x="282633" y="3233651"/>
                  <a:ext cx="0" cy="46551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CA72C05E-8A94-632C-451A-F578A4EAE6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2633" y="3699164"/>
                  <a:ext cx="47460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171FCAD3-C5A3-69B5-1140-C52D7D085AFC}"/>
                      </a:ext>
                    </a:extLst>
                  </p:cNvPr>
                  <p:cNvSpPr txBox="1"/>
                  <p:nvPr/>
                </p:nvSpPr>
                <p:spPr>
                  <a:xfrm>
                    <a:off x="2746376" y="3421193"/>
                    <a:ext cx="158750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171FCAD3-C5A3-69B5-1140-C52D7D085A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46376" y="3421193"/>
                    <a:ext cx="158750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346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AEA259FE-5923-F23F-EC28-6C6A7B108EC8}"/>
                      </a:ext>
                    </a:extLst>
                  </p:cNvPr>
                  <p:cNvSpPr txBox="1"/>
                  <p:nvPr/>
                </p:nvSpPr>
                <p:spPr>
                  <a:xfrm>
                    <a:off x="2470209" y="3113999"/>
                    <a:ext cx="158750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AEA259FE-5923-F23F-EC28-6C6A7B108E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70209" y="3113999"/>
                    <a:ext cx="158750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346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4534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AB0B0-7D01-EB18-56FF-4DAB6B8C6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54C7CE9-EE72-F3D4-F890-A6A761ABFF9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The Numerical Model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960279-7DA6-569E-AEF7-197E88A728F6}"/>
              </a:ext>
            </a:extLst>
          </p:cNvPr>
          <p:cNvSpPr/>
          <p:nvPr/>
        </p:nvSpPr>
        <p:spPr>
          <a:xfrm>
            <a:off x="783845" y="1088998"/>
            <a:ext cx="10569955" cy="17030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The present simulations are performed in the Multi-Component Flow Code (MFC)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Open-source, high-order, compressible multiphase solver, highly parallel</a:t>
            </a:r>
          </a:p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Resolved Eulerian phase interface: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Reduced five-equation diffuse-interface formulation of Allaire et al. 2002.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B187034-CB86-B3B3-660E-C16F7DB2AC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0DAE65-F17B-D03D-26CB-8DC4F0C76CB9}"/>
                  </a:ext>
                </a:extLst>
              </p:cNvPr>
              <p:cNvSpPr txBox="1"/>
              <p:nvPr/>
            </p:nvSpPr>
            <p:spPr>
              <a:xfrm>
                <a:off x="0" y="2942095"/>
                <a:ext cx="6096000" cy="32564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)</m:t>
                          </m:r>
                        </m:num>
                        <m:den>
                          <m: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∇</m:t>
                      </m:r>
                      <m:r>
                        <a:rPr lang="en-US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∙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𝒖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=0,  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𝑖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=1, 2, …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𝑁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𝜌</m:t>
                          </m:r>
                          <m:r>
                            <a:rPr lang="en-US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𝒖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)</m:t>
                          </m:r>
                        </m:num>
                        <m:den>
                          <m: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∇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∙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𝜌</m:t>
                          </m:r>
                          <m:r>
                            <a:rPr lang="en-US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𝒖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⊗</m:t>
                          </m:r>
                          <m:r>
                            <a:rPr lang="en-US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𝒖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𝑝</m:t>
                          </m:r>
                          <m:r>
                            <a:rPr lang="en-US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𝑰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𝜌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𝐸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)</m:t>
                          </m:r>
                        </m:num>
                        <m:den>
                          <m: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∇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𝜌</m:t>
                              </m:r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𝐸</m:t>
                              </m:r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+</m:t>
                              </m:r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𝑝</m:t>
                              </m:r>
                            </m:e>
                          </m:d>
                          <m:r>
                            <a:rPr lang="en-US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𝒖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𝑢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∇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𝐾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∇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∙</m:t>
                      </m:r>
                      <m:r>
                        <a:rPr lang="en-US" b="1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𝒖</m:t>
                      </m:r>
                    </m:oMath>
                  </m:oMathPara>
                </a14:m>
                <a:endPara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0DAE65-F17B-D03D-26CB-8DC4F0C76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942095"/>
                <a:ext cx="6096000" cy="32564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62CAE107-7BB4-A71A-1851-27F84F198D86}"/>
              </a:ext>
            </a:extLst>
          </p:cNvPr>
          <p:cNvGrpSpPr/>
          <p:nvPr/>
        </p:nvGrpSpPr>
        <p:grpSpPr>
          <a:xfrm>
            <a:off x="6068822" y="3235742"/>
            <a:ext cx="4801271" cy="2669173"/>
            <a:chOff x="6095999" y="3773092"/>
            <a:chExt cx="4801271" cy="266917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57FF80A-9F61-79AE-0A25-B05BA9ED2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3773092"/>
              <a:ext cx="4801270" cy="2057687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5EB61DE-6A94-D2E8-D8EE-74455AEDA1A3}"/>
                </a:ext>
              </a:extLst>
            </p:cNvPr>
            <p:cNvSpPr txBox="1"/>
            <p:nvPr/>
          </p:nvSpPr>
          <p:spPr>
            <a:xfrm>
              <a:off x="6095999" y="5857490"/>
              <a:ext cx="480126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Figure: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 Sharp and diffuse interface of a multiphase flow (Adebayo 2025).</a:t>
              </a:r>
              <a:endParaRPr lang="en-US" sz="16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432827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19169-E747-FA8B-56B5-13C71CA1F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4B5D15D-8921-CFE0-4935-AC0ADA6D3C6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The Numerical Model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5659820-FD3B-1444-979C-9968DD891332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5045292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Each material is closed with a stiffened-gas equation of state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−1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∞,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The material properties are listed below:</a:t>
                </a: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Viscous stresses and surface tension are neglected in the resolved Eulerian equations.</a:t>
                </a: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5659820-FD3B-1444-979C-9968DD8913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5045292"/>
              </a:xfrm>
              <a:prstGeom prst="rect">
                <a:avLst/>
              </a:prstGeom>
              <a:blipFill>
                <a:blip r:embed="rId3"/>
                <a:stretch>
                  <a:fillRect l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3938168D-408A-2B51-543F-7BE01CDBB5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5A73C15-19BF-0F20-091C-1ED2455C8F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3774351"/>
                  </p:ext>
                </p:extLst>
              </p:nvPr>
            </p:nvGraphicFramePr>
            <p:xfrm>
              <a:off x="2004822" y="2960370"/>
              <a:ext cx="8127999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2289756603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075794276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0922219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Quantity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Air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Liquid water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32597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Density,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1.17 kg m</a:t>
                          </a:r>
                          <a:r>
                            <a:rPr lang="en-US" baseline="30000" dirty="0"/>
                            <a:t>-3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1000 kg m</a:t>
                          </a:r>
                          <a:r>
                            <a:rPr lang="en-US" baseline="30000" dirty="0"/>
                            <a:t>-3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1558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Ratio of specific heats,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1846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Stiffened pressure,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600 MPa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3840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5A73C15-19BF-0F20-091C-1ED2455C8F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3774351"/>
                  </p:ext>
                </p:extLst>
              </p:nvPr>
            </p:nvGraphicFramePr>
            <p:xfrm>
              <a:off x="2004822" y="2960370"/>
              <a:ext cx="8127999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2289756603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075794276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0922219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Quantity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Air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Liquid water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32597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25" t="-108197" r="-20089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1.17 kg m</a:t>
                          </a:r>
                          <a:r>
                            <a:rPr lang="en-US" baseline="30000" dirty="0"/>
                            <a:t>-3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1000 kg m</a:t>
                          </a:r>
                          <a:r>
                            <a:rPr lang="en-US" baseline="30000" dirty="0"/>
                            <a:t>-3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1558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25" t="-208197" r="-20089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1846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25" t="-308197" r="-20089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600 MPa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38407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CBD79C2-9B48-13E9-A9C7-B4BD4640E817}"/>
              </a:ext>
            </a:extLst>
          </p:cNvPr>
          <p:cNvSpPr txBox="1"/>
          <p:nvPr/>
        </p:nvSpPr>
        <p:spPr>
          <a:xfrm>
            <a:off x="1768529" y="4553646"/>
            <a:ext cx="86005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Table: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Equation-of-state and material parameters used in the shock-droplet simulations.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2126366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420A9-2C64-AC67-EBF8-791228325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45738A7-70F6-485F-2E45-8C2BC00B98A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Numerical Methods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DEDE20-E9C0-D39F-33FC-C7288A87E8B0}"/>
              </a:ext>
            </a:extLst>
          </p:cNvPr>
          <p:cNvSpPr/>
          <p:nvPr/>
        </p:nvSpPr>
        <p:spPr>
          <a:xfrm>
            <a:off x="783845" y="1088998"/>
            <a:ext cx="10569955" cy="378052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The Eulerian equations are discretized on a structured grid using a finite-volume formulation.</a:t>
            </a: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A constant CFL value of 0.1 is used in all simulations.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264CD09-6A1C-7C99-B8A4-D9BF37D71A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46F7787-8AB2-817B-F349-3E5EC94F0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746463"/>
              </p:ext>
            </p:extLst>
          </p:nvPr>
        </p:nvGraphicFramePr>
        <p:xfrm>
          <a:off x="2032000" y="1629295"/>
          <a:ext cx="812800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5056374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036513"/>
                    </a:ext>
                  </a:extLst>
                </a:gridCol>
              </a:tblGrid>
              <a:tr h="349645">
                <a:tc>
                  <a:txBody>
                    <a:bodyPr/>
                    <a:lstStyle/>
                    <a:p>
                      <a:r>
                        <a:rPr lang="en-US" dirty="0"/>
                        <a:t>Numerical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131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Face reconstruction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order MUSCL + van Leer limiter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261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Interface 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THINC interface sharpening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022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Riemann Solver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HLLC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541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Time-integration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SSP-RK3 (TVD)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3762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DB38E5A-79B3-9461-95EC-7BB1EDEB5D0B}"/>
              </a:ext>
            </a:extLst>
          </p:cNvPr>
          <p:cNvSpPr txBox="1"/>
          <p:nvPr/>
        </p:nvSpPr>
        <p:spPr>
          <a:xfrm>
            <a:off x="2032000" y="3637054"/>
            <a:ext cx="8128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Table 3.2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Summary of numerical methods used for the Eulerian flow solver and sub-grid bubble dynamics.</a:t>
            </a:r>
            <a:endParaRPr lang="en-US" sz="1600" i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553CF8F-A395-11A4-C4AC-F47EA9D8A79F}"/>
              </a:ext>
            </a:extLst>
          </p:cNvPr>
          <p:cNvGrpSpPr/>
          <p:nvPr/>
        </p:nvGrpSpPr>
        <p:grpSpPr>
          <a:xfrm>
            <a:off x="665992" y="5019587"/>
            <a:ext cx="10204099" cy="1495634"/>
            <a:chOff x="665992" y="5019587"/>
            <a:chExt cx="10204099" cy="149563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429D18B-60DD-2C50-B52B-CAFA513139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992" y="5019587"/>
              <a:ext cx="5430008" cy="149563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FA5234F-2C5F-E579-A02D-01D027265097}"/>
                </a:ext>
              </a:extLst>
            </p:cNvPr>
            <p:cNvSpPr txBox="1"/>
            <p:nvPr/>
          </p:nvSpPr>
          <p:spPr>
            <a:xfrm>
              <a:off x="6068822" y="5027582"/>
              <a:ext cx="4801269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Figure: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 Numerical results for a planar Mach onto a gas bubble. With THINC (left) and without THINC (right) are both shown (</a:t>
              </a:r>
              <a:r>
                <a:rPr lang="en-US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Shyue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-Xiao 2014).</a:t>
              </a:r>
              <a:endParaRPr lang="en-US" sz="16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183053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42AC7-A43F-31DF-4DFE-DD02E9428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03C2A3D-624B-1C48-31BD-53823CCC868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Benchmarking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3DAB6D3-38C6-FAFF-0D99-7517B51DD7D1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3365024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Benchmarking Against Shock-Water Column Experiments:</a:t>
                </a: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Sembian 2016 studies the interaction of a planar shock (Mach = 1.75 and 2.4) onto a droplet column of diameter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=22 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𝑚𝑚</m:t>
                    </m:r>
                  </m:oMath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Large droplet allows for the observation of key internal acoustics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Numerical schlieren is compared directly to the experimental shadowgraph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Comparison of transmitted shocks, reflected waves, expansion regions, slip surfaces, and triple-point/Mach-stem structures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Excellent agreement is observed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3DAB6D3-38C6-FAFF-0D99-7517B51DD7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3365024"/>
              </a:xfrm>
              <a:prstGeom prst="rect">
                <a:avLst/>
              </a:prstGeom>
              <a:blipFill>
                <a:blip r:embed="rId3"/>
                <a:stretch>
                  <a:fillRect l="-519" b="-1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2B4FA39C-A778-C755-44D5-DD1413965E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11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35B2E41-C82D-FB9A-FF00-90BCCBCA9612}"/>
              </a:ext>
            </a:extLst>
          </p:cNvPr>
          <p:cNvGrpSpPr/>
          <p:nvPr/>
        </p:nvGrpSpPr>
        <p:grpSpPr>
          <a:xfrm>
            <a:off x="5612780" y="3681761"/>
            <a:ext cx="5244244" cy="2634399"/>
            <a:chOff x="5612780" y="3681761"/>
            <a:chExt cx="5244244" cy="263439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EC28ACC-85C2-BBE4-5D7D-9B8FED1A5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12780" y="3681761"/>
              <a:ext cx="5244244" cy="22958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BAC631D-5676-CB02-A4B7-FF32D52E10C0}"/>
                </a:ext>
              </a:extLst>
            </p:cNvPr>
            <p:cNvSpPr txBox="1"/>
            <p:nvPr/>
          </p:nvSpPr>
          <p:spPr>
            <a:xfrm>
              <a:off x="5612780" y="5977606"/>
              <a:ext cx="524424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Figure: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 22mm water column of Sembian 2016.</a:t>
              </a:r>
              <a:endParaRPr lang="en-US" sz="16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13079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31408-696A-7903-796E-DC587D729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B197747-AC98-0248-0C76-AAA5203A99D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Validation / Benchmarking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9A3956-E082-4F6A-6F5D-68E49E85CFDF}"/>
              </a:ext>
            </a:extLst>
          </p:cNvPr>
          <p:cNvSpPr/>
          <p:nvPr/>
        </p:nvSpPr>
        <p:spPr>
          <a:xfrm>
            <a:off x="783845" y="938931"/>
            <a:ext cx="10569955" cy="45653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Benchmarking Against Shock-Water Column Experiments: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Open Sans"/>
              <a:cs typeface="Arial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1AA23279-0384-BA96-7646-D9E69D40E2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12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2A36154-92B9-23B2-D092-A4C134F43FFD}"/>
              </a:ext>
            </a:extLst>
          </p:cNvPr>
          <p:cNvGrpSpPr/>
          <p:nvPr/>
        </p:nvGrpSpPr>
        <p:grpSpPr>
          <a:xfrm>
            <a:off x="545826" y="1423038"/>
            <a:ext cx="11100348" cy="4496031"/>
            <a:chOff x="545827" y="1702926"/>
            <a:chExt cx="11100348" cy="449603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BC5DE11-2229-247B-2789-F912F63819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5827" y="1702926"/>
              <a:ext cx="5321573" cy="449603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D79234B-7843-47CA-2766-3B6BD9AF4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759" b="840"/>
            <a:stretch>
              <a:fillRect/>
            </a:stretch>
          </p:blipFill>
          <p:spPr>
            <a:xfrm>
              <a:off x="6324602" y="1702926"/>
              <a:ext cx="5321573" cy="4496031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EEFA281-133B-E97F-62B7-73578CED8FDE}"/>
              </a:ext>
            </a:extLst>
          </p:cNvPr>
          <p:cNvSpPr txBox="1"/>
          <p:nvPr/>
        </p:nvSpPr>
        <p:spPr>
          <a:xfrm>
            <a:off x="545826" y="6017796"/>
            <a:ext cx="102374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Figure: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Comparison between experimental shadowgraph images from the Mach 2.4 shock-water-column experiment of Sembian et al. and numerical schlieren fields from the MFC simulation.</a:t>
            </a:r>
            <a:endParaRPr lang="en-US" sz="16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8747BCF-6FAB-EA0E-C3D3-9CF24FC8A5D0}"/>
              </a:ext>
            </a:extLst>
          </p:cNvPr>
          <p:cNvGrpSpPr/>
          <p:nvPr/>
        </p:nvGrpSpPr>
        <p:grpSpPr>
          <a:xfrm>
            <a:off x="2390775" y="1967984"/>
            <a:ext cx="2600325" cy="369332"/>
            <a:chOff x="2390775" y="1967984"/>
            <a:chExt cx="2600325" cy="369332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A35B549-FC15-886C-2ACB-4FCF644586E4}"/>
                </a:ext>
              </a:extLst>
            </p:cNvPr>
            <p:cNvCxnSpPr/>
            <p:nvPr/>
          </p:nvCxnSpPr>
          <p:spPr>
            <a:xfrm>
              <a:off x="4429125" y="2152650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0DECC9C-822B-8F57-0175-ADA7C765BB64}"/>
                </a:ext>
              </a:extLst>
            </p:cNvPr>
            <p:cNvSpPr txBox="1"/>
            <p:nvPr/>
          </p:nvSpPr>
          <p:spPr>
            <a:xfrm>
              <a:off x="2390775" y="1967984"/>
              <a:ext cx="2114550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Transmitted shock</a:t>
              </a:r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211781B-7CD4-D6FA-9492-41379593CB2C}"/>
              </a:ext>
            </a:extLst>
          </p:cNvPr>
          <p:cNvGrpSpPr/>
          <p:nvPr/>
        </p:nvGrpSpPr>
        <p:grpSpPr>
          <a:xfrm>
            <a:off x="2673677" y="5191929"/>
            <a:ext cx="2222173" cy="369332"/>
            <a:chOff x="1828800" y="1967984"/>
            <a:chExt cx="2222173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35CBA4B-65B3-2C16-A1E5-5C2AF65887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8800" y="2157145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136EE11-E7AB-F637-744A-CDF0067D5C5D}"/>
                </a:ext>
              </a:extLst>
            </p:cNvPr>
            <p:cNvSpPr txBox="1"/>
            <p:nvPr/>
          </p:nvSpPr>
          <p:spPr>
            <a:xfrm>
              <a:off x="2390775" y="1967984"/>
              <a:ext cx="1660198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REx</a:t>
              </a:r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 Focusing</a:t>
              </a:r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6EA195C-8AB9-D9B8-E299-CC32970181DE}"/>
              </a:ext>
            </a:extLst>
          </p:cNvPr>
          <p:cNvGrpSpPr/>
          <p:nvPr/>
        </p:nvGrpSpPr>
        <p:grpSpPr>
          <a:xfrm>
            <a:off x="7905749" y="1918662"/>
            <a:ext cx="2885581" cy="369332"/>
            <a:chOff x="2105519" y="1967984"/>
            <a:chExt cx="2885581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908B95A-F709-C752-5BD8-302B2B8132CE}"/>
                </a:ext>
              </a:extLst>
            </p:cNvPr>
            <p:cNvCxnSpPr/>
            <p:nvPr/>
          </p:nvCxnSpPr>
          <p:spPr>
            <a:xfrm>
              <a:off x="4429125" y="2152650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6BF0E56-2B40-C9BD-F799-126C82493FBA}"/>
                </a:ext>
              </a:extLst>
            </p:cNvPr>
            <p:cNvSpPr txBox="1"/>
            <p:nvPr/>
          </p:nvSpPr>
          <p:spPr>
            <a:xfrm>
              <a:off x="2105519" y="1967984"/>
              <a:ext cx="2399806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Secondary Reflection</a:t>
              </a:r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BFA3CD5-3260-3C99-4B4E-FD6585EB38E0}"/>
              </a:ext>
            </a:extLst>
          </p:cNvPr>
          <p:cNvGrpSpPr/>
          <p:nvPr/>
        </p:nvGrpSpPr>
        <p:grpSpPr>
          <a:xfrm>
            <a:off x="8569157" y="4106079"/>
            <a:ext cx="2961781" cy="369332"/>
            <a:chOff x="1828800" y="1967984"/>
            <a:chExt cx="2961781" cy="369332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7BB067F-4BEC-03F4-8CA6-003946AC84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8800" y="2157145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8111AD7-4C87-ECE3-ECDE-40308A77BDEE}"/>
                </a:ext>
              </a:extLst>
            </p:cNvPr>
            <p:cNvSpPr txBox="1"/>
            <p:nvPr/>
          </p:nvSpPr>
          <p:spPr>
            <a:xfrm>
              <a:off x="2390775" y="1967984"/>
              <a:ext cx="2399806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Mach-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M</a:t>
              </a:r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ach collision</a:t>
              </a:r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28EAF78-0729-5FE6-802D-25787593F8E3}"/>
              </a:ext>
            </a:extLst>
          </p:cNvPr>
          <p:cNvGrpSpPr/>
          <p:nvPr/>
        </p:nvGrpSpPr>
        <p:grpSpPr>
          <a:xfrm>
            <a:off x="8610600" y="5102659"/>
            <a:ext cx="2743200" cy="369332"/>
            <a:chOff x="1828800" y="1967984"/>
            <a:chExt cx="2743200" cy="369332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6AF428F-4959-7C39-A1D9-83E00BC9F9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8800" y="2157145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C376390-B941-35AA-AFF9-F20F250F5C0A}"/>
                </a:ext>
              </a:extLst>
            </p:cNvPr>
            <p:cNvSpPr txBox="1"/>
            <p:nvPr/>
          </p:nvSpPr>
          <p:spPr>
            <a:xfrm>
              <a:off x="2390775" y="1967984"/>
              <a:ext cx="2181225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Re-circulation zone</a:t>
              </a:r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14DAF1D-F108-2363-DA0D-59C925A8D37E}"/>
              </a:ext>
            </a:extLst>
          </p:cNvPr>
          <p:cNvGrpSpPr/>
          <p:nvPr/>
        </p:nvGrpSpPr>
        <p:grpSpPr>
          <a:xfrm>
            <a:off x="2390775" y="4106079"/>
            <a:ext cx="2811548" cy="646331"/>
            <a:chOff x="2179552" y="1967984"/>
            <a:chExt cx="2811548" cy="646331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D52E509-24DC-C789-91A5-0B8FD46E05F7}"/>
                </a:ext>
              </a:extLst>
            </p:cNvPr>
            <p:cNvCxnSpPr/>
            <p:nvPr/>
          </p:nvCxnSpPr>
          <p:spPr>
            <a:xfrm>
              <a:off x="4429125" y="2152650"/>
              <a:ext cx="56197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54103EE-F010-1ED8-C3E8-4D5D4747C2C3}"/>
                </a:ext>
              </a:extLst>
            </p:cNvPr>
            <p:cNvSpPr txBox="1"/>
            <p:nvPr/>
          </p:nvSpPr>
          <p:spPr>
            <a:xfrm>
              <a:off x="2179552" y="1967984"/>
              <a:ext cx="2325773" cy="6463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Reflected expansion waves (</a:t>
              </a:r>
              <a:r>
                <a:rPr lang="en-US" sz="1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REx</a:t>
              </a:r>
              <a:r>
                <a:rPr 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rPr>
                <a:t>)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4017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3CDD2-AF03-A84F-F77D-83EC638A2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D2C0450-0060-4490-2E72-4D93C1FFBE5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Mesh Independence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F724C21-12B2-54A8-8895-898305FD3A9C}"/>
                  </a:ext>
                </a:extLst>
              </p:cNvPr>
              <p:cNvSpPr/>
              <p:nvPr/>
            </p:nvSpPr>
            <p:spPr>
              <a:xfrm>
                <a:off x="783846" y="1088998"/>
                <a:ext cx="10569954" cy="5067541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Performed on a clean droplet in our case of interest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Mach 7 is chosen for the study as it produces the largest pressure gradients within the droplet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 refinement factor of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~</m:t>
                    </m:r>
                    <m:rad>
                      <m:radPr>
                        <m:degHide m:val="on"/>
                        <m:ctrlPr>
                          <a:rPr lang="en-US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is used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Shock-arrival time, peak pressure, pressure decay, and area-averaged pressure response across mesh levels was compared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All meshes show close agreement, hence the medium mesh was chosen</a:t>
                </a:r>
              </a:p>
              <a:p>
                <a:pPr>
                  <a:lnSpc>
                    <a:spcPct val="150000"/>
                  </a:lnSpc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F724C21-12B2-54A8-8895-898305FD3A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6" y="1088998"/>
                <a:ext cx="10569954" cy="5067541"/>
              </a:xfrm>
              <a:prstGeom prst="rect">
                <a:avLst/>
              </a:prstGeom>
              <a:blipFill>
                <a:blip r:embed="rId3"/>
                <a:stretch>
                  <a:fillRect l="-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711FC903-57BF-1C1F-8D9D-E1D48085F9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24B53BE-0D03-3EE4-5BE4-8F42A5A2C1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7278327"/>
                  </p:ext>
                </p:extLst>
              </p:nvPr>
            </p:nvGraphicFramePr>
            <p:xfrm>
              <a:off x="3426237" y="2562956"/>
              <a:ext cx="5339525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1080">
                      <a:extLst>
                        <a:ext uri="{9D8B030D-6E8A-4147-A177-3AD203B41FA5}">
                          <a16:colId xmlns:a16="http://schemas.microsoft.com/office/drawing/2014/main" val="1961112945"/>
                        </a:ext>
                      </a:extLst>
                    </a:gridCol>
                    <a:gridCol w="1155954">
                      <a:extLst>
                        <a:ext uri="{9D8B030D-6E8A-4147-A177-3AD203B41FA5}">
                          <a16:colId xmlns:a16="http://schemas.microsoft.com/office/drawing/2014/main" val="3825452903"/>
                        </a:ext>
                      </a:extLst>
                    </a:gridCol>
                    <a:gridCol w="2148586">
                      <a:extLst>
                        <a:ext uri="{9D8B030D-6E8A-4147-A177-3AD203B41FA5}">
                          <a16:colId xmlns:a16="http://schemas.microsoft.com/office/drawing/2014/main" val="3728204819"/>
                        </a:ext>
                      </a:extLst>
                    </a:gridCol>
                    <a:gridCol w="1013905">
                      <a:extLst>
                        <a:ext uri="{9D8B030D-6E8A-4147-A177-3AD203B41FA5}">
                          <a16:colId xmlns:a16="http://schemas.microsoft.com/office/drawing/2014/main" val="24361729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Mesh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Cells /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Grid size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𝚫</m:t>
                                </m:r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0846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Coarse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6000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×1200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3.33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759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8000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×1600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2.50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5540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12000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×2400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1.67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4994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24B53BE-0D03-3EE4-5BE4-8F42A5A2C1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7278327"/>
                  </p:ext>
                </p:extLst>
              </p:nvPr>
            </p:nvGraphicFramePr>
            <p:xfrm>
              <a:off x="3426237" y="2562956"/>
              <a:ext cx="5339525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1080">
                      <a:extLst>
                        <a:ext uri="{9D8B030D-6E8A-4147-A177-3AD203B41FA5}">
                          <a16:colId xmlns:a16="http://schemas.microsoft.com/office/drawing/2014/main" val="1961112945"/>
                        </a:ext>
                      </a:extLst>
                    </a:gridCol>
                    <a:gridCol w="1155954">
                      <a:extLst>
                        <a:ext uri="{9D8B030D-6E8A-4147-A177-3AD203B41FA5}">
                          <a16:colId xmlns:a16="http://schemas.microsoft.com/office/drawing/2014/main" val="3825452903"/>
                        </a:ext>
                      </a:extLst>
                    </a:gridCol>
                    <a:gridCol w="2148586">
                      <a:extLst>
                        <a:ext uri="{9D8B030D-6E8A-4147-A177-3AD203B41FA5}">
                          <a16:colId xmlns:a16="http://schemas.microsoft.com/office/drawing/2014/main" val="3728204819"/>
                        </a:ext>
                      </a:extLst>
                    </a:gridCol>
                    <a:gridCol w="1013905">
                      <a:extLst>
                        <a:ext uri="{9D8B030D-6E8A-4147-A177-3AD203B41FA5}">
                          <a16:colId xmlns:a16="http://schemas.microsoft.com/office/drawing/2014/main" val="24361729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Mesh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9418" t="-8197" r="-27724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416" t="-8197" r="-48442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28313" t="-8197" r="-3012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0846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Coarse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416" t="-108197" r="-48442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28313" t="-108197" r="-3012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759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Medium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416" t="-208197" r="-4844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28313" t="-208197" r="-3012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540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416" t="-308197" r="-48442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28313" t="-308197" r="-3012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84994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DDFABA4-E7ED-9EE3-AAA6-27018AD46DA4}"/>
              </a:ext>
            </a:extLst>
          </p:cNvPr>
          <p:cNvSpPr txBox="1"/>
          <p:nvPr/>
        </p:nvSpPr>
        <p:spPr>
          <a:xfrm>
            <a:off x="2618057" y="4046316"/>
            <a:ext cx="6955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Table: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Mesh levels used in the shock-droplet mesh-independence study.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74568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43BB7-98D4-BAA8-EB1D-F24FE0D94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8CC9D18-D2E4-E82E-260F-7C265289C19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272564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Methodology: Mesh Independence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CC864CA-0DE2-6298-C902-97FD94352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63537" y="6402873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E1BB18-EB64-23C2-29C3-3A45B5F7A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50" y="795760"/>
            <a:ext cx="4274127" cy="303112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AB2D42-DF7F-48CF-7017-006EA1B3E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450" y="3826880"/>
            <a:ext cx="4274127" cy="30311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4662772-EFE3-C78F-097E-A3CBCBE7C7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1605" y="795760"/>
            <a:ext cx="4274127" cy="303112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1DD94CB-C923-E182-8956-F3A983D364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1605" y="3826880"/>
            <a:ext cx="4274127" cy="30311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9487B6D-1B3F-FB6D-258F-258186C904BB}"/>
                  </a:ext>
                </a:extLst>
              </p:cNvPr>
              <p:cNvSpPr txBox="1"/>
              <p:nvPr/>
            </p:nvSpPr>
            <p:spPr>
              <a:xfrm rot="16200000">
                <a:off x="4771198" y="2126653"/>
                <a:ext cx="11680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/4,0)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9487B6D-1B3F-FB6D-258F-258186C90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771198" y="2126653"/>
                <a:ext cx="1168090" cy="369332"/>
              </a:xfrm>
              <a:prstGeom prst="rect">
                <a:avLst/>
              </a:prstGeom>
              <a:blipFill>
                <a:blip r:embed="rId7"/>
                <a:stretch>
                  <a:fillRect r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D4F6FD3-5AE8-A958-FA22-3CDB0F7CBEA0}"/>
                  </a:ext>
                </a:extLst>
              </p:cNvPr>
              <p:cNvSpPr txBox="1"/>
              <p:nvPr/>
            </p:nvSpPr>
            <p:spPr>
              <a:xfrm rot="16200000">
                <a:off x="65857" y="5157773"/>
                <a:ext cx="12918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−(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/4,0)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D4F6FD3-5AE8-A958-FA22-3CDB0F7CB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5857" y="5157773"/>
                <a:ext cx="1291855" cy="369332"/>
              </a:xfrm>
              <a:prstGeom prst="rect">
                <a:avLst/>
              </a:prstGeom>
              <a:blipFill>
                <a:blip r:embed="rId8"/>
                <a:stretch>
                  <a:fillRect r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204F54A-B21A-1DFB-6373-622868FD2D5B}"/>
                  </a:ext>
                </a:extLst>
              </p:cNvPr>
              <p:cNvSpPr txBox="1"/>
              <p:nvPr/>
            </p:nvSpPr>
            <p:spPr>
              <a:xfrm rot="16200000">
                <a:off x="4772894" y="5157774"/>
                <a:ext cx="11680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(0,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/4)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204F54A-B21A-1DFB-6373-622868FD2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772894" y="5157774"/>
                <a:ext cx="1168090" cy="369332"/>
              </a:xfrm>
              <a:prstGeom prst="rect">
                <a:avLst/>
              </a:prstGeom>
              <a:blipFill>
                <a:blip r:embed="rId9"/>
                <a:stretch>
                  <a:fillRect r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1E00E94-3F52-CC97-3818-69963AF2C112}"/>
                  </a:ext>
                </a:extLst>
              </p:cNvPr>
              <p:cNvSpPr txBox="1"/>
              <p:nvPr/>
            </p:nvSpPr>
            <p:spPr>
              <a:xfrm rot="16200000">
                <a:off x="127739" y="2064770"/>
                <a:ext cx="11680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(0,0)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1E00E94-3F52-CC97-3818-69963AF2C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27739" y="2064770"/>
                <a:ext cx="1168090" cy="369332"/>
              </a:xfrm>
              <a:prstGeom prst="rect">
                <a:avLst/>
              </a:prstGeom>
              <a:blipFill>
                <a:blip r:embed="rId10"/>
                <a:stretch>
                  <a:fillRect r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B23CEC98-C755-ACDF-FDC0-5B795680EC80}"/>
              </a:ext>
            </a:extLst>
          </p:cNvPr>
          <p:cNvSpPr txBox="1"/>
          <p:nvPr/>
        </p:nvSpPr>
        <p:spPr>
          <a:xfrm rot="16200000">
            <a:off x="-1072398" y="3244333"/>
            <a:ext cx="2684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Nearest-cell pressures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F11A35-150C-3A90-0D46-87AF66A3286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7520" r="10798" b="46886"/>
          <a:stretch>
            <a:fillRect/>
          </a:stretch>
        </p:blipFill>
        <p:spPr>
          <a:xfrm>
            <a:off x="9930275" y="2895364"/>
            <a:ext cx="2176462" cy="120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524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D4120-F23E-E813-E012-831E81815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7B2E912-E3FB-2A6F-DAA0-D587D666D1F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282958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Results: Droplet Morphology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DDF3758C-78AF-10BE-64A7-4A57F3F02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73928B5-61F6-9B36-FC0B-1D3FFBCF2A8F}"/>
              </a:ext>
            </a:extLst>
          </p:cNvPr>
          <p:cNvGrpSpPr/>
          <p:nvPr/>
        </p:nvGrpSpPr>
        <p:grpSpPr>
          <a:xfrm>
            <a:off x="1229957" y="806154"/>
            <a:ext cx="9524329" cy="4068235"/>
            <a:chOff x="1333835" y="1076775"/>
            <a:chExt cx="9524329" cy="406823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EFA7500-E73E-5F85-6A76-3599C8BC3940}"/>
                </a:ext>
              </a:extLst>
            </p:cNvPr>
            <p:cNvGrpSpPr/>
            <p:nvPr/>
          </p:nvGrpSpPr>
          <p:grpSpPr>
            <a:xfrm>
              <a:off x="1532001" y="1076775"/>
              <a:ext cx="9127998" cy="3748356"/>
              <a:chOff x="212159" y="1009201"/>
              <a:chExt cx="9127998" cy="374835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6BFA6C31-F90F-0A59-2999-550A8CBBC9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19368" b="61259"/>
              <a:stretch>
                <a:fillRect/>
              </a:stretch>
            </p:blipFill>
            <p:spPr>
              <a:xfrm>
                <a:off x="212159" y="1009201"/>
                <a:ext cx="9127998" cy="1328557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6BF2CDFB-2842-A158-68B5-274CB0370E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49183" b="29435"/>
              <a:stretch>
                <a:fillRect/>
              </a:stretch>
            </p:blipFill>
            <p:spPr>
              <a:xfrm>
                <a:off x="212159" y="2181239"/>
                <a:ext cx="9127998" cy="1466401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80EE71A-64BA-5493-E3AB-F2970AF308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80627"/>
              <a:stretch>
                <a:fillRect/>
              </a:stretch>
            </p:blipFill>
            <p:spPr>
              <a:xfrm>
                <a:off x="212159" y="3429000"/>
                <a:ext cx="9127998" cy="1328557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52C7A6C-E95C-3F2F-7B7A-384A4C1835AE}"/>
                    </a:ext>
                  </a:extLst>
                </p:cNvPr>
                <p:cNvSpPr txBox="1"/>
                <p:nvPr/>
              </p:nvSpPr>
              <p:spPr>
                <a:xfrm>
                  <a:off x="1333835" y="4806456"/>
                  <a:ext cx="9524329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i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Figure:</a:t>
                  </a:r>
                  <a:r>
                    <a:rPr 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 Liquid volume fraction for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𝑀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𝑠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=3</m:t>
                      </m:r>
                    </m:oMath>
                  </a14:m>
                  <a:r>
                    <a:rPr 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 (top), 5 (middle), 7 (bottom) at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𝜏</m:t>
                      </m:r>
                      <m:r>
                        <a:rPr lang="en-US" sz="16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=0.25, 0.5, 0.75, </m:t>
                      </m:r>
                      <m:r>
                        <a:rPr lang="en-US" sz="16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𝑎𝑛𝑑</m:t>
                      </m:r>
                      <m:r>
                        <a:rPr lang="en-US" sz="16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 1.00</m:t>
                      </m:r>
                    </m:oMath>
                  </a14:m>
                  <a:r>
                    <a:rPr 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.</a:t>
                  </a:r>
                  <a:endParaRPr lang="en-US" sz="1600" i="1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52C7A6C-E95C-3F2F-7B7A-384A4C1835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3835" y="4806456"/>
                  <a:ext cx="9524329" cy="338554"/>
                </a:xfrm>
                <a:prstGeom prst="rect">
                  <a:avLst/>
                </a:prstGeom>
                <a:blipFill>
                  <a:blip r:embed="rId4"/>
                  <a:stretch>
                    <a:fillRect t="-7143" b="-196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0718F76-5AEF-79FA-31A7-0C701D5D43E4}"/>
                  </a:ext>
                </a:extLst>
              </p:cNvPr>
              <p:cNvSpPr txBox="1"/>
              <p:nvPr/>
            </p:nvSpPr>
            <p:spPr>
              <a:xfrm>
                <a:off x="260946" y="4996686"/>
                <a:ext cx="11462349" cy="17354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All quantities are presented in the dimensionless time,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is the Ranger-Nichols </a:t>
                </a:r>
                <a:r>
                  <a:rPr lang="en-US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aerobreakup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timescale:</a:t>
                </a: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𝜏</m:t>
                      </m:r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𝑎𝑟𝑟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, 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Open Sans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𝐷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𝑈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Open Sans"/>
                                  <a:cs typeface="Arial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𝑙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Open Sans"/>
                                      <a:cs typeface="Arial"/>
                                    </a:rPr>
                                    <m:t>𝑔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0718F76-5AEF-79FA-31A7-0C701D5D4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946" y="4996686"/>
                <a:ext cx="11462349" cy="1735411"/>
              </a:xfrm>
              <a:prstGeom prst="rect">
                <a:avLst/>
              </a:prstGeom>
              <a:blipFill>
                <a:blip r:embed="rId5"/>
                <a:stretch>
                  <a:fillRect l="-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0664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29AAE-DF78-3616-EA39-F2983B245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A45EB6E-42A0-B25D-24FB-C0E1B1614D0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Results: CFD-Informed Growth-Rate Maps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74F043C-073E-AAF6-9324-0E571241B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02CCA8-5C4D-346C-9B02-F5F792E30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408" y="928885"/>
            <a:ext cx="6641985" cy="59291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19FB868-BAB7-918C-8295-C1536D1CFF9A}"/>
                  </a:ext>
                </a:extLst>
              </p:cNvPr>
              <p:cNvSpPr/>
              <p:nvPr/>
            </p:nvSpPr>
            <p:spPr>
              <a:xfrm>
                <a:off x="6902393" y="1078631"/>
                <a:ext cx="5245157" cy="2949525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Growth rate increases monotonically toward smaller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𝜆</m:t>
                    </m:r>
                  </m:oMath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Unstable band broadens with increasing </a:t>
                </a:r>
                <a:r>
                  <a:rPr lang="en-US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Ms</a:t>
                </a: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RT dominates near stagnation, KH takes over toward the equator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Narrow re-stabilization bands appear at later times, as the droplet flattens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19FB868-BAB7-918C-8295-C1536D1CFF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2393" y="1078631"/>
                <a:ext cx="5245157" cy="2949525"/>
              </a:xfrm>
              <a:prstGeom prst="rect">
                <a:avLst/>
              </a:prstGeom>
              <a:blipFill>
                <a:blip r:embed="rId4"/>
                <a:stretch>
                  <a:fillRect l="-697" b="-2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73E474C-1054-5B0A-6E07-CE25C9C48D4D}"/>
                  </a:ext>
                </a:extLst>
              </p:cNvPr>
              <p:cNvSpPr txBox="1"/>
              <p:nvPr/>
            </p:nvSpPr>
            <p:spPr>
              <a:xfrm>
                <a:off x="7010371" y="5240760"/>
                <a:ext cx="5029200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Figure: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FJ growth rate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𝑅𝑒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𝑠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)∙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1600" i="1" dirty="0"/>
                  <a:t> 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as a function of polar angle and normalized wavelength. White solid: stability boundary Re(s) = 0. White dashed: RT-to-KH transition angle.</a:t>
                </a:r>
                <a:endParaRPr lang="en-US" sz="1600" i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73E474C-1054-5B0A-6E07-CE25C9C48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371" y="5240760"/>
                <a:ext cx="5029200" cy="1077218"/>
              </a:xfrm>
              <a:prstGeom prst="rect">
                <a:avLst/>
              </a:prstGeom>
              <a:blipFill>
                <a:blip r:embed="rId5"/>
                <a:stretch>
                  <a:fillRect t="-2273" r="-169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5130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9B495-48DA-A4D4-4286-9C9646164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95842E1-1969-954B-4042-D11102C043B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Results: RT to KH Transition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37163850-2A71-0B07-1769-878222F99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135237-B3FB-C702-93D9-08F200F9F658}"/>
              </a:ext>
            </a:extLst>
          </p:cNvPr>
          <p:cNvSpPr/>
          <p:nvPr/>
        </p:nvSpPr>
        <p:spPr>
          <a:xfrm>
            <a:off x="695566" y="5011874"/>
            <a:ext cx="10658234" cy="12875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At early times, KH shear dominates over most of the front face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As the droplet flattens over time, RT can dominate over more of the drop surface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KH appears to dominate at higher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Machs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(likely wrong)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05CCB62-D325-0109-553E-8C006B0FBD17}"/>
              </a:ext>
            </a:extLst>
          </p:cNvPr>
          <p:cNvGrpSpPr/>
          <p:nvPr/>
        </p:nvGrpSpPr>
        <p:grpSpPr>
          <a:xfrm>
            <a:off x="895847" y="1078631"/>
            <a:ext cx="10089755" cy="3889782"/>
            <a:chOff x="895847" y="1078631"/>
            <a:chExt cx="10089755" cy="38897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FF88B70-E3B5-E294-A9C4-9F70A464A232}"/>
                    </a:ext>
                  </a:extLst>
                </p:cNvPr>
                <p:cNvSpPr txBox="1"/>
                <p:nvPr/>
              </p:nvSpPr>
              <p:spPr>
                <a:xfrm>
                  <a:off x="895847" y="4629859"/>
                  <a:ext cx="10089753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i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Figure:</a:t>
                  </a:r>
                  <a:r>
                    <a:rPr 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  <a:ea typeface="Open Sans"/>
                      <a:cs typeface="Arial"/>
                    </a:rPr>
                    <a:t> Ratio of RT acceleration terms to KH shear term evaluated at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𝜅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Open Sans"/>
                              <a:cs typeface="Arial"/>
                            </a:rPr>
                            <m:t>∗</m:t>
                          </m:r>
                        </m:sup>
                      </m:sSup>
                    </m:oMath>
                  </a14:m>
                  <a:r>
                    <a:rPr lang="en-US" sz="1600" i="1" dirty="0"/>
                    <a:t>.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FF88B70-E3B5-E294-A9C4-9F70A464A2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5847" y="4629859"/>
                  <a:ext cx="10089753" cy="338554"/>
                </a:xfrm>
                <a:prstGeom prst="rect">
                  <a:avLst/>
                </a:prstGeom>
                <a:blipFill>
                  <a:blip r:embed="rId3"/>
                  <a:stretch>
                    <a:fillRect t="-7143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0911C3D-65FD-E796-4CB4-638E4CFBD7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5848" y="1078631"/>
              <a:ext cx="10089754" cy="35512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6424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55294-AECC-C083-9A17-90B8EB25E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972599-FA90-F727-EB65-4BCFD11E248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Results: Most-Amplified Wavelength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21D3B23B-C95F-6490-C0B8-100C2FE37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03B42BF-9FE8-B3FF-AC72-CF8F4B4B3552}"/>
                  </a:ext>
                </a:extLst>
              </p:cNvPr>
              <p:cNvSpPr/>
              <p:nvPr/>
            </p:nvSpPr>
            <p:spPr>
              <a:xfrm>
                <a:off x="695566" y="5084163"/>
                <a:ext cx="10658234" cy="1703030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Across all wavelengths, the predicted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𝜆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Open Sans"/>
                        <a:cs typeface="Arial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is very small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Increasing Mach number shifts even smaller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Linear theory identifies where growth is strong, but it does not predict the observed dominant breakup wavelength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03B42BF-9FE8-B3FF-AC72-CF8F4B4B35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66" y="5084163"/>
                <a:ext cx="10658234" cy="1703030"/>
              </a:xfrm>
              <a:prstGeom prst="rect">
                <a:avLst/>
              </a:prstGeom>
              <a:blipFill>
                <a:blip r:embed="rId3"/>
                <a:stretch>
                  <a:fillRect l="-343" b="-5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4D90A5F-6522-56F4-94E5-AB6EB7A26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0602" y="974092"/>
            <a:ext cx="8730796" cy="38057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AD536C-C9A2-0CEF-4D16-0D38D06E034B}"/>
                  </a:ext>
                </a:extLst>
              </p:cNvPr>
              <p:cNvSpPr txBox="1"/>
              <p:nvPr/>
            </p:nvSpPr>
            <p:spPr>
              <a:xfrm>
                <a:off x="1051123" y="4779824"/>
                <a:ext cx="10089753" cy="3518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Figure:</a:t>
                </a: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Most amplified wavelength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𝜆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600" i="1" dirty="0"/>
                  <a:t> from the FJ dispersion relation.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AD536C-C9A2-0CEF-4D16-0D38D06E0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123" y="4779824"/>
                <a:ext cx="10089753" cy="351891"/>
              </a:xfrm>
              <a:prstGeom prst="rect">
                <a:avLst/>
              </a:prstGeom>
              <a:blipFill>
                <a:blip r:embed="rId5"/>
                <a:stretch>
                  <a:fillRect t="-6897"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8705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76F92-0FD8-B108-5F56-03AC83A87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8A13EC7-9E73-FEA3-5DC1-3CB7D341903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Discussion: Role of Surface Tension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376CB7FA-8F04-5B45-9B80-FA286979FC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BE4FE07-E262-8340-BC14-9BBFD105B2FB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4A75A7-F821-EBA2-8521-81C112F4D3E6}"/>
              </a:ext>
            </a:extLst>
          </p:cNvPr>
          <p:cNvSpPr/>
          <p:nvPr/>
        </p:nvSpPr>
        <p:spPr>
          <a:xfrm>
            <a:off x="783845" y="1088998"/>
            <a:ext cx="10569955" cy="336502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At large observed structures, surface tension is weak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At small linear instabilities, surface tension strongly damps high-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k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modes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Although viscosity and surface tension are negligible at the observed wavelength, they may be needed to create the finite linear peak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Without surface tension, the simulation has no physical high-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k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 cutoff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Re(s) increases toward smaller wavelengths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No physical most-amplified wavelength can emerge from the CFD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Finite surface textures likely tied to grid effects</a:t>
            </a:r>
          </a:p>
        </p:txBody>
      </p:sp>
    </p:spTree>
    <p:extLst>
      <p:ext uri="{BB962C8B-B14F-4D97-AF65-F5344CB8AC3E}">
        <p14:creationId xmlns:p14="http://schemas.microsoft.com/office/powerpoint/2010/main" val="145125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9BF7F-C412-2332-4A2F-CEE207C06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5CD97EA-1165-608E-7B92-47AEA21B1EF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Summary of Findings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1130EA1-F6A7-5317-2036-5C37F5319492}"/>
                  </a:ext>
                </a:extLst>
              </p:cNvPr>
              <p:cNvSpPr/>
              <p:nvPr/>
            </p:nvSpPr>
            <p:spPr>
              <a:xfrm>
                <a:off x="783845" y="1088998"/>
                <a:ext cx="10569955" cy="3365024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CFD-informed base states produce useful RT/KH growth maps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RTI is favored near the windward face; KHI becomes important toward the rim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Increasing </a:t>
                </a:r>
                <a:r>
                  <a:rPr lang="en-US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Ms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 broadens unstable wavelength bands and accelerates deformation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CFD inputs add spatial/time detail, but do not fix wavelength prediction</a:t>
                </a: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Conclusion</a:t>
                </a: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Linear theory predicts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𝜆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Open Sans"/>
                            <a:cs typeface="Arial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~10−100 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𝜇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𝑚</m:t>
                    </m:r>
                  </m:oMath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Observed structures are much larger: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~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500−1000 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𝜇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𝑚</m:t>
                    </m:r>
                  </m:oMath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Open Sans"/>
                  <a:cs typeface="Arial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Open Sans"/>
                    <a:cs typeface="Arial"/>
                  </a:rPr>
                  <a:t>Visible wavelength selection is likely finite-time, nonlinear, and initial-condition sensitive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1130EA1-F6A7-5317-2036-5C37F53194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5" y="1088998"/>
                <a:ext cx="10569955" cy="3365024"/>
              </a:xfrm>
              <a:prstGeom prst="rect">
                <a:avLst/>
              </a:prstGeom>
              <a:blipFill>
                <a:blip r:embed="rId3"/>
                <a:stretch>
                  <a:fillRect l="-519" b="-1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E1EB79-4AA7-10F3-AEFE-4739D20DBC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E4FE07-E262-8340-BC14-9BBFD105B2FB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26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86711-29F9-8BE2-8922-984F4C4A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04FE89F-EF3E-5A52-1343-A919612C7BE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3845" y="415735"/>
            <a:ext cx="8811491" cy="5231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3590925" algn="l"/>
              </a:tabLst>
              <a:defRPr/>
            </a:pPr>
            <a:r>
              <a:rPr lang="en-US" sz="2800" b="1" dirty="0">
                <a:solidFill>
                  <a:srgbClr val="00509A"/>
                </a:solidFill>
                <a:latin typeface="Arial"/>
                <a:ea typeface="Roboto"/>
                <a:cs typeface="Arial"/>
              </a:rPr>
              <a:t>Future Work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509A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591270-F15F-63CA-2C6B-18DD0F5E4336}"/>
              </a:ext>
            </a:extLst>
          </p:cNvPr>
          <p:cNvSpPr/>
          <p:nvPr/>
        </p:nvSpPr>
        <p:spPr>
          <a:xfrm>
            <a:off x="783845" y="1088998"/>
            <a:ext cx="10569955" cy="253402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Run 3D simulations with physical surface tension (and viscosity)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Prescribe controlled single-mode perturbations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Measure transition time and nonlinear growth rate directly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Compare to experimental images more closely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Test mesh effects (resolution, cylindrical vs. Cartesian)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Open Sans"/>
                <a:cs typeface="Arial"/>
              </a:rPr>
              <a:t>Sharp vs. diffuse interface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77C8E7-7AD8-2269-1354-4FBD69290B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E4FE07-E262-8340-BC14-9BBFD105B2FB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281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l">
          <a:lnSpc>
            <a:spcPct val="150000"/>
          </a:lnSpc>
          <a:defRPr sz="1600" b="1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ea typeface="Open Sans" panose="020B0606030504020204" pitchFamily="34" charset="0"/>
            <a:cs typeface="Arial" panose="020B0604020202020204" pitchFamily="34" charset="0"/>
          </a:defRPr>
        </a:defPPr>
      </a:lstStyle>
    </a:spDef>
    <a:txDef>
      <a:spPr/>
      <a:bodyPr lIns="91416" tIns="45708" rIns="91416" bIns="45708" anchor="t"/>
      <a:lstStyle>
        <a:defPPr algn="l" fontAlgn="auto">
          <a:spcAft>
            <a:spcPts val="0"/>
          </a:spcAft>
          <a:tabLst>
            <a:tab pos="3590925" algn="l"/>
          </a:tabLst>
          <a:defRPr sz="900" b="1" spc="600" dirty="0" smtClean="0">
            <a:solidFill>
              <a:schemeClr val="bg1">
                <a:lumMod val="65000"/>
              </a:schemeClr>
            </a:solidFill>
            <a:latin typeface="Arial" panose="020B0604020202020204" pitchFamily="34" charset="0"/>
            <a:ea typeface="Roboto" panose="02000000000000000000" pitchFamily="2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l">
          <a:lnSpc>
            <a:spcPct val="150000"/>
          </a:lnSpc>
          <a:defRPr sz="1600" b="1" dirty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ea typeface="Open Sans" panose="020B0606030504020204" pitchFamily="34" charset="0"/>
            <a:cs typeface="Arial" panose="020B0604020202020204" pitchFamily="34" charset="0"/>
          </a:defRPr>
        </a:defPPr>
      </a:lstStyle>
    </a:spDef>
    <a:txDef>
      <a:spPr/>
      <a:bodyPr lIns="91416" tIns="45708" rIns="91416" bIns="45708" anchor="t"/>
      <a:lstStyle>
        <a:defPPr algn="l" fontAlgn="auto">
          <a:spcAft>
            <a:spcPts val="0"/>
          </a:spcAft>
          <a:tabLst>
            <a:tab pos="3590925" algn="l"/>
          </a:tabLst>
          <a:defRPr sz="900" b="1" spc="600" dirty="0" smtClean="0">
            <a:solidFill>
              <a:schemeClr val="bg1">
                <a:lumMod val="65000"/>
              </a:schemeClr>
            </a:solidFill>
            <a:latin typeface="Arial" panose="020B0604020202020204" pitchFamily="34" charset="0"/>
            <a:ea typeface="Roboto" panose="02000000000000000000" pitchFamily="2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887839EBA1FC42855A778CF7DEA682" ma:contentTypeVersion="13" ma:contentTypeDescription="Create a new document." ma:contentTypeScope="" ma:versionID="e680db73553fbdafc71e2a99a23abb12">
  <xsd:schema xmlns:xsd="http://www.w3.org/2001/XMLSchema" xmlns:xs="http://www.w3.org/2001/XMLSchema" xmlns:p="http://schemas.microsoft.com/office/2006/metadata/properties" xmlns:ns2="eeab21f8-b200-4f2d-840e-2d2e7bdc5e9e" xmlns:ns3="3c556dd3-f7e7-46bd-97c1-82821899741b" targetNamespace="http://schemas.microsoft.com/office/2006/metadata/properties" ma:root="true" ma:fieldsID="5232225848e24f14a33cd370927f618f" ns2:_="" ns3:_="">
    <xsd:import namespace="eeab21f8-b200-4f2d-840e-2d2e7bdc5e9e"/>
    <xsd:import namespace="3c556dd3-f7e7-46bd-97c1-8282189974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ab21f8-b200-4f2d-840e-2d2e7bdc5e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4ee6b6e-1dad-49a7-85d1-bf6bd71129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556dd3-f7e7-46bd-97c1-82821899741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fb860da-0ed8-4079-bdc0-e4d3e732567f}" ma:internalName="TaxCatchAll" ma:showField="CatchAllData" ma:web="3c556dd3-f7e7-46bd-97c1-8282189974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c556dd3-f7e7-46bd-97c1-82821899741b" xsi:nil="true"/>
    <lcf76f155ced4ddcb4097134ff3c332f xmlns="eeab21f8-b200-4f2d-840e-2d2e7bdc5e9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1319263-1834-4DB9-88BE-B649B972CB9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119367D-542C-4ED2-B1D3-DF37452252F2}">
  <ds:schemaRefs>
    <ds:schemaRef ds:uri="3c556dd3-f7e7-46bd-97c1-82821899741b"/>
    <ds:schemaRef ds:uri="eeab21f8-b200-4f2d-840e-2d2e7bdc5e9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F0A8C37-5927-46AA-9C81-6FE423D3814D}">
  <ds:schemaRefs>
    <ds:schemaRef ds:uri="http://purl.org/dc/elements/1.1/"/>
    <ds:schemaRef ds:uri="http://schemas.microsoft.com/office/2006/metadata/properties"/>
    <ds:schemaRef ds:uri="eeab21f8-b200-4f2d-840e-2d2e7bdc5e9e"/>
    <ds:schemaRef ds:uri="http://purl.org/dc/terms/"/>
    <ds:schemaRef ds:uri="http://www.w3.org/XML/1998/namespace"/>
    <ds:schemaRef ds:uri="3c556dd3-f7e7-46bd-97c1-82821899741b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6548</TotalTime>
  <Words>1597</Words>
  <Application>Microsoft Office PowerPoint</Application>
  <PresentationFormat>Widescreen</PresentationFormat>
  <Paragraphs>288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Arial</vt:lpstr>
      <vt:lpstr>Calibri</vt:lpstr>
      <vt:lpstr>Cambria Math</vt:lpstr>
      <vt:lpstr>Open Sans</vt:lpstr>
      <vt:lpstr>Office Theme</vt:lpstr>
      <vt:lpstr>1_Office Theme</vt:lpstr>
      <vt:lpstr>PowerPoint Presentation</vt:lpstr>
      <vt:lpstr>Motivation – Rain Erosion</vt:lpstr>
      <vt:lpstr>Introduction – Breakup Modes</vt:lpstr>
      <vt:lpstr>Literature: Linear-to-Nonlinear Instability Growth</vt:lpstr>
      <vt:lpstr>Problem Statement</vt:lpstr>
      <vt:lpstr>Methodology: Simulation Matrix</vt:lpstr>
      <vt:lpstr>Methodology: Computational Setup</vt:lpstr>
      <vt:lpstr>Methodology: The Numerical Model</vt:lpstr>
      <vt:lpstr>Methodology: The Numerical Model</vt:lpstr>
      <vt:lpstr>Methodology: Numerical Methods</vt:lpstr>
      <vt:lpstr>Methodology: Benchmarking</vt:lpstr>
      <vt:lpstr>Methodology: Validation / Benchmarking</vt:lpstr>
      <vt:lpstr>Methodology: Mesh Independence</vt:lpstr>
      <vt:lpstr>Methodology: Mesh Independence</vt:lpstr>
      <vt:lpstr>Results: Droplet Morphology</vt:lpstr>
      <vt:lpstr>Results: CFD-Informed Growth-Rate Maps</vt:lpstr>
      <vt:lpstr>Results: RT to KH Transition</vt:lpstr>
      <vt:lpstr>Results: Most-Amplified Wavelength</vt:lpstr>
      <vt:lpstr>Discussion: Role of Surface Tension</vt:lpstr>
      <vt:lpstr>Summary of Findings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Davis, Crystal S.</dc:creator>
  <cp:lastModifiedBy>Roldan, Juan P.</cp:lastModifiedBy>
  <cp:revision>6</cp:revision>
  <dcterms:created xsi:type="dcterms:W3CDTF">2021-04-05T14:03:31Z</dcterms:created>
  <dcterms:modified xsi:type="dcterms:W3CDTF">2026-08-24T04:21:01Z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0x01010013887839EBA1FC42855A778CF7DEA682</vt:lpwstr>
  </property>
  <property fmtid="{D5CDD505-2E9C-101B-9397-08002B2CF9AE}" pid="3" name="MediaServiceImageTags">
    <vt:lpwstr/>
  </property>
</Properties>
</file>